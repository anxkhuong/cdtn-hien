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64" autoAdjust="0"/>
  </p:normalViewPr>
  <p:slideViewPr>
    <p:cSldViewPr snapToGrid="0">
      <p:cViewPr varScale="1">
        <p:scale>
          <a:sx n="90" d="100"/>
          <a:sy n="90" d="100"/>
        </p:scale>
        <p:origin x="11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AUROC</c:v>
          </c:tx>
          <c:spPr>
            <a:solidFill>
              <a:srgbClr val="18A999"/>
            </a:solidFill>
          </c:spPr>
          <c:invertIfNegative val="1"/>
          <c:dLbls>
            <c:spPr>
              <a:noFill/>
              <a:ln>
                <a:noFill/>
              </a:ln>
              <a:effectLst/>
            </c:spPr>
            <c:txPr>
              <a:bodyPr anchorCtr="1"/>
              <a:lstStyle/>
              <a:p>
                <a:pPr>
                  <a:defRPr>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Isolation Forest</c:v>
                </c:pt>
                <c:pt idx="1">
                  <c:v>PatchCore cơ sở</c:v>
                </c:pt>
                <c:pt idx="2">
                  <c:v>PatchCore cuối</c:v>
                </c:pt>
              </c:strCache>
            </c:strRef>
          </c:cat>
          <c:val>
            <c:numRef>
              <c:f>'Chart Data'!$B$2:$B$4</c:f>
              <c:numCache>
                <c:formatCode>General</c:formatCode>
                <c:ptCount val="3"/>
                <c:pt idx="0">
                  <c:v>0.89800000000000002</c:v>
                </c:pt>
                <c:pt idx="1">
                  <c:v>0.99099999999999999</c:v>
                </c:pt>
                <c:pt idx="2">
                  <c:v>0.996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322-46A2-AC4F-761B370C3F4D}"/>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AUROC</c:v>
          </c:tx>
          <c:spPr>
            <a:solidFill>
              <a:srgbClr val="0E5A78"/>
            </a:solidFill>
          </c:spPr>
          <c:invertIfNegative val="1"/>
          <c:cat>
            <c:numRef>
              <c:f>'Chart Data'!$A$2:$A$13</c:f>
              <c:numCache>
                <c:formatCode>General</c:formatCode>
                <c:ptCount val="12"/>
                <c:pt idx="0">
                  <c:v>1041</c:v>
                </c:pt>
                <c:pt idx="1">
                  <c:v>1042</c:v>
                </c:pt>
                <c:pt idx="2">
                  <c:v>1043</c:v>
                </c:pt>
                <c:pt idx="3">
                  <c:v>1045</c:v>
                </c:pt>
                <c:pt idx="4">
                  <c:v>1047</c:v>
                </c:pt>
                <c:pt idx="5">
                  <c:v>1113</c:v>
                </c:pt>
                <c:pt idx="6">
                  <c:v>1114</c:v>
                </c:pt>
                <c:pt idx="7">
                  <c:v>1120</c:v>
                </c:pt>
                <c:pt idx="8">
                  <c:v>504</c:v>
                </c:pt>
                <c:pt idx="9">
                  <c:v>808</c:v>
                </c:pt>
                <c:pt idx="10">
                  <c:v>838</c:v>
                </c:pt>
                <c:pt idx="11">
                  <c:v>924</c:v>
                </c:pt>
              </c:numCache>
            </c:numRef>
          </c:cat>
          <c:val>
            <c:numRef>
              <c:f>'Chart Data'!$B$2:$B$13</c:f>
              <c:numCache>
                <c:formatCode>General</c:formatCode>
                <c:ptCount val="12"/>
                <c:pt idx="0">
                  <c:v>1</c:v>
                </c:pt>
                <c:pt idx="1">
                  <c:v>1</c:v>
                </c:pt>
                <c:pt idx="2">
                  <c:v>0.996</c:v>
                </c:pt>
                <c:pt idx="3">
                  <c:v>1</c:v>
                </c:pt>
                <c:pt idx="4">
                  <c:v>1</c:v>
                </c:pt>
                <c:pt idx="5">
                  <c:v>0.995</c:v>
                </c:pt>
                <c:pt idx="6">
                  <c:v>0.99399999999999999</c:v>
                </c:pt>
                <c:pt idx="7">
                  <c:v>0.98699999999999999</c:v>
                </c:pt>
                <c:pt idx="8">
                  <c:v>1</c:v>
                </c:pt>
                <c:pt idx="9">
                  <c:v>0.98299999999999998</c:v>
                </c:pt>
                <c:pt idx="10">
                  <c:v>1</c:v>
                </c:pt>
                <c:pt idx="11">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07C-4F09-BDEE-617B96D93AF5}"/>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2.9824561403508771E-2"/>
          <c:y val="1.9512195121951219E-2"/>
          <c:w val="0.96140350877192982"/>
          <c:h val="0.88605953524102166"/>
        </c:manualLayout>
      </c:layout>
      <c:barChart>
        <c:barDir val="col"/>
        <c:grouping val="clustered"/>
        <c:varyColors val="0"/>
        <c:ser>
          <c:idx val="0"/>
          <c:order val="0"/>
          <c:tx>
            <c:v>Tỉ lệ bỏ sót</c:v>
          </c:tx>
          <c:spPr>
            <a:solidFill>
              <a:srgbClr val="D95757"/>
            </a:solidFill>
          </c:spPr>
          <c:invertIfNegative val="1"/>
          <c:dLbls>
            <c:spPr>
              <a:noFill/>
              <a:ln>
                <a:noFill/>
              </a:ln>
              <a:effectLst/>
            </c:spPr>
            <c:txPr>
              <a:bodyPr anchorCtr="1"/>
              <a:lstStyle/>
              <a:p>
                <a:pPr>
                  <a:defRPr>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FA-1120</c:v>
                </c:pt>
                <c:pt idx="1">
                  <c:v>FA-1047</c:v>
                </c:pt>
                <c:pt idx="2">
                  <c:v>FA-1114</c:v>
                </c:pt>
                <c:pt idx="3">
                  <c:v>9 lớp còn lại</c:v>
                </c:pt>
              </c:strCache>
            </c:strRef>
          </c:cat>
          <c:val>
            <c:numRef>
              <c:f>'Chart Data'!$B$2:$B$5</c:f>
              <c:numCache>
                <c:formatCode>General</c:formatCode>
                <c:ptCount val="4"/>
                <c:pt idx="0">
                  <c:v>0.96299999999999997</c:v>
                </c:pt>
                <c:pt idx="1">
                  <c:v>0.82499999999999996</c:v>
                </c:pt>
                <c:pt idx="2">
                  <c:v>0.78</c:v>
                </c:pt>
                <c:pt idx="3">
                  <c:v>6.4000000000000001E-2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A56-4036-8D6F-96FD51687A81}"/>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Diện tích FP trung bình</c:v>
          </c:tx>
          <c:spPr>
            <a:solidFill>
              <a:srgbClr val="18A999"/>
            </a:solidFill>
          </c:spPr>
          <c:invertIfNegative val="1"/>
          <c:dLbls>
            <c:spPr>
              <a:noFill/>
              <a:ln>
                <a:noFill/>
              </a:ln>
              <a:effectLst/>
            </c:spPr>
            <c:txPr>
              <a:bodyPr anchorCtr="1"/>
              <a:lstStyle/>
              <a:p>
                <a:pPr>
                  <a:defRPr>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Ngưỡng cố định p92</c:v>
                </c:pt>
                <c:pt idx="1">
                  <c:v>Ngưỡng thích nghi</c:v>
                </c:pt>
              </c:strCache>
            </c:strRef>
          </c:cat>
          <c:val>
            <c:numRef>
              <c:f>'Chart Data'!$B$2:$B$3</c:f>
              <c:numCache>
                <c:formatCode>General</c:formatCode>
                <c:ptCount val="2"/>
                <c:pt idx="0">
                  <c:v>662.4</c:v>
                </c:pt>
                <c:pt idx="1">
                  <c:v>224.6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CEE-4C8E-AFB2-D54038035C9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Kính</a:t>
            </a:r>
            <a:r>
              <a:rPr dirty="0"/>
              <a:t> </a:t>
            </a:r>
            <a:r>
              <a:rPr dirty="0" err="1"/>
              <a:t>chào</a:t>
            </a:r>
            <a:r>
              <a:rPr dirty="0"/>
              <a:t> </a:t>
            </a:r>
            <a:r>
              <a:rPr dirty="0" err="1"/>
              <a:t>thầy</a:t>
            </a:r>
            <a:r>
              <a:rPr dirty="0"/>
              <a:t>. </a:t>
            </a:r>
            <a:r>
              <a:rPr dirty="0" err="1"/>
              <a:t>Bài</a:t>
            </a:r>
            <a:r>
              <a:rPr dirty="0"/>
              <a:t> </a:t>
            </a:r>
            <a:r>
              <a:rPr dirty="0" err="1"/>
              <a:t>trình</a:t>
            </a:r>
            <a:r>
              <a:rPr dirty="0"/>
              <a:t> </a:t>
            </a:r>
            <a:r>
              <a:rPr dirty="0" err="1"/>
              <a:t>bày</a:t>
            </a:r>
            <a:r>
              <a:rPr dirty="0"/>
              <a:t> </a:t>
            </a:r>
            <a:r>
              <a:rPr dirty="0" err="1"/>
              <a:t>này</a:t>
            </a:r>
            <a:r>
              <a:rPr dirty="0"/>
              <a:t> </a:t>
            </a:r>
            <a:r>
              <a:rPr dirty="0" err="1"/>
              <a:t>tóm</a:t>
            </a:r>
            <a:r>
              <a:rPr dirty="0"/>
              <a:t> </a:t>
            </a:r>
            <a:r>
              <a:rPr dirty="0" err="1"/>
              <a:t>lược</a:t>
            </a:r>
            <a:r>
              <a:rPr dirty="0"/>
              <a:t> </a:t>
            </a:r>
            <a:r>
              <a:rPr dirty="0" err="1"/>
              <a:t>một</a:t>
            </a:r>
            <a:r>
              <a:rPr dirty="0"/>
              <a:t> </a:t>
            </a:r>
            <a:r>
              <a:rPr dirty="0" err="1"/>
              <a:t>nghiên</a:t>
            </a:r>
            <a:r>
              <a:rPr dirty="0"/>
              <a:t> </a:t>
            </a:r>
            <a:r>
              <a:rPr dirty="0" err="1"/>
              <a:t>cứu</a:t>
            </a:r>
            <a:r>
              <a:rPr dirty="0"/>
              <a:t> </a:t>
            </a:r>
            <a:r>
              <a:rPr dirty="0" err="1"/>
              <a:t>về</a:t>
            </a:r>
            <a:r>
              <a:rPr dirty="0"/>
              <a:t> </a:t>
            </a:r>
            <a:r>
              <a:rPr dirty="0" err="1"/>
              <a:t>phát</a:t>
            </a:r>
            <a:r>
              <a:rPr dirty="0"/>
              <a:t> </a:t>
            </a:r>
            <a:r>
              <a:rPr dirty="0" err="1"/>
              <a:t>hiện</a:t>
            </a:r>
            <a:r>
              <a:rPr dirty="0"/>
              <a:t> </a:t>
            </a:r>
            <a:r>
              <a:rPr dirty="0" err="1"/>
              <a:t>và</a:t>
            </a:r>
            <a:r>
              <a:rPr dirty="0"/>
              <a:t> </a:t>
            </a:r>
            <a:r>
              <a:rPr dirty="0" err="1"/>
              <a:t>định</a:t>
            </a:r>
            <a:r>
              <a:rPr dirty="0"/>
              <a:t> </a:t>
            </a:r>
            <a:r>
              <a:rPr dirty="0" err="1"/>
              <a:t>vị</a:t>
            </a:r>
            <a:r>
              <a:rPr dirty="0"/>
              <a:t> </a:t>
            </a:r>
            <a:r>
              <a:rPr dirty="0" err="1"/>
              <a:t>lỗi</a:t>
            </a:r>
            <a:r>
              <a:rPr dirty="0"/>
              <a:t> </a:t>
            </a:r>
            <a:r>
              <a:rPr dirty="0" err="1"/>
              <a:t>trong</a:t>
            </a:r>
            <a:r>
              <a:rPr dirty="0"/>
              <a:t> </a:t>
            </a:r>
            <a:r>
              <a:rPr dirty="0" err="1"/>
              <a:t>kiểm</a:t>
            </a:r>
            <a:r>
              <a:rPr dirty="0"/>
              <a:t> </a:t>
            </a:r>
            <a:r>
              <a:rPr dirty="0" err="1"/>
              <a:t>tra</a:t>
            </a:r>
            <a:r>
              <a:rPr dirty="0"/>
              <a:t> </a:t>
            </a:r>
            <a:r>
              <a:rPr lang="en-US" dirty="0" err="1"/>
              <a:t>sản</a:t>
            </a:r>
            <a:r>
              <a:rPr lang="en-US" baseline="0" dirty="0"/>
              <a:t> </a:t>
            </a:r>
            <a:r>
              <a:rPr lang="en-US" baseline="0" dirty="0" err="1"/>
              <a:t>phẩm</a:t>
            </a:r>
            <a:r>
              <a:rPr lang="en-US" baseline="0" dirty="0"/>
              <a:t> </a:t>
            </a:r>
            <a:r>
              <a:rPr lang="en-US" baseline="0" dirty="0" err="1"/>
              <a:t>đồ</a:t>
            </a:r>
            <a:r>
              <a:rPr lang="en-US" baseline="0" dirty="0"/>
              <a:t> </a:t>
            </a:r>
            <a:r>
              <a:rPr lang="en-US" baseline="0" dirty="0" err="1"/>
              <a:t>trang</a:t>
            </a:r>
            <a:r>
              <a:rPr lang="en-US" baseline="0" dirty="0"/>
              <a:t> </a:t>
            </a:r>
            <a:r>
              <a:rPr lang="en-US" baseline="0" dirty="0" err="1"/>
              <a:t>trí</a:t>
            </a:r>
            <a:r>
              <a:rPr lang="en-US" baseline="0" dirty="0"/>
              <a:t> </a:t>
            </a:r>
            <a:r>
              <a:rPr lang="en-US" baseline="0" dirty="0" err="1"/>
              <a:t>xuất</a:t>
            </a:r>
            <a:r>
              <a:rPr lang="en-US" baseline="0" dirty="0"/>
              <a:t> </a:t>
            </a:r>
            <a:r>
              <a:rPr lang="en-US" baseline="0" dirty="0" err="1"/>
              <a:t>khẩu</a:t>
            </a:r>
            <a:r>
              <a:rPr dirty="0"/>
              <a:t>, </a:t>
            </a:r>
            <a:r>
              <a:rPr dirty="0" err="1"/>
              <a:t>trong</a:t>
            </a:r>
            <a:r>
              <a:rPr dirty="0"/>
              <a:t> </a:t>
            </a:r>
            <a:r>
              <a:rPr dirty="0" err="1"/>
              <a:t>điều</a:t>
            </a:r>
            <a:r>
              <a:rPr dirty="0"/>
              <a:t> </a:t>
            </a:r>
            <a:r>
              <a:rPr dirty="0" err="1"/>
              <a:t>kiện</a:t>
            </a:r>
            <a:r>
              <a:rPr dirty="0"/>
              <a:t> </a:t>
            </a:r>
            <a:r>
              <a:rPr dirty="0" err="1"/>
              <a:t>dữ</a:t>
            </a:r>
            <a:r>
              <a:rPr dirty="0"/>
              <a:t> </a:t>
            </a:r>
            <a:r>
              <a:rPr dirty="0" err="1"/>
              <a:t>liệu</a:t>
            </a:r>
            <a:r>
              <a:rPr dirty="0"/>
              <a:t> </a:t>
            </a:r>
            <a:r>
              <a:rPr dirty="0" err="1"/>
              <a:t>huấn</a:t>
            </a:r>
            <a:r>
              <a:rPr dirty="0"/>
              <a:t> </a:t>
            </a:r>
            <a:r>
              <a:rPr dirty="0" err="1"/>
              <a:t>luyện</a:t>
            </a:r>
            <a:r>
              <a:rPr dirty="0"/>
              <a:t> </a:t>
            </a:r>
            <a:r>
              <a:rPr dirty="0" err="1"/>
              <a:t>cực</a:t>
            </a:r>
            <a:r>
              <a:rPr dirty="0"/>
              <a:t> </a:t>
            </a:r>
            <a:r>
              <a:rPr dirty="0" err="1"/>
              <a:t>kỳ</a:t>
            </a:r>
            <a:r>
              <a:rPr dirty="0"/>
              <a:t> </a:t>
            </a:r>
            <a:r>
              <a:rPr dirty="0" err="1"/>
              <a:t>hạn</a:t>
            </a:r>
            <a:r>
              <a:rPr dirty="0"/>
              <a:t> </a:t>
            </a:r>
            <a:r>
              <a:rPr dirty="0" err="1"/>
              <a:t>chế</a:t>
            </a:r>
            <a:r>
              <a:rPr dirty="0"/>
              <a:t>. </a:t>
            </a:r>
            <a:r>
              <a:rPr dirty="0" err="1"/>
              <a:t>Điểm</a:t>
            </a:r>
            <a:r>
              <a:rPr dirty="0"/>
              <a:t> </a:t>
            </a:r>
            <a:r>
              <a:rPr dirty="0" err="1"/>
              <a:t>đặc</a:t>
            </a:r>
            <a:r>
              <a:rPr dirty="0"/>
              <a:t> </a:t>
            </a:r>
            <a:r>
              <a:rPr dirty="0" err="1"/>
              <a:t>biệt</a:t>
            </a:r>
            <a:r>
              <a:rPr dirty="0"/>
              <a:t> </a:t>
            </a:r>
            <a:r>
              <a:rPr dirty="0" err="1"/>
              <a:t>là</a:t>
            </a:r>
            <a:r>
              <a:rPr dirty="0"/>
              <a:t> </a:t>
            </a:r>
            <a:r>
              <a:rPr dirty="0" err="1"/>
              <a:t>mô</a:t>
            </a:r>
            <a:r>
              <a:rPr dirty="0"/>
              <a:t> </a:t>
            </a:r>
            <a:r>
              <a:rPr dirty="0" err="1"/>
              <a:t>hình</a:t>
            </a:r>
            <a:r>
              <a:rPr dirty="0"/>
              <a:t> </a:t>
            </a:r>
            <a:r>
              <a:rPr dirty="0" err="1"/>
              <a:t>chỉ</a:t>
            </a:r>
            <a:r>
              <a:rPr dirty="0"/>
              <a:t> </a:t>
            </a:r>
            <a:r>
              <a:rPr dirty="0" err="1"/>
              <a:t>học</a:t>
            </a:r>
            <a:r>
              <a:rPr dirty="0"/>
              <a:t> </a:t>
            </a:r>
            <a:r>
              <a:rPr dirty="0" err="1"/>
              <a:t>từ</a:t>
            </a:r>
            <a:r>
              <a:rPr dirty="0"/>
              <a:t> </a:t>
            </a:r>
            <a:r>
              <a:rPr dirty="0" err="1"/>
              <a:t>ảnh</a:t>
            </a:r>
            <a:r>
              <a:rPr dirty="0"/>
              <a:t> </a:t>
            </a:r>
            <a:r>
              <a:rPr dirty="0" err="1"/>
              <a:t>bình</a:t>
            </a:r>
            <a:r>
              <a:rPr dirty="0"/>
              <a:t> </a:t>
            </a:r>
            <a:r>
              <a:rPr dirty="0" err="1"/>
              <a:t>thường</a:t>
            </a:r>
            <a:r>
              <a:rPr dirty="0"/>
              <a:t>, </a:t>
            </a:r>
            <a:r>
              <a:rPr dirty="0" err="1"/>
              <a:t>không</a:t>
            </a:r>
            <a:r>
              <a:rPr dirty="0"/>
              <a:t> </a:t>
            </a:r>
            <a:r>
              <a:rPr dirty="0" err="1"/>
              <a:t>sử</a:t>
            </a:r>
            <a:r>
              <a:rPr dirty="0"/>
              <a:t> </a:t>
            </a:r>
            <a:r>
              <a:rPr dirty="0" err="1"/>
              <a:t>dụng</a:t>
            </a:r>
            <a:r>
              <a:rPr dirty="0"/>
              <a:t> </a:t>
            </a:r>
            <a:r>
              <a:rPr dirty="0" err="1"/>
              <a:t>ảnh</a:t>
            </a:r>
            <a:r>
              <a:rPr dirty="0"/>
              <a:t> </a:t>
            </a:r>
            <a:r>
              <a:rPr dirty="0" err="1"/>
              <a:t>lỗi</a:t>
            </a:r>
            <a:r>
              <a:rPr dirty="0"/>
              <a:t> hay </a:t>
            </a:r>
            <a:r>
              <a:rPr dirty="0" err="1"/>
              <a:t>mặt</a:t>
            </a:r>
            <a:r>
              <a:rPr dirty="0"/>
              <a:t> </a:t>
            </a:r>
            <a:r>
              <a:rPr dirty="0" err="1"/>
              <a:t>nạ</a:t>
            </a:r>
            <a:r>
              <a:rPr dirty="0"/>
              <a:t> </a:t>
            </a:r>
            <a:r>
              <a:rPr dirty="0" err="1"/>
              <a:t>lỗi</a:t>
            </a:r>
            <a:r>
              <a:rPr dirty="0"/>
              <a:t> </a:t>
            </a:r>
            <a:r>
              <a:rPr dirty="0" err="1"/>
              <a:t>trong</a:t>
            </a:r>
            <a:r>
              <a:rPr dirty="0"/>
              <a:t> </a:t>
            </a:r>
            <a:r>
              <a:rPr dirty="0" err="1"/>
              <a:t>giai</a:t>
            </a:r>
            <a:r>
              <a:rPr dirty="0"/>
              <a:t> </a:t>
            </a:r>
            <a:r>
              <a:rPr dirty="0" err="1"/>
              <a:t>đoạn</a:t>
            </a:r>
            <a:r>
              <a:rPr dirty="0"/>
              <a:t> </a:t>
            </a:r>
            <a:r>
              <a:rPr dirty="0" err="1"/>
              <a:t>huấn</a:t>
            </a:r>
            <a:r>
              <a:rPr dirty="0"/>
              <a:t> </a:t>
            </a:r>
            <a:r>
              <a:rPr dirty="0" err="1"/>
              <a:t>luyện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Bộ</a:t>
            </a:r>
            <a:r>
              <a:rPr dirty="0"/>
              <a:t> </a:t>
            </a:r>
            <a:r>
              <a:rPr dirty="0" err="1"/>
              <a:t>dữ</a:t>
            </a:r>
            <a:r>
              <a:rPr dirty="0"/>
              <a:t> </a:t>
            </a:r>
            <a:r>
              <a:rPr dirty="0" err="1"/>
              <a:t>liệu</a:t>
            </a:r>
            <a:r>
              <a:rPr dirty="0"/>
              <a:t> </a:t>
            </a:r>
            <a:r>
              <a:rPr dirty="0" err="1"/>
              <a:t>thực</a:t>
            </a:r>
            <a:r>
              <a:rPr dirty="0"/>
              <a:t> </a:t>
            </a:r>
            <a:r>
              <a:rPr dirty="0" err="1"/>
              <a:t>tế</a:t>
            </a:r>
            <a:r>
              <a:rPr dirty="0"/>
              <a:t> </a:t>
            </a:r>
            <a:r>
              <a:rPr dirty="0" err="1"/>
              <a:t>gồm</a:t>
            </a:r>
            <a:r>
              <a:rPr dirty="0"/>
              <a:t> 12 </a:t>
            </a:r>
            <a:r>
              <a:rPr lang="en-US" dirty="0" err="1"/>
              <a:t>mẫu</a:t>
            </a:r>
            <a:r>
              <a:rPr lang="en-US" baseline="0" dirty="0"/>
              <a:t> </a:t>
            </a:r>
            <a:r>
              <a:rPr lang="en-US" baseline="0" dirty="0" err="1"/>
              <a:t>sản</a:t>
            </a:r>
            <a:r>
              <a:rPr lang="en-US" baseline="0" dirty="0"/>
              <a:t> </a:t>
            </a:r>
            <a:r>
              <a:rPr lang="en-US" baseline="0" dirty="0" err="1"/>
              <a:t>phẩm</a:t>
            </a:r>
            <a:r>
              <a:rPr dirty="0"/>
              <a:t> </a:t>
            </a:r>
            <a:r>
              <a:rPr lang="en-US" dirty="0" err="1"/>
              <a:t>đồ</a:t>
            </a:r>
            <a:r>
              <a:rPr dirty="0"/>
              <a:t> </a:t>
            </a:r>
            <a:r>
              <a:rPr dirty="0" err="1"/>
              <a:t>trang</a:t>
            </a:r>
            <a:r>
              <a:rPr dirty="0"/>
              <a:t> </a:t>
            </a:r>
            <a:r>
              <a:rPr dirty="0" err="1"/>
              <a:t>trí</a:t>
            </a:r>
            <a:r>
              <a:rPr dirty="0"/>
              <a:t>. </a:t>
            </a:r>
            <a:r>
              <a:rPr dirty="0" err="1"/>
              <a:t>Mỗi</a:t>
            </a:r>
            <a:r>
              <a:rPr dirty="0"/>
              <a:t> </a:t>
            </a:r>
            <a:r>
              <a:rPr lang="en-US" dirty="0" err="1"/>
              <a:t>mẫu</a:t>
            </a:r>
            <a:r>
              <a:rPr lang="en-US" baseline="0" dirty="0"/>
              <a:t> </a:t>
            </a:r>
            <a:r>
              <a:rPr lang="en-US" baseline="0" dirty="0" err="1"/>
              <a:t>sản</a:t>
            </a:r>
            <a:r>
              <a:rPr lang="en-US" baseline="0" dirty="0"/>
              <a:t> </a:t>
            </a:r>
            <a:r>
              <a:rPr lang="en-US" baseline="0" dirty="0" err="1"/>
              <a:t>phẩm</a:t>
            </a:r>
            <a:r>
              <a:rPr dirty="0"/>
              <a:t> </a:t>
            </a:r>
            <a:r>
              <a:rPr dirty="0" err="1"/>
              <a:t>chỉ</a:t>
            </a:r>
            <a:r>
              <a:rPr dirty="0"/>
              <a:t> </a:t>
            </a:r>
            <a:r>
              <a:rPr dirty="0" err="1"/>
              <a:t>có</a:t>
            </a:r>
            <a:r>
              <a:rPr dirty="0"/>
              <a:t> 100 </a:t>
            </a:r>
            <a:r>
              <a:rPr dirty="0" err="1"/>
              <a:t>ảnh</a:t>
            </a:r>
            <a:r>
              <a:rPr dirty="0"/>
              <a:t> </a:t>
            </a:r>
            <a:r>
              <a:rPr dirty="0" err="1"/>
              <a:t>bình</a:t>
            </a:r>
            <a:r>
              <a:rPr dirty="0"/>
              <a:t> </a:t>
            </a:r>
            <a:r>
              <a:rPr dirty="0" err="1"/>
              <a:t>thường</a:t>
            </a:r>
            <a:r>
              <a:rPr dirty="0"/>
              <a:t>, </a:t>
            </a:r>
            <a:r>
              <a:rPr dirty="0" err="1"/>
              <a:t>trong</a:t>
            </a:r>
            <a:r>
              <a:rPr dirty="0"/>
              <a:t> </a:t>
            </a:r>
            <a:r>
              <a:rPr dirty="0" err="1"/>
              <a:t>khi</a:t>
            </a:r>
            <a:r>
              <a:rPr dirty="0"/>
              <a:t> 30 </a:t>
            </a:r>
            <a:r>
              <a:rPr dirty="0" err="1"/>
              <a:t>đến</a:t>
            </a:r>
            <a:r>
              <a:rPr dirty="0"/>
              <a:t> 53 </a:t>
            </a:r>
            <a:r>
              <a:rPr dirty="0" err="1"/>
              <a:t>ảnh</a:t>
            </a:r>
            <a:r>
              <a:rPr dirty="0"/>
              <a:t> </a:t>
            </a:r>
            <a:r>
              <a:rPr dirty="0" err="1"/>
              <a:t>lỗi</a:t>
            </a:r>
            <a:r>
              <a:rPr dirty="0"/>
              <a:t> </a:t>
            </a:r>
            <a:r>
              <a:rPr dirty="0" err="1"/>
              <a:t>được</a:t>
            </a:r>
            <a:r>
              <a:rPr dirty="0"/>
              <a:t> </a:t>
            </a:r>
            <a:r>
              <a:rPr dirty="0" err="1"/>
              <a:t>giữ</a:t>
            </a:r>
            <a:r>
              <a:rPr dirty="0"/>
              <a:t> </a:t>
            </a:r>
            <a:r>
              <a:rPr dirty="0" err="1"/>
              <a:t>riêng</a:t>
            </a:r>
            <a:r>
              <a:rPr dirty="0"/>
              <a:t> </a:t>
            </a:r>
            <a:r>
              <a:rPr dirty="0" err="1"/>
              <a:t>để</a:t>
            </a:r>
            <a:r>
              <a:rPr dirty="0"/>
              <a:t> </a:t>
            </a:r>
            <a:r>
              <a:rPr dirty="0" err="1"/>
              <a:t>đánh</a:t>
            </a:r>
            <a:r>
              <a:rPr dirty="0"/>
              <a:t> </a:t>
            </a:r>
            <a:r>
              <a:rPr dirty="0" err="1"/>
              <a:t>giá</a:t>
            </a:r>
            <a:r>
              <a:rPr dirty="0"/>
              <a:t>. </a:t>
            </a:r>
            <a:r>
              <a:rPr dirty="0" err="1"/>
              <a:t>Nghiên</a:t>
            </a:r>
            <a:r>
              <a:rPr dirty="0"/>
              <a:t> </a:t>
            </a:r>
            <a:r>
              <a:rPr dirty="0" err="1"/>
              <a:t>cứu</a:t>
            </a:r>
            <a:r>
              <a:rPr dirty="0"/>
              <a:t> </a:t>
            </a:r>
            <a:r>
              <a:rPr dirty="0" err="1"/>
              <a:t>giải</a:t>
            </a:r>
            <a:r>
              <a:rPr dirty="0"/>
              <a:t> </a:t>
            </a:r>
            <a:r>
              <a:rPr dirty="0" err="1"/>
              <a:t>quyết</a:t>
            </a:r>
            <a:r>
              <a:rPr dirty="0"/>
              <a:t> </a:t>
            </a:r>
            <a:r>
              <a:rPr dirty="0" err="1"/>
              <a:t>đồng</a:t>
            </a:r>
            <a:r>
              <a:rPr dirty="0"/>
              <a:t> </a:t>
            </a:r>
            <a:r>
              <a:rPr dirty="0" err="1"/>
              <a:t>thời</a:t>
            </a:r>
            <a:r>
              <a:rPr dirty="0"/>
              <a:t> </a:t>
            </a:r>
            <a:r>
              <a:rPr dirty="0" err="1"/>
              <a:t>hai</a:t>
            </a:r>
            <a:r>
              <a:rPr dirty="0"/>
              <a:t> </a:t>
            </a:r>
            <a:r>
              <a:rPr dirty="0" err="1"/>
              <a:t>nhiệm</a:t>
            </a:r>
            <a:r>
              <a:rPr dirty="0"/>
              <a:t> </a:t>
            </a:r>
            <a:r>
              <a:rPr dirty="0" err="1"/>
              <a:t>vụ</a:t>
            </a:r>
            <a:r>
              <a:rPr dirty="0"/>
              <a:t>: </a:t>
            </a:r>
            <a:r>
              <a:rPr dirty="0" err="1"/>
              <a:t>phân</a:t>
            </a:r>
            <a:r>
              <a:rPr dirty="0"/>
              <a:t> </a:t>
            </a:r>
            <a:r>
              <a:rPr dirty="0" err="1"/>
              <a:t>loại</a:t>
            </a:r>
            <a:r>
              <a:rPr dirty="0"/>
              <a:t> ở </a:t>
            </a:r>
            <a:r>
              <a:rPr dirty="0" err="1"/>
              <a:t>cấp</a:t>
            </a:r>
            <a:r>
              <a:rPr dirty="0"/>
              <a:t> </a:t>
            </a:r>
            <a:r>
              <a:rPr dirty="0" err="1"/>
              <a:t>ảnh</a:t>
            </a:r>
            <a:r>
              <a:rPr dirty="0"/>
              <a:t> </a:t>
            </a:r>
            <a:r>
              <a:rPr dirty="0" err="1"/>
              <a:t>và</a:t>
            </a:r>
            <a:r>
              <a:rPr dirty="0"/>
              <a:t> </a:t>
            </a:r>
            <a:r>
              <a:rPr dirty="0" err="1"/>
              <a:t>định</a:t>
            </a:r>
            <a:r>
              <a:rPr dirty="0"/>
              <a:t> </a:t>
            </a:r>
            <a:r>
              <a:rPr dirty="0" err="1"/>
              <a:t>vị</a:t>
            </a:r>
            <a:r>
              <a:rPr dirty="0"/>
              <a:t> ở </a:t>
            </a:r>
            <a:r>
              <a:rPr dirty="0" err="1"/>
              <a:t>cấp</a:t>
            </a:r>
            <a:r>
              <a:rPr dirty="0"/>
              <a:t> </a:t>
            </a:r>
            <a:r>
              <a:rPr dirty="0" err="1"/>
              <a:t>điểm</a:t>
            </a:r>
            <a:r>
              <a:rPr dirty="0"/>
              <a:t> </a:t>
            </a:r>
            <a:r>
              <a:rPr dirty="0" err="1"/>
              <a:t>ảnh</a:t>
            </a:r>
            <a:r>
              <a:rPr dirty="0"/>
              <a:t>. </a:t>
            </a:r>
            <a:r>
              <a:rPr dirty="0" err="1"/>
              <a:t>Điều</a:t>
            </a:r>
            <a:r>
              <a:rPr dirty="0"/>
              <a:t> </a:t>
            </a:r>
            <a:r>
              <a:rPr dirty="0" err="1"/>
              <a:t>này</a:t>
            </a:r>
            <a:r>
              <a:rPr dirty="0"/>
              <a:t> </a:t>
            </a:r>
            <a:r>
              <a:rPr dirty="0" err="1"/>
              <a:t>khó</a:t>
            </a:r>
            <a:r>
              <a:rPr dirty="0"/>
              <a:t> </a:t>
            </a:r>
            <a:r>
              <a:rPr dirty="0" err="1"/>
              <a:t>hơn</a:t>
            </a:r>
            <a:r>
              <a:rPr dirty="0"/>
              <a:t> </a:t>
            </a:r>
            <a:r>
              <a:rPr dirty="0" err="1"/>
              <a:t>các</a:t>
            </a:r>
            <a:r>
              <a:rPr dirty="0"/>
              <a:t> </a:t>
            </a:r>
            <a:r>
              <a:rPr dirty="0" err="1"/>
              <a:t>bộ</a:t>
            </a:r>
            <a:r>
              <a:rPr dirty="0"/>
              <a:t> </a:t>
            </a:r>
            <a:r>
              <a:rPr dirty="0" err="1"/>
              <a:t>dữ</a:t>
            </a:r>
            <a:r>
              <a:rPr dirty="0"/>
              <a:t> </a:t>
            </a:r>
            <a:r>
              <a:rPr dirty="0" err="1"/>
              <a:t>liệu</a:t>
            </a:r>
            <a:r>
              <a:rPr dirty="0"/>
              <a:t> </a:t>
            </a:r>
            <a:r>
              <a:rPr dirty="0" err="1"/>
              <a:t>chuẩn</a:t>
            </a:r>
            <a:r>
              <a:rPr dirty="0"/>
              <a:t> </a:t>
            </a:r>
            <a:r>
              <a:rPr dirty="0" err="1"/>
              <a:t>vì</a:t>
            </a:r>
            <a:r>
              <a:rPr dirty="0"/>
              <a:t> </a:t>
            </a:r>
            <a:r>
              <a:rPr dirty="0" err="1"/>
              <a:t>vị</a:t>
            </a:r>
            <a:r>
              <a:rPr dirty="0"/>
              <a:t> </a:t>
            </a:r>
            <a:r>
              <a:rPr dirty="0" err="1"/>
              <a:t>trí</a:t>
            </a:r>
            <a:r>
              <a:rPr dirty="0"/>
              <a:t>, </a:t>
            </a:r>
            <a:r>
              <a:rPr dirty="0" err="1"/>
              <a:t>kích</a:t>
            </a:r>
            <a:r>
              <a:rPr dirty="0"/>
              <a:t> </a:t>
            </a:r>
            <a:r>
              <a:rPr dirty="0" err="1"/>
              <a:t>thước</a:t>
            </a:r>
            <a:r>
              <a:rPr dirty="0"/>
              <a:t> </a:t>
            </a:r>
            <a:r>
              <a:rPr dirty="0" err="1"/>
              <a:t>vật</a:t>
            </a:r>
            <a:r>
              <a:rPr dirty="0"/>
              <a:t> </a:t>
            </a:r>
            <a:r>
              <a:rPr dirty="0" err="1"/>
              <a:t>thể</a:t>
            </a:r>
            <a:r>
              <a:rPr dirty="0"/>
              <a:t> </a:t>
            </a:r>
            <a:r>
              <a:rPr dirty="0" err="1"/>
              <a:t>và</a:t>
            </a:r>
            <a:r>
              <a:rPr dirty="0"/>
              <a:t> </a:t>
            </a:r>
            <a:r>
              <a:rPr dirty="0" err="1"/>
              <a:t>quy</a:t>
            </a:r>
            <a:r>
              <a:rPr dirty="0"/>
              <a:t> </a:t>
            </a:r>
            <a:r>
              <a:rPr dirty="0" err="1"/>
              <a:t>mô</a:t>
            </a:r>
            <a:r>
              <a:rPr dirty="0"/>
              <a:t> </a:t>
            </a:r>
            <a:r>
              <a:rPr dirty="0" err="1"/>
              <a:t>khuyết</a:t>
            </a:r>
            <a:r>
              <a:rPr dirty="0"/>
              <a:t> </a:t>
            </a:r>
            <a:r>
              <a:rPr dirty="0" err="1"/>
              <a:t>tật</a:t>
            </a:r>
            <a:r>
              <a:rPr dirty="0"/>
              <a:t> </a:t>
            </a:r>
            <a:r>
              <a:rPr dirty="0" err="1"/>
              <a:t>thay</a:t>
            </a:r>
            <a:r>
              <a:rPr dirty="0"/>
              <a:t> </a:t>
            </a:r>
            <a:r>
              <a:rPr dirty="0" err="1"/>
              <a:t>đổi</a:t>
            </a:r>
            <a:r>
              <a:rPr dirty="0"/>
              <a:t> </a:t>
            </a:r>
            <a:r>
              <a:rPr dirty="0" err="1"/>
              <a:t>đáng</a:t>
            </a:r>
            <a:r>
              <a:rPr dirty="0"/>
              <a:t> </a:t>
            </a:r>
            <a:r>
              <a:rPr dirty="0" err="1"/>
              <a:t>kể</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Nghiên</a:t>
            </a:r>
            <a:r>
              <a:rPr dirty="0"/>
              <a:t> </a:t>
            </a:r>
            <a:r>
              <a:rPr dirty="0" err="1"/>
              <a:t>cứu</a:t>
            </a:r>
            <a:r>
              <a:rPr dirty="0"/>
              <a:t> </a:t>
            </a:r>
            <a:r>
              <a:rPr dirty="0" err="1"/>
              <a:t>chọn</a:t>
            </a:r>
            <a:r>
              <a:rPr dirty="0"/>
              <a:t> </a:t>
            </a:r>
            <a:r>
              <a:rPr dirty="0" err="1"/>
              <a:t>PatchCore</a:t>
            </a:r>
            <a:r>
              <a:rPr dirty="0"/>
              <a:t> </a:t>
            </a:r>
            <a:r>
              <a:rPr dirty="0" err="1"/>
              <a:t>làm</a:t>
            </a:r>
            <a:r>
              <a:rPr dirty="0"/>
              <a:t> </a:t>
            </a:r>
            <a:r>
              <a:rPr dirty="0" err="1"/>
              <a:t>phương</a:t>
            </a:r>
            <a:r>
              <a:rPr dirty="0"/>
              <a:t> </a:t>
            </a:r>
            <a:r>
              <a:rPr dirty="0" err="1"/>
              <a:t>pháp</a:t>
            </a:r>
            <a:r>
              <a:rPr dirty="0"/>
              <a:t> </a:t>
            </a:r>
            <a:r>
              <a:rPr dirty="0" err="1"/>
              <a:t>chính</a:t>
            </a:r>
            <a:r>
              <a:rPr dirty="0"/>
              <a:t>. </a:t>
            </a:r>
            <a:r>
              <a:rPr dirty="0" err="1"/>
              <a:t>Mạng</a:t>
            </a:r>
            <a:r>
              <a:rPr dirty="0"/>
              <a:t> WideResNet-50 </a:t>
            </a:r>
            <a:r>
              <a:rPr dirty="0" err="1"/>
              <a:t>đã</a:t>
            </a:r>
            <a:r>
              <a:rPr dirty="0"/>
              <a:t> </a:t>
            </a:r>
            <a:r>
              <a:rPr dirty="0" err="1"/>
              <a:t>được</a:t>
            </a:r>
            <a:r>
              <a:rPr dirty="0"/>
              <a:t> </a:t>
            </a:r>
            <a:r>
              <a:rPr dirty="0" err="1"/>
              <a:t>huấn</a:t>
            </a:r>
            <a:r>
              <a:rPr dirty="0"/>
              <a:t> </a:t>
            </a:r>
            <a:r>
              <a:rPr dirty="0" err="1"/>
              <a:t>luyện</a:t>
            </a:r>
            <a:r>
              <a:rPr dirty="0"/>
              <a:t> </a:t>
            </a:r>
            <a:r>
              <a:rPr dirty="0" err="1"/>
              <a:t>trước</a:t>
            </a:r>
            <a:r>
              <a:rPr dirty="0"/>
              <a:t> </a:t>
            </a:r>
            <a:r>
              <a:rPr dirty="0" err="1"/>
              <a:t>trên</a:t>
            </a:r>
            <a:r>
              <a:rPr dirty="0"/>
              <a:t> ImageNet </a:t>
            </a:r>
            <a:r>
              <a:rPr dirty="0" err="1"/>
              <a:t>và</a:t>
            </a:r>
            <a:r>
              <a:rPr dirty="0"/>
              <a:t> </a:t>
            </a:r>
            <a:r>
              <a:rPr dirty="0" err="1"/>
              <a:t>được</a:t>
            </a:r>
            <a:r>
              <a:rPr dirty="0"/>
              <a:t> </a:t>
            </a:r>
            <a:r>
              <a:rPr dirty="0" err="1"/>
              <a:t>giữ</a:t>
            </a:r>
            <a:r>
              <a:rPr dirty="0"/>
              <a:t> </a:t>
            </a:r>
            <a:r>
              <a:rPr dirty="0" err="1"/>
              <a:t>cố</a:t>
            </a:r>
            <a:r>
              <a:rPr dirty="0"/>
              <a:t> </a:t>
            </a:r>
            <a:r>
              <a:rPr dirty="0" err="1"/>
              <a:t>định</a:t>
            </a:r>
            <a:r>
              <a:rPr dirty="0"/>
              <a:t>. </a:t>
            </a:r>
            <a:r>
              <a:rPr dirty="0" err="1"/>
              <a:t>Đặc</a:t>
            </a:r>
            <a:r>
              <a:rPr dirty="0"/>
              <a:t> </a:t>
            </a:r>
            <a:r>
              <a:rPr dirty="0" err="1"/>
              <a:t>trưng</a:t>
            </a:r>
            <a:r>
              <a:rPr dirty="0"/>
              <a:t> </a:t>
            </a:r>
            <a:r>
              <a:rPr dirty="0" err="1"/>
              <a:t>của</a:t>
            </a:r>
            <a:r>
              <a:rPr dirty="0"/>
              <a:t> </a:t>
            </a:r>
            <a:r>
              <a:rPr dirty="0" err="1"/>
              <a:t>từng</a:t>
            </a:r>
            <a:r>
              <a:rPr dirty="0"/>
              <a:t> </a:t>
            </a:r>
            <a:r>
              <a:rPr dirty="0" err="1"/>
              <a:t>vùng</a:t>
            </a:r>
            <a:r>
              <a:rPr dirty="0"/>
              <a:t> </a:t>
            </a:r>
            <a:r>
              <a:rPr dirty="0" err="1"/>
              <a:t>ảnh</a:t>
            </a:r>
            <a:r>
              <a:rPr dirty="0"/>
              <a:t> </a:t>
            </a:r>
            <a:r>
              <a:rPr dirty="0" err="1"/>
              <a:t>được</a:t>
            </a:r>
            <a:r>
              <a:rPr dirty="0"/>
              <a:t> </a:t>
            </a:r>
            <a:r>
              <a:rPr dirty="0" err="1"/>
              <a:t>lưu</a:t>
            </a:r>
            <a:r>
              <a:rPr dirty="0"/>
              <a:t> </a:t>
            </a:r>
            <a:r>
              <a:rPr dirty="0" err="1"/>
              <a:t>trong</a:t>
            </a:r>
            <a:r>
              <a:rPr dirty="0"/>
              <a:t> memory bank; </a:t>
            </a:r>
            <a:r>
              <a:rPr dirty="0" err="1"/>
              <a:t>ảnh</a:t>
            </a:r>
            <a:r>
              <a:rPr dirty="0"/>
              <a:t> </a:t>
            </a:r>
            <a:r>
              <a:rPr dirty="0" err="1"/>
              <a:t>mới</a:t>
            </a:r>
            <a:r>
              <a:rPr dirty="0"/>
              <a:t> </a:t>
            </a:r>
            <a:r>
              <a:rPr dirty="0" err="1"/>
              <a:t>được</a:t>
            </a:r>
            <a:r>
              <a:rPr dirty="0"/>
              <a:t> </a:t>
            </a:r>
            <a:r>
              <a:rPr dirty="0" err="1"/>
              <a:t>chấm</a:t>
            </a:r>
            <a:r>
              <a:rPr dirty="0"/>
              <a:t> </a:t>
            </a:r>
            <a:r>
              <a:rPr dirty="0" err="1"/>
              <a:t>điểm</a:t>
            </a:r>
            <a:r>
              <a:rPr dirty="0"/>
              <a:t> </a:t>
            </a:r>
            <a:r>
              <a:rPr dirty="0" err="1"/>
              <a:t>theo</a:t>
            </a:r>
            <a:r>
              <a:rPr dirty="0"/>
              <a:t> </a:t>
            </a:r>
            <a:r>
              <a:rPr dirty="0" err="1"/>
              <a:t>khoảng</a:t>
            </a:r>
            <a:r>
              <a:rPr dirty="0"/>
              <a:t> </a:t>
            </a:r>
            <a:r>
              <a:rPr dirty="0" err="1"/>
              <a:t>cách</a:t>
            </a:r>
            <a:r>
              <a:rPr dirty="0"/>
              <a:t> </a:t>
            </a:r>
            <a:r>
              <a:rPr dirty="0" err="1"/>
              <a:t>đến</a:t>
            </a:r>
            <a:r>
              <a:rPr dirty="0"/>
              <a:t> </a:t>
            </a:r>
            <a:r>
              <a:rPr dirty="0" err="1"/>
              <a:t>các</a:t>
            </a:r>
            <a:r>
              <a:rPr dirty="0"/>
              <a:t> </a:t>
            </a:r>
            <a:r>
              <a:rPr dirty="0" err="1"/>
              <a:t>đặc</a:t>
            </a:r>
            <a:r>
              <a:rPr dirty="0"/>
              <a:t> </a:t>
            </a:r>
            <a:r>
              <a:rPr dirty="0" err="1"/>
              <a:t>trưng</a:t>
            </a:r>
            <a:r>
              <a:rPr dirty="0"/>
              <a:t> </a:t>
            </a:r>
            <a:r>
              <a:rPr dirty="0" err="1"/>
              <a:t>bình</a:t>
            </a:r>
            <a:r>
              <a:rPr dirty="0"/>
              <a:t> </a:t>
            </a:r>
            <a:r>
              <a:rPr dirty="0" err="1"/>
              <a:t>thường</a:t>
            </a:r>
            <a:r>
              <a:rPr dirty="0"/>
              <a:t> </a:t>
            </a:r>
            <a:r>
              <a:rPr dirty="0" err="1"/>
              <a:t>gần</a:t>
            </a:r>
            <a:r>
              <a:rPr dirty="0"/>
              <a:t> </a:t>
            </a:r>
            <a:r>
              <a:rPr dirty="0" err="1"/>
              <a:t>nhất</a:t>
            </a:r>
            <a:r>
              <a:rPr dirty="0"/>
              <a:t>. </a:t>
            </a:r>
            <a:r>
              <a:rPr dirty="0" err="1"/>
              <a:t>Cách</a:t>
            </a:r>
            <a:r>
              <a:rPr dirty="0"/>
              <a:t> </a:t>
            </a:r>
            <a:r>
              <a:rPr dirty="0" err="1"/>
              <a:t>tiếp</a:t>
            </a:r>
            <a:r>
              <a:rPr dirty="0"/>
              <a:t> </a:t>
            </a:r>
            <a:r>
              <a:rPr dirty="0" err="1"/>
              <a:t>cận</a:t>
            </a:r>
            <a:r>
              <a:rPr dirty="0"/>
              <a:t> </a:t>
            </a:r>
            <a:r>
              <a:rPr dirty="0" err="1"/>
              <a:t>này</a:t>
            </a:r>
            <a:r>
              <a:rPr dirty="0"/>
              <a:t> </a:t>
            </a:r>
            <a:r>
              <a:rPr dirty="0" err="1"/>
              <a:t>phù</a:t>
            </a:r>
            <a:r>
              <a:rPr dirty="0"/>
              <a:t> </a:t>
            </a:r>
            <a:r>
              <a:rPr dirty="0" err="1"/>
              <a:t>hợp</a:t>
            </a:r>
            <a:r>
              <a:rPr dirty="0"/>
              <a:t> </a:t>
            </a:r>
            <a:r>
              <a:rPr dirty="0" err="1"/>
              <a:t>hơn</a:t>
            </a:r>
            <a:r>
              <a:rPr dirty="0"/>
              <a:t> </a:t>
            </a:r>
            <a:r>
              <a:rPr dirty="0" err="1"/>
              <a:t>mô</a:t>
            </a:r>
            <a:r>
              <a:rPr dirty="0"/>
              <a:t> </a:t>
            </a:r>
            <a:r>
              <a:rPr dirty="0" err="1"/>
              <a:t>hình</a:t>
            </a:r>
            <a:r>
              <a:rPr dirty="0"/>
              <a:t> </a:t>
            </a:r>
            <a:r>
              <a:rPr dirty="0" err="1"/>
              <a:t>cần</a:t>
            </a:r>
            <a:r>
              <a:rPr dirty="0"/>
              <a:t> </a:t>
            </a:r>
            <a:r>
              <a:rPr dirty="0" err="1"/>
              <a:t>huấn</a:t>
            </a:r>
            <a:r>
              <a:rPr dirty="0"/>
              <a:t> </a:t>
            </a:r>
            <a:r>
              <a:rPr dirty="0" err="1"/>
              <a:t>luyện</a:t>
            </a:r>
            <a:r>
              <a:rPr dirty="0"/>
              <a:t> </a:t>
            </a:r>
            <a:r>
              <a:rPr dirty="0" err="1"/>
              <a:t>sâu</a:t>
            </a:r>
            <a:r>
              <a:rPr dirty="0"/>
              <a:t> </a:t>
            </a:r>
            <a:r>
              <a:rPr dirty="0" err="1"/>
              <a:t>khi</a:t>
            </a:r>
            <a:r>
              <a:rPr dirty="0"/>
              <a:t> </a:t>
            </a:r>
            <a:r>
              <a:rPr dirty="0" err="1"/>
              <a:t>mỗi</a:t>
            </a:r>
            <a:r>
              <a:rPr dirty="0"/>
              <a:t> </a:t>
            </a:r>
            <a:r>
              <a:rPr dirty="0" err="1"/>
              <a:t>lớp</a:t>
            </a:r>
            <a:r>
              <a:rPr dirty="0"/>
              <a:t> </a:t>
            </a:r>
            <a:r>
              <a:rPr dirty="0" err="1"/>
              <a:t>chỉ</a:t>
            </a:r>
            <a:r>
              <a:rPr dirty="0"/>
              <a:t> </a:t>
            </a:r>
            <a:r>
              <a:rPr dirty="0" err="1"/>
              <a:t>có</a:t>
            </a:r>
            <a:r>
              <a:rPr dirty="0"/>
              <a:t> 80 </a:t>
            </a:r>
            <a:r>
              <a:rPr dirty="0" err="1"/>
              <a:t>ảnh</a:t>
            </a:r>
            <a:r>
              <a:rPr dirty="0"/>
              <a:t> </a:t>
            </a:r>
            <a:r>
              <a:rPr dirty="0" err="1"/>
              <a:t>cho</a:t>
            </a:r>
            <a:r>
              <a:rPr dirty="0"/>
              <a:t> </a:t>
            </a:r>
            <a:r>
              <a:rPr dirty="0" err="1"/>
              <a:t>tập</a:t>
            </a:r>
            <a:r>
              <a:rPr dirty="0"/>
              <a:t> </a:t>
            </a:r>
            <a:r>
              <a:rPr lang="en-US" dirty="0"/>
              <a:t>train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Quy</a:t>
            </a:r>
            <a:r>
              <a:rPr dirty="0"/>
              <a:t> </a:t>
            </a:r>
            <a:r>
              <a:rPr dirty="0" err="1"/>
              <a:t>trình</a:t>
            </a:r>
            <a:r>
              <a:rPr dirty="0"/>
              <a:t> OC-MAR </a:t>
            </a:r>
            <a:r>
              <a:rPr dirty="0" err="1"/>
              <a:t>tổ</a:t>
            </a:r>
            <a:r>
              <a:rPr dirty="0"/>
              <a:t> </a:t>
            </a:r>
            <a:r>
              <a:rPr dirty="0" err="1"/>
              <a:t>chức</a:t>
            </a:r>
            <a:r>
              <a:rPr dirty="0"/>
              <a:t> </a:t>
            </a:r>
            <a:r>
              <a:rPr dirty="0" err="1"/>
              <a:t>các</a:t>
            </a:r>
            <a:r>
              <a:rPr dirty="0"/>
              <a:t> </a:t>
            </a:r>
            <a:r>
              <a:rPr dirty="0" err="1"/>
              <a:t>bước</a:t>
            </a:r>
            <a:r>
              <a:rPr dirty="0"/>
              <a:t> </a:t>
            </a:r>
            <a:r>
              <a:rPr dirty="0" err="1"/>
              <a:t>xử</a:t>
            </a:r>
            <a:r>
              <a:rPr dirty="0"/>
              <a:t> </a:t>
            </a:r>
            <a:r>
              <a:rPr dirty="0" err="1"/>
              <a:t>lý</a:t>
            </a:r>
            <a:r>
              <a:rPr dirty="0"/>
              <a:t> </a:t>
            </a:r>
            <a:r>
              <a:rPr dirty="0" err="1"/>
              <a:t>từ</a:t>
            </a:r>
            <a:r>
              <a:rPr dirty="0"/>
              <a:t> </a:t>
            </a:r>
            <a:r>
              <a:rPr dirty="0" err="1"/>
              <a:t>đầu</a:t>
            </a:r>
            <a:r>
              <a:rPr dirty="0"/>
              <a:t> </a:t>
            </a:r>
            <a:r>
              <a:rPr dirty="0" err="1"/>
              <a:t>vào</a:t>
            </a:r>
            <a:r>
              <a:rPr dirty="0"/>
              <a:t> </a:t>
            </a:r>
            <a:r>
              <a:rPr dirty="0" err="1"/>
              <a:t>đến</a:t>
            </a:r>
            <a:r>
              <a:rPr dirty="0"/>
              <a:t> </a:t>
            </a:r>
            <a:r>
              <a:rPr dirty="0" err="1"/>
              <a:t>hậu</a:t>
            </a:r>
            <a:r>
              <a:rPr dirty="0"/>
              <a:t> </a:t>
            </a:r>
            <a:r>
              <a:rPr dirty="0" err="1"/>
              <a:t>xử</a:t>
            </a:r>
            <a:r>
              <a:rPr dirty="0"/>
              <a:t> </a:t>
            </a:r>
            <a:r>
              <a:rPr dirty="0" err="1"/>
              <a:t>lý</a:t>
            </a:r>
            <a:r>
              <a:rPr dirty="0"/>
              <a:t>. </a:t>
            </a:r>
            <a:r>
              <a:rPr dirty="0" err="1"/>
              <a:t>Sau</a:t>
            </a:r>
            <a:r>
              <a:rPr dirty="0"/>
              <a:t> </a:t>
            </a:r>
            <a:r>
              <a:rPr dirty="0" err="1"/>
              <a:t>khi</a:t>
            </a:r>
            <a:r>
              <a:rPr dirty="0"/>
              <a:t> </a:t>
            </a:r>
            <a:r>
              <a:rPr dirty="0" err="1"/>
              <a:t>chuẩn</a:t>
            </a:r>
            <a:r>
              <a:rPr dirty="0"/>
              <a:t> </a:t>
            </a:r>
            <a:r>
              <a:rPr dirty="0" err="1"/>
              <a:t>hóa</a:t>
            </a:r>
            <a:r>
              <a:rPr dirty="0"/>
              <a:t> </a:t>
            </a:r>
            <a:r>
              <a:rPr dirty="0" err="1"/>
              <a:t>và</a:t>
            </a:r>
            <a:r>
              <a:rPr dirty="0"/>
              <a:t> </a:t>
            </a:r>
            <a:r>
              <a:rPr dirty="0" err="1"/>
              <a:t>tách</a:t>
            </a:r>
            <a:r>
              <a:rPr dirty="0"/>
              <a:t> </a:t>
            </a:r>
            <a:r>
              <a:rPr dirty="0" err="1"/>
              <a:t>nền</a:t>
            </a:r>
            <a:r>
              <a:rPr dirty="0"/>
              <a:t>, </a:t>
            </a:r>
            <a:r>
              <a:rPr dirty="0" err="1"/>
              <a:t>PatchCore</a:t>
            </a:r>
            <a:r>
              <a:rPr dirty="0"/>
              <a:t> </a:t>
            </a:r>
            <a:r>
              <a:rPr dirty="0" err="1"/>
              <a:t>tạo</a:t>
            </a:r>
            <a:r>
              <a:rPr dirty="0"/>
              <a:t> </a:t>
            </a:r>
            <a:r>
              <a:rPr dirty="0" err="1"/>
              <a:t>bản</a:t>
            </a:r>
            <a:r>
              <a:rPr dirty="0"/>
              <a:t> </a:t>
            </a:r>
            <a:r>
              <a:rPr dirty="0" err="1"/>
              <a:t>đồ</a:t>
            </a:r>
            <a:r>
              <a:rPr dirty="0"/>
              <a:t> </a:t>
            </a:r>
            <a:r>
              <a:rPr dirty="0" err="1"/>
              <a:t>bất</a:t>
            </a:r>
            <a:r>
              <a:rPr dirty="0"/>
              <a:t> </a:t>
            </a:r>
            <a:r>
              <a:rPr dirty="0" err="1"/>
              <a:t>thường</a:t>
            </a:r>
            <a:r>
              <a:rPr dirty="0"/>
              <a:t>. </a:t>
            </a:r>
            <a:r>
              <a:rPr dirty="0" err="1"/>
              <a:t>Hệ</a:t>
            </a:r>
            <a:r>
              <a:rPr dirty="0"/>
              <a:t> </a:t>
            </a:r>
            <a:r>
              <a:rPr dirty="0" err="1"/>
              <a:t>thống</a:t>
            </a:r>
            <a:r>
              <a:rPr dirty="0"/>
              <a:t> </a:t>
            </a:r>
            <a:r>
              <a:rPr dirty="0" err="1"/>
              <a:t>chỉ</a:t>
            </a:r>
            <a:r>
              <a:rPr dirty="0"/>
              <a:t> </a:t>
            </a:r>
            <a:r>
              <a:rPr dirty="0" err="1"/>
              <a:t>tính</a:t>
            </a:r>
            <a:r>
              <a:rPr dirty="0"/>
              <a:t> </a:t>
            </a:r>
            <a:r>
              <a:rPr dirty="0" err="1"/>
              <a:t>ngưỡng</a:t>
            </a:r>
            <a:r>
              <a:rPr dirty="0"/>
              <a:t> </a:t>
            </a:r>
            <a:r>
              <a:rPr dirty="0" err="1"/>
              <a:t>trên</a:t>
            </a:r>
            <a:r>
              <a:rPr dirty="0"/>
              <a:t> </a:t>
            </a:r>
            <a:r>
              <a:rPr dirty="0" err="1"/>
              <a:t>vùng</a:t>
            </a:r>
            <a:r>
              <a:rPr dirty="0"/>
              <a:t> foreground, </a:t>
            </a:r>
            <a:r>
              <a:rPr dirty="0" err="1"/>
              <a:t>sau</a:t>
            </a:r>
            <a:r>
              <a:rPr dirty="0"/>
              <a:t> </a:t>
            </a:r>
            <a:r>
              <a:rPr dirty="0" err="1"/>
              <a:t>đó</a:t>
            </a:r>
            <a:r>
              <a:rPr dirty="0"/>
              <a:t> </a:t>
            </a:r>
            <a:r>
              <a:rPr dirty="0" err="1"/>
              <a:t>giữ</a:t>
            </a:r>
            <a:r>
              <a:rPr dirty="0"/>
              <a:t> </a:t>
            </a:r>
            <a:r>
              <a:rPr dirty="0" err="1"/>
              <a:t>thành</a:t>
            </a:r>
            <a:r>
              <a:rPr dirty="0"/>
              <a:t> </a:t>
            </a:r>
            <a:r>
              <a:rPr dirty="0" err="1"/>
              <a:t>phần</a:t>
            </a:r>
            <a:r>
              <a:rPr dirty="0"/>
              <a:t> </a:t>
            </a:r>
            <a:r>
              <a:rPr dirty="0" err="1"/>
              <a:t>liên</a:t>
            </a:r>
            <a:r>
              <a:rPr dirty="0"/>
              <a:t> </a:t>
            </a:r>
            <a:r>
              <a:rPr dirty="0" err="1"/>
              <a:t>thông</a:t>
            </a:r>
            <a:r>
              <a:rPr dirty="0"/>
              <a:t> </a:t>
            </a:r>
            <a:r>
              <a:rPr dirty="0" err="1"/>
              <a:t>lớn</a:t>
            </a:r>
            <a:r>
              <a:rPr dirty="0"/>
              <a:t> </a:t>
            </a:r>
            <a:r>
              <a:rPr dirty="0" err="1"/>
              <a:t>nhất</a:t>
            </a:r>
            <a:r>
              <a:rPr dirty="0"/>
              <a:t>. </a:t>
            </a:r>
            <a:r>
              <a:rPr dirty="0" err="1"/>
              <a:t>Nghiên</a:t>
            </a:r>
            <a:r>
              <a:rPr dirty="0"/>
              <a:t> </a:t>
            </a:r>
            <a:r>
              <a:rPr dirty="0" err="1"/>
              <a:t>cứu</a:t>
            </a:r>
            <a:r>
              <a:rPr dirty="0"/>
              <a:t> </a:t>
            </a:r>
            <a:r>
              <a:rPr dirty="0" err="1"/>
              <a:t>cũng</a:t>
            </a:r>
            <a:r>
              <a:rPr dirty="0"/>
              <a:t> </a:t>
            </a:r>
            <a:r>
              <a:rPr dirty="0" err="1"/>
              <a:t>đánh</a:t>
            </a:r>
            <a:r>
              <a:rPr dirty="0"/>
              <a:t> </a:t>
            </a:r>
            <a:r>
              <a:rPr dirty="0" err="1"/>
              <a:t>giá</a:t>
            </a:r>
            <a:r>
              <a:rPr dirty="0"/>
              <a:t> </a:t>
            </a:r>
            <a:r>
              <a:rPr dirty="0" err="1"/>
              <a:t>đa</a:t>
            </a:r>
            <a:r>
              <a:rPr dirty="0"/>
              <a:t> </a:t>
            </a:r>
            <a:r>
              <a:rPr dirty="0" err="1"/>
              <a:t>tỉ</a:t>
            </a:r>
            <a:r>
              <a:rPr dirty="0"/>
              <a:t> </a:t>
            </a:r>
            <a:r>
              <a:rPr dirty="0" err="1"/>
              <a:t>lệ</a:t>
            </a:r>
            <a:r>
              <a:rPr dirty="0"/>
              <a:t> </a:t>
            </a:r>
            <a:r>
              <a:rPr dirty="0" err="1"/>
              <a:t>và</a:t>
            </a:r>
            <a:r>
              <a:rPr dirty="0"/>
              <a:t> </a:t>
            </a:r>
            <a:r>
              <a:rPr dirty="0" err="1"/>
              <a:t>ngưỡng</a:t>
            </a:r>
            <a:r>
              <a:rPr dirty="0"/>
              <a:t> </a:t>
            </a:r>
            <a:r>
              <a:rPr dirty="0" err="1"/>
              <a:t>thích</a:t>
            </a:r>
            <a:r>
              <a:rPr dirty="0"/>
              <a:t> </a:t>
            </a:r>
            <a:r>
              <a:rPr dirty="0" err="1"/>
              <a:t>nghi</a:t>
            </a:r>
            <a:r>
              <a:rPr dirty="0"/>
              <a:t> </a:t>
            </a:r>
            <a:r>
              <a:rPr dirty="0" err="1"/>
              <a:t>theo</a:t>
            </a:r>
            <a:r>
              <a:rPr dirty="0"/>
              <a:t> </a:t>
            </a:r>
            <a:r>
              <a:rPr dirty="0" err="1"/>
              <a:t>từng</a:t>
            </a:r>
            <a:r>
              <a:rPr dirty="0"/>
              <a:t> </a:t>
            </a:r>
            <a:r>
              <a:rPr lang="en-US" dirty="0" err="1"/>
              <a:t>mẫu</a:t>
            </a:r>
            <a:r>
              <a:rPr lang="en-US" baseline="0" dirty="0"/>
              <a:t> </a:t>
            </a:r>
            <a:r>
              <a:rPr lang="en-US" baseline="0" dirty="0" err="1"/>
              <a:t>sản</a:t>
            </a:r>
            <a:r>
              <a:rPr lang="en-US" baseline="0" dirty="0"/>
              <a:t> </a:t>
            </a:r>
            <a:r>
              <a:rPr lang="en-US" baseline="0" dirty="0" err="1"/>
              <a:t>phẩm</a:t>
            </a:r>
            <a:r>
              <a:rPr dirty="0"/>
              <a:t>, </a:t>
            </a:r>
            <a:r>
              <a:rPr dirty="0" err="1"/>
              <a:t>thay</a:t>
            </a:r>
            <a:r>
              <a:rPr dirty="0"/>
              <a:t> </a:t>
            </a:r>
            <a:r>
              <a:rPr dirty="0" err="1"/>
              <a:t>vì</a:t>
            </a:r>
            <a:r>
              <a:rPr dirty="0"/>
              <a:t> </a:t>
            </a:r>
            <a:r>
              <a:rPr dirty="0" err="1"/>
              <a:t>coi</a:t>
            </a:r>
            <a:r>
              <a:rPr dirty="0"/>
              <a:t> </a:t>
            </a:r>
            <a:r>
              <a:rPr dirty="0" err="1"/>
              <a:t>mọi</a:t>
            </a:r>
            <a:r>
              <a:rPr dirty="0"/>
              <a:t> </a:t>
            </a:r>
            <a:r>
              <a:rPr lang="en-US" dirty="0" err="1"/>
              <a:t>mẫu</a:t>
            </a:r>
            <a:r>
              <a:rPr lang="en-US" baseline="0" dirty="0"/>
              <a:t> </a:t>
            </a:r>
            <a:r>
              <a:rPr lang="en-US" baseline="0" dirty="0" err="1"/>
              <a:t>sản</a:t>
            </a:r>
            <a:r>
              <a:rPr lang="en-US" baseline="0" dirty="0"/>
              <a:t> </a:t>
            </a:r>
            <a:r>
              <a:rPr lang="en-US" baseline="0" dirty="0" err="1"/>
              <a:t>phẩm</a:t>
            </a:r>
            <a:r>
              <a:rPr dirty="0"/>
              <a:t> </a:t>
            </a:r>
            <a:r>
              <a:rPr dirty="0" err="1"/>
              <a:t>có</a:t>
            </a:r>
            <a:r>
              <a:rPr dirty="0"/>
              <a:t> </a:t>
            </a:r>
            <a:r>
              <a:rPr dirty="0" err="1"/>
              <a:t>cùng</a:t>
            </a:r>
            <a:r>
              <a:rPr dirty="0"/>
              <a:t> </a:t>
            </a:r>
            <a:r>
              <a:rPr dirty="0" err="1"/>
              <a:t>phân</a:t>
            </a:r>
            <a:r>
              <a:rPr dirty="0"/>
              <a:t> </a:t>
            </a:r>
            <a:r>
              <a:rPr dirty="0" err="1"/>
              <a:t>bố</a:t>
            </a:r>
            <a:r>
              <a:rPr dirty="0"/>
              <a:t> </a:t>
            </a:r>
            <a:r>
              <a:rPr dirty="0" err="1"/>
              <a:t>điểm</a:t>
            </a:r>
            <a:r>
              <a:rPr dirty="0"/>
              <a:t> </a:t>
            </a:r>
            <a:r>
              <a:rPr dirty="0" err="1"/>
              <a:t>bất</a:t>
            </a:r>
            <a:r>
              <a:rPr dirty="0"/>
              <a:t> </a:t>
            </a:r>
            <a:r>
              <a:rPr dirty="0" err="1"/>
              <a:t>thường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Trong</a:t>
            </a:r>
            <a:r>
              <a:rPr dirty="0"/>
              <a:t> </a:t>
            </a:r>
            <a:r>
              <a:rPr dirty="0" err="1"/>
              <a:t>mỗi</a:t>
            </a:r>
            <a:r>
              <a:rPr dirty="0"/>
              <a:t> </a:t>
            </a:r>
            <a:r>
              <a:rPr lang="en-US" dirty="0" err="1"/>
              <a:t>mẫu</a:t>
            </a:r>
            <a:r>
              <a:rPr lang="en-US" baseline="0" dirty="0"/>
              <a:t> </a:t>
            </a:r>
            <a:r>
              <a:rPr lang="en-US" baseline="0" dirty="0" err="1"/>
              <a:t>sản</a:t>
            </a:r>
            <a:r>
              <a:rPr lang="en-US" baseline="0" dirty="0"/>
              <a:t> </a:t>
            </a:r>
            <a:r>
              <a:rPr lang="en-US" baseline="0" dirty="0" err="1"/>
              <a:t>phẩm</a:t>
            </a:r>
            <a:r>
              <a:rPr dirty="0"/>
              <a:t>, 80 </a:t>
            </a:r>
            <a:r>
              <a:rPr dirty="0" err="1"/>
              <a:t>ảnh</a:t>
            </a:r>
            <a:r>
              <a:rPr dirty="0"/>
              <a:t> </a:t>
            </a:r>
            <a:r>
              <a:rPr dirty="0" err="1"/>
              <a:t>bình</a:t>
            </a:r>
            <a:r>
              <a:rPr dirty="0"/>
              <a:t> </a:t>
            </a:r>
            <a:r>
              <a:rPr dirty="0" err="1"/>
              <a:t>thường</a:t>
            </a:r>
            <a:r>
              <a:rPr dirty="0"/>
              <a:t> </a:t>
            </a:r>
            <a:r>
              <a:rPr dirty="0" err="1"/>
              <a:t>dùng</a:t>
            </a:r>
            <a:r>
              <a:rPr dirty="0"/>
              <a:t> </a:t>
            </a:r>
            <a:r>
              <a:rPr dirty="0" err="1"/>
              <a:t>để</a:t>
            </a:r>
            <a:r>
              <a:rPr dirty="0"/>
              <a:t> </a:t>
            </a:r>
            <a:r>
              <a:rPr dirty="0" err="1"/>
              <a:t>xây</a:t>
            </a:r>
            <a:r>
              <a:rPr dirty="0"/>
              <a:t> memory bank </a:t>
            </a:r>
            <a:r>
              <a:rPr dirty="0" err="1"/>
              <a:t>và</a:t>
            </a:r>
            <a:r>
              <a:rPr dirty="0"/>
              <a:t> 20 </a:t>
            </a:r>
            <a:r>
              <a:rPr dirty="0" err="1"/>
              <a:t>ảnh</a:t>
            </a:r>
            <a:r>
              <a:rPr dirty="0"/>
              <a:t> </a:t>
            </a:r>
            <a:r>
              <a:rPr dirty="0" err="1"/>
              <a:t>còn</a:t>
            </a:r>
            <a:r>
              <a:rPr dirty="0"/>
              <a:t> </a:t>
            </a:r>
            <a:r>
              <a:rPr dirty="0" err="1"/>
              <a:t>lại</a:t>
            </a:r>
            <a:r>
              <a:rPr dirty="0"/>
              <a:t> </a:t>
            </a:r>
            <a:r>
              <a:rPr dirty="0" err="1"/>
              <a:t>dùng</a:t>
            </a:r>
            <a:r>
              <a:rPr dirty="0"/>
              <a:t> </a:t>
            </a:r>
            <a:r>
              <a:rPr dirty="0" err="1"/>
              <a:t>cho</a:t>
            </a:r>
            <a:r>
              <a:rPr dirty="0"/>
              <a:t> </a:t>
            </a:r>
            <a:r>
              <a:rPr dirty="0" err="1"/>
              <a:t>hiệu</a:t>
            </a:r>
            <a:r>
              <a:rPr dirty="0"/>
              <a:t> </a:t>
            </a:r>
            <a:r>
              <a:rPr dirty="0" err="1"/>
              <a:t>chuẩn</a:t>
            </a:r>
            <a:r>
              <a:rPr dirty="0"/>
              <a:t>. </a:t>
            </a:r>
            <a:r>
              <a:rPr dirty="0" err="1"/>
              <a:t>Tất</a:t>
            </a:r>
            <a:r>
              <a:rPr dirty="0"/>
              <a:t> </a:t>
            </a:r>
            <a:r>
              <a:rPr dirty="0" err="1"/>
              <a:t>cả</a:t>
            </a:r>
            <a:r>
              <a:rPr dirty="0"/>
              <a:t> </a:t>
            </a:r>
            <a:r>
              <a:rPr dirty="0" err="1"/>
              <a:t>ảnh</a:t>
            </a:r>
            <a:r>
              <a:rPr dirty="0"/>
              <a:t> </a:t>
            </a:r>
            <a:r>
              <a:rPr dirty="0" err="1"/>
              <a:t>lỗi</a:t>
            </a:r>
            <a:r>
              <a:rPr dirty="0"/>
              <a:t> </a:t>
            </a:r>
            <a:r>
              <a:rPr dirty="0" err="1"/>
              <a:t>chỉ</a:t>
            </a:r>
            <a:r>
              <a:rPr dirty="0"/>
              <a:t> </a:t>
            </a:r>
            <a:r>
              <a:rPr dirty="0" err="1"/>
              <a:t>xuất</a:t>
            </a:r>
            <a:r>
              <a:rPr dirty="0"/>
              <a:t> </a:t>
            </a:r>
            <a:r>
              <a:rPr dirty="0" err="1"/>
              <a:t>hiện</a:t>
            </a:r>
            <a:r>
              <a:rPr dirty="0"/>
              <a:t> ở </a:t>
            </a:r>
            <a:r>
              <a:rPr dirty="0" err="1"/>
              <a:t>giai</a:t>
            </a:r>
            <a:r>
              <a:rPr dirty="0"/>
              <a:t> </a:t>
            </a:r>
            <a:r>
              <a:rPr dirty="0" err="1"/>
              <a:t>đoạn</a:t>
            </a:r>
            <a:r>
              <a:rPr dirty="0"/>
              <a:t> </a:t>
            </a:r>
            <a:r>
              <a:rPr dirty="0" err="1"/>
              <a:t>đánh</a:t>
            </a:r>
            <a:r>
              <a:rPr dirty="0"/>
              <a:t> </a:t>
            </a:r>
            <a:r>
              <a:rPr dirty="0" err="1"/>
              <a:t>giá</a:t>
            </a:r>
            <a:r>
              <a:rPr dirty="0"/>
              <a:t>. </a:t>
            </a:r>
            <a:r>
              <a:rPr dirty="0" err="1"/>
              <a:t>Chỉ</a:t>
            </a:r>
            <a:r>
              <a:rPr dirty="0"/>
              <a:t> </a:t>
            </a:r>
            <a:r>
              <a:rPr dirty="0" err="1"/>
              <a:t>số</a:t>
            </a:r>
            <a:r>
              <a:rPr dirty="0"/>
              <a:t> </a:t>
            </a:r>
            <a:r>
              <a:rPr dirty="0" err="1"/>
              <a:t>chính</a:t>
            </a:r>
            <a:r>
              <a:rPr dirty="0"/>
              <a:t> </a:t>
            </a:r>
            <a:r>
              <a:rPr dirty="0" err="1"/>
              <a:t>cho</a:t>
            </a:r>
            <a:r>
              <a:rPr dirty="0"/>
              <a:t> </a:t>
            </a:r>
            <a:r>
              <a:rPr dirty="0" err="1"/>
              <a:t>phân</a:t>
            </a:r>
            <a:r>
              <a:rPr dirty="0"/>
              <a:t> </a:t>
            </a:r>
            <a:r>
              <a:rPr dirty="0" err="1"/>
              <a:t>loại</a:t>
            </a:r>
            <a:r>
              <a:rPr dirty="0"/>
              <a:t> </a:t>
            </a:r>
            <a:r>
              <a:rPr dirty="0" err="1"/>
              <a:t>là</a:t>
            </a:r>
            <a:r>
              <a:rPr dirty="0"/>
              <a:t> AUROC. </a:t>
            </a:r>
            <a:r>
              <a:rPr dirty="0" err="1"/>
              <a:t>Với</a:t>
            </a:r>
            <a:r>
              <a:rPr dirty="0"/>
              <a:t> </a:t>
            </a:r>
            <a:r>
              <a:rPr dirty="0" err="1"/>
              <a:t>định</a:t>
            </a:r>
            <a:r>
              <a:rPr dirty="0"/>
              <a:t> </a:t>
            </a:r>
            <a:r>
              <a:rPr dirty="0" err="1"/>
              <a:t>vị</a:t>
            </a:r>
            <a:r>
              <a:rPr dirty="0"/>
              <a:t>, </a:t>
            </a:r>
            <a:r>
              <a:rPr dirty="0" err="1"/>
              <a:t>tác</a:t>
            </a:r>
            <a:r>
              <a:rPr dirty="0"/>
              <a:t> </a:t>
            </a:r>
            <a:r>
              <a:rPr dirty="0" err="1"/>
              <a:t>giả</a:t>
            </a:r>
            <a:r>
              <a:rPr dirty="0"/>
              <a:t> </a:t>
            </a:r>
            <a:r>
              <a:rPr dirty="0" err="1"/>
              <a:t>dùng</a:t>
            </a:r>
            <a:r>
              <a:rPr dirty="0"/>
              <a:t> </a:t>
            </a:r>
            <a:r>
              <a:rPr dirty="0" err="1"/>
              <a:t>một</a:t>
            </a:r>
            <a:r>
              <a:rPr dirty="0"/>
              <a:t> </a:t>
            </a:r>
            <a:r>
              <a:rPr dirty="0" err="1"/>
              <a:t>tập</a:t>
            </a:r>
            <a:r>
              <a:rPr dirty="0"/>
              <a:t> </a:t>
            </a:r>
            <a:r>
              <a:rPr dirty="0" err="1"/>
              <a:t>mặt</a:t>
            </a:r>
            <a:r>
              <a:rPr dirty="0"/>
              <a:t> </a:t>
            </a:r>
            <a:r>
              <a:rPr dirty="0" err="1"/>
              <a:t>nạ</a:t>
            </a:r>
            <a:r>
              <a:rPr dirty="0"/>
              <a:t> </a:t>
            </a:r>
            <a:r>
              <a:rPr dirty="0" err="1"/>
              <a:t>thủ</a:t>
            </a:r>
            <a:r>
              <a:rPr dirty="0"/>
              <a:t> </a:t>
            </a:r>
            <a:r>
              <a:rPr dirty="0" err="1"/>
              <a:t>công</a:t>
            </a:r>
            <a:r>
              <a:rPr dirty="0"/>
              <a:t> </a:t>
            </a:r>
            <a:r>
              <a:rPr dirty="0" err="1"/>
              <a:t>thô</a:t>
            </a:r>
            <a:r>
              <a:rPr dirty="0"/>
              <a:t> </a:t>
            </a:r>
            <a:r>
              <a:rPr dirty="0" err="1"/>
              <a:t>và</a:t>
            </a:r>
            <a:r>
              <a:rPr dirty="0"/>
              <a:t> </a:t>
            </a:r>
            <a:r>
              <a:rPr dirty="0" err="1"/>
              <a:t>báo</a:t>
            </a:r>
            <a:r>
              <a:rPr dirty="0"/>
              <a:t> </a:t>
            </a:r>
            <a:r>
              <a:rPr dirty="0" err="1"/>
              <a:t>cáo</a:t>
            </a:r>
            <a:r>
              <a:rPr dirty="0"/>
              <a:t> </a:t>
            </a:r>
            <a:r>
              <a:rPr dirty="0" err="1"/>
              <a:t>ba</a:t>
            </a:r>
            <a:r>
              <a:rPr dirty="0"/>
              <a:t> </a:t>
            </a:r>
            <a:r>
              <a:rPr dirty="0" err="1"/>
              <a:t>chỉ</a:t>
            </a:r>
            <a:r>
              <a:rPr dirty="0"/>
              <a:t> </a:t>
            </a:r>
            <a:r>
              <a:rPr dirty="0" err="1"/>
              <a:t>số</a:t>
            </a:r>
            <a:r>
              <a:rPr dirty="0"/>
              <a:t> </a:t>
            </a:r>
            <a:r>
              <a:rPr dirty="0" err="1"/>
              <a:t>bổ</a:t>
            </a:r>
            <a:r>
              <a:rPr dirty="0"/>
              <a:t> sung </a:t>
            </a:r>
            <a:r>
              <a:rPr dirty="0" err="1"/>
              <a:t>là</a:t>
            </a:r>
            <a:r>
              <a:rPr dirty="0"/>
              <a:t> </a:t>
            </a:r>
            <a:r>
              <a:rPr dirty="0" err="1"/>
              <a:t>IoU</a:t>
            </a:r>
            <a:r>
              <a:rPr dirty="0"/>
              <a:t>, coverage </a:t>
            </a:r>
            <a:r>
              <a:rPr dirty="0" err="1"/>
              <a:t>và</a:t>
            </a:r>
            <a:r>
              <a:rPr dirty="0"/>
              <a:t> pointing-game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Kết</a:t>
            </a:r>
            <a:r>
              <a:rPr dirty="0"/>
              <a:t> </a:t>
            </a:r>
            <a:r>
              <a:rPr dirty="0" err="1"/>
              <a:t>quả</a:t>
            </a:r>
            <a:r>
              <a:rPr dirty="0"/>
              <a:t> </a:t>
            </a:r>
            <a:r>
              <a:rPr dirty="0" err="1"/>
              <a:t>chính</a:t>
            </a:r>
            <a:r>
              <a:rPr dirty="0"/>
              <a:t> </a:t>
            </a:r>
            <a:r>
              <a:rPr dirty="0" err="1"/>
              <a:t>cho</a:t>
            </a:r>
            <a:r>
              <a:rPr dirty="0"/>
              <a:t> </a:t>
            </a:r>
            <a:r>
              <a:rPr dirty="0" err="1"/>
              <a:t>thấy</a:t>
            </a:r>
            <a:r>
              <a:rPr dirty="0"/>
              <a:t> </a:t>
            </a:r>
            <a:r>
              <a:rPr dirty="0" err="1"/>
              <a:t>PatchCore</a:t>
            </a:r>
            <a:r>
              <a:rPr dirty="0"/>
              <a:t> </a:t>
            </a:r>
            <a:r>
              <a:rPr dirty="0" err="1"/>
              <a:t>vượt</a:t>
            </a:r>
            <a:r>
              <a:rPr dirty="0"/>
              <a:t> </a:t>
            </a:r>
            <a:r>
              <a:rPr dirty="0" err="1"/>
              <a:t>rõ</a:t>
            </a:r>
            <a:r>
              <a:rPr dirty="0"/>
              <a:t> </a:t>
            </a:r>
            <a:r>
              <a:rPr dirty="0" err="1"/>
              <a:t>rệt</a:t>
            </a:r>
            <a:r>
              <a:rPr dirty="0"/>
              <a:t> </a:t>
            </a:r>
            <a:r>
              <a:rPr dirty="0" err="1"/>
              <a:t>đường</a:t>
            </a:r>
            <a:r>
              <a:rPr dirty="0"/>
              <a:t> </a:t>
            </a:r>
            <a:r>
              <a:rPr dirty="0" err="1"/>
              <a:t>cơ</a:t>
            </a:r>
            <a:r>
              <a:rPr dirty="0"/>
              <a:t> </a:t>
            </a:r>
            <a:r>
              <a:rPr dirty="0" err="1"/>
              <a:t>sở</a:t>
            </a:r>
            <a:r>
              <a:rPr dirty="0"/>
              <a:t> </a:t>
            </a:r>
            <a:r>
              <a:rPr dirty="0" err="1"/>
              <a:t>thống</a:t>
            </a:r>
            <a:r>
              <a:rPr dirty="0"/>
              <a:t> </a:t>
            </a:r>
            <a:r>
              <a:rPr dirty="0" err="1"/>
              <a:t>kê</a:t>
            </a:r>
            <a:r>
              <a:rPr dirty="0"/>
              <a:t>. Isolation Forest </a:t>
            </a:r>
            <a:r>
              <a:rPr dirty="0" err="1"/>
              <a:t>đạt</a:t>
            </a:r>
            <a:r>
              <a:rPr dirty="0"/>
              <a:t> AUROC </a:t>
            </a:r>
            <a:r>
              <a:rPr dirty="0" err="1"/>
              <a:t>trung</a:t>
            </a:r>
            <a:r>
              <a:rPr dirty="0"/>
              <a:t> </a:t>
            </a:r>
            <a:r>
              <a:rPr dirty="0" err="1"/>
              <a:t>bình</a:t>
            </a:r>
            <a:r>
              <a:rPr dirty="0"/>
              <a:t> 0,898. </a:t>
            </a:r>
            <a:r>
              <a:rPr dirty="0" err="1"/>
              <a:t>PatchCore</a:t>
            </a:r>
            <a:r>
              <a:rPr dirty="0"/>
              <a:t> </a:t>
            </a:r>
            <a:r>
              <a:rPr dirty="0" err="1"/>
              <a:t>cơ</a:t>
            </a:r>
            <a:r>
              <a:rPr dirty="0"/>
              <a:t> </a:t>
            </a:r>
            <a:r>
              <a:rPr dirty="0" err="1"/>
              <a:t>sở</a:t>
            </a:r>
            <a:r>
              <a:rPr dirty="0"/>
              <a:t> </a:t>
            </a:r>
            <a:r>
              <a:rPr dirty="0" err="1"/>
              <a:t>đạt</a:t>
            </a:r>
            <a:r>
              <a:rPr dirty="0"/>
              <a:t> 0,991, </a:t>
            </a:r>
            <a:r>
              <a:rPr dirty="0" err="1"/>
              <a:t>và</a:t>
            </a:r>
            <a:r>
              <a:rPr dirty="0"/>
              <a:t> </a:t>
            </a:r>
            <a:r>
              <a:rPr dirty="0" err="1"/>
              <a:t>cấu</a:t>
            </a:r>
            <a:r>
              <a:rPr dirty="0"/>
              <a:t> </a:t>
            </a:r>
            <a:r>
              <a:rPr dirty="0" err="1"/>
              <a:t>hình</a:t>
            </a:r>
            <a:r>
              <a:rPr dirty="0"/>
              <a:t> </a:t>
            </a:r>
            <a:r>
              <a:rPr dirty="0" err="1"/>
              <a:t>cuối</a:t>
            </a:r>
            <a:r>
              <a:rPr dirty="0"/>
              <a:t> </a:t>
            </a:r>
            <a:r>
              <a:rPr dirty="0" err="1"/>
              <a:t>đạt</a:t>
            </a:r>
            <a:r>
              <a:rPr dirty="0"/>
              <a:t> 0,996. </a:t>
            </a:r>
            <a:r>
              <a:rPr dirty="0" err="1"/>
              <a:t>Khoảng</a:t>
            </a:r>
            <a:r>
              <a:rPr dirty="0"/>
              <a:t> </a:t>
            </a:r>
            <a:r>
              <a:rPr dirty="0" err="1"/>
              <a:t>cách</a:t>
            </a:r>
            <a:r>
              <a:rPr dirty="0"/>
              <a:t> </a:t>
            </a:r>
            <a:r>
              <a:rPr dirty="0" err="1"/>
              <a:t>gần</a:t>
            </a:r>
            <a:r>
              <a:rPr dirty="0"/>
              <a:t> 10 </a:t>
            </a:r>
            <a:r>
              <a:rPr dirty="0" err="1"/>
              <a:t>điểm</a:t>
            </a:r>
            <a:r>
              <a:rPr dirty="0"/>
              <a:t> </a:t>
            </a:r>
            <a:r>
              <a:rPr dirty="0" err="1"/>
              <a:t>phần</a:t>
            </a:r>
            <a:r>
              <a:rPr dirty="0"/>
              <a:t> </a:t>
            </a:r>
            <a:r>
              <a:rPr dirty="0" err="1"/>
              <a:t>trăm</a:t>
            </a:r>
            <a:r>
              <a:rPr dirty="0"/>
              <a:t> </a:t>
            </a:r>
            <a:r>
              <a:rPr dirty="0" err="1"/>
              <a:t>cho</a:t>
            </a:r>
            <a:r>
              <a:rPr dirty="0"/>
              <a:t> </a:t>
            </a:r>
            <a:r>
              <a:rPr dirty="0" err="1"/>
              <a:t>thấy</a:t>
            </a:r>
            <a:r>
              <a:rPr dirty="0"/>
              <a:t> </a:t>
            </a:r>
            <a:r>
              <a:rPr dirty="0" err="1"/>
              <a:t>đặc</a:t>
            </a:r>
            <a:r>
              <a:rPr dirty="0"/>
              <a:t> </a:t>
            </a:r>
            <a:r>
              <a:rPr dirty="0" err="1"/>
              <a:t>trưng</a:t>
            </a:r>
            <a:r>
              <a:rPr dirty="0"/>
              <a:t> </a:t>
            </a:r>
            <a:r>
              <a:rPr dirty="0" err="1"/>
              <a:t>học</a:t>
            </a:r>
            <a:r>
              <a:rPr dirty="0"/>
              <a:t> </a:t>
            </a:r>
            <a:r>
              <a:rPr dirty="0" err="1"/>
              <a:t>sâu</a:t>
            </a:r>
            <a:r>
              <a:rPr dirty="0"/>
              <a:t> </a:t>
            </a:r>
            <a:r>
              <a:rPr dirty="0" err="1"/>
              <a:t>tổng</a:t>
            </a:r>
            <a:r>
              <a:rPr dirty="0"/>
              <a:t> </a:t>
            </a:r>
            <a:r>
              <a:rPr dirty="0" err="1"/>
              <a:t>quát</a:t>
            </a:r>
            <a:r>
              <a:rPr dirty="0"/>
              <a:t> </a:t>
            </a:r>
            <a:r>
              <a:rPr dirty="0" err="1"/>
              <a:t>ổn</a:t>
            </a:r>
            <a:r>
              <a:rPr dirty="0"/>
              <a:t> </a:t>
            </a:r>
            <a:r>
              <a:rPr dirty="0" err="1"/>
              <a:t>định</a:t>
            </a:r>
            <a:r>
              <a:rPr dirty="0"/>
              <a:t> </a:t>
            </a:r>
            <a:r>
              <a:rPr dirty="0" err="1"/>
              <a:t>hơn</a:t>
            </a:r>
            <a:r>
              <a:rPr dirty="0"/>
              <a:t> </a:t>
            </a:r>
            <a:r>
              <a:rPr dirty="0" err="1"/>
              <a:t>bộ</a:t>
            </a:r>
            <a:r>
              <a:rPr dirty="0"/>
              <a:t> </a:t>
            </a:r>
            <a:r>
              <a:rPr dirty="0" err="1"/>
              <a:t>đặc</a:t>
            </a:r>
            <a:r>
              <a:rPr dirty="0"/>
              <a:t> </a:t>
            </a:r>
            <a:r>
              <a:rPr dirty="0" err="1"/>
              <a:t>trưng</a:t>
            </a:r>
            <a:r>
              <a:rPr dirty="0"/>
              <a:t> </a:t>
            </a:r>
            <a:r>
              <a:rPr dirty="0" err="1"/>
              <a:t>thủ</a:t>
            </a:r>
            <a:r>
              <a:rPr dirty="0"/>
              <a:t> </a:t>
            </a:r>
            <a:r>
              <a:rPr dirty="0" err="1"/>
              <a:t>công</a:t>
            </a:r>
            <a:r>
              <a:rPr dirty="0"/>
              <a:t> </a:t>
            </a:r>
            <a:r>
              <a:rPr dirty="0" err="1"/>
              <a:t>trên</a:t>
            </a:r>
            <a:r>
              <a:rPr dirty="0"/>
              <a:t> 12 </a:t>
            </a:r>
            <a:r>
              <a:rPr lang="en-US" dirty="0" err="1"/>
              <a:t>mẫu</a:t>
            </a:r>
            <a:r>
              <a:rPr dirty="0"/>
              <a:t> </a:t>
            </a:r>
            <a:r>
              <a:rPr dirty="0" err="1"/>
              <a:t>sản</a:t>
            </a:r>
            <a:r>
              <a:rPr dirty="0"/>
              <a:t> </a:t>
            </a:r>
            <a:r>
              <a:rPr dirty="0" err="1"/>
              <a:t>phẩm</a:t>
            </a:r>
            <a:r>
              <a:rPr dirty="0"/>
              <a:t> </a:t>
            </a:r>
            <a:r>
              <a:rPr dirty="0" err="1"/>
              <a:t>khác</a:t>
            </a:r>
            <a:r>
              <a:rPr dirty="0"/>
              <a:t> </a:t>
            </a:r>
            <a:r>
              <a:rPr dirty="0" err="1"/>
              <a:t>nhau</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Ở </a:t>
            </a:r>
            <a:r>
              <a:rPr dirty="0" err="1"/>
              <a:t>cấu</a:t>
            </a:r>
            <a:r>
              <a:rPr dirty="0"/>
              <a:t> </a:t>
            </a:r>
            <a:r>
              <a:rPr dirty="0" err="1"/>
              <a:t>hình</a:t>
            </a:r>
            <a:r>
              <a:rPr dirty="0"/>
              <a:t> </a:t>
            </a:r>
            <a:r>
              <a:rPr dirty="0" err="1"/>
              <a:t>cuối</a:t>
            </a:r>
            <a:r>
              <a:rPr dirty="0"/>
              <a:t>, </a:t>
            </a:r>
            <a:r>
              <a:rPr dirty="0" err="1"/>
              <a:t>ảnh</a:t>
            </a:r>
            <a:r>
              <a:rPr dirty="0"/>
              <a:t> </a:t>
            </a:r>
            <a:r>
              <a:rPr dirty="0" err="1"/>
              <a:t>đầu</a:t>
            </a:r>
            <a:r>
              <a:rPr dirty="0"/>
              <a:t> </a:t>
            </a:r>
            <a:r>
              <a:rPr dirty="0" err="1"/>
              <a:t>vào</a:t>
            </a:r>
            <a:r>
              <a:rPr dirty="0"/>
              <a:t> </a:t>
            </a:r>
            <a:r>
              <a:rPr dirty="0" err="1"/>
              <a:t>được</a:t>
            </a:r>
            <a:r>
              <a:rPr dirty="0"/>
              <a:t> </a:t>
            </a:r>
            <a:r>
              <a:rPr dirty="0" err="1"/>
              <a:t>tăng</a:t>
            </a:r>
            <a:r>
              <a:rPr dirty="0"/>
              <a:t> </a:t>
            </a:r>
            <a:r>
              <a:rPr dirty="0" err="1"/>
              <a:t>lên</a:t>
            </a:r>
            <a:r>
              <a:rPr dirty="0"/>
              <a:t> 384 </a:t>
            </a:r>
            <a:r>
              <a:rPr lang="en-US" dirty="0"/>
              <a:t>x </a:t>
            </a:r>
            <a:r>
              <a:rPr dirty="0"/>
              <a:t>384, </a:t>
            </a:r>
            <a:r>
              <a:rPr dirty="0" err="1"/>
              <a:t>nền</a:t>
            </a:r>
            <a:r>
              <a:rPr dirty="0"/>
              <a:t> </a:t>
            </a:r>
            <a:r>
              <a:rPr dirty="0" err="1"/>
              <a:t>được</a:t>
            </a:r>
            <a:r>
              <a:rPr dirty="0"/>
              <a:t> </a:t>
            </a:r>
            <a:r>
              <a:rPr dirty="0" err="1"/>
              <a:t>loại</a:t>
            </a:r>
            <a:r>
              <a:rPr dirty="0"/>
              <a:t> </a:t>
            </a:r>
            <a:r>
              <a:rPr dirty="0" err="1"/>
              <a:t>bỏ</a:t>
            </a:r>
            <a:r>
              <a:rPr dirty="0"/>
              <a:t>, </a:t>
            </a:r>
            <a:r>
              <a:rPr dirty="0" err="1"/>
              <a:t>ngưỡng</a:t>
            </a:r>
            <a:r>
              <a:rPr dirty="0"/>
              <a:t> </a:t>
            </a:r>
            <a:r>
              <a:rPr dirty="0" err="1"/>
              <a:t>chỉ</a:t>
            </a:r>
            <a:r>
              <a:rPr dirty="0"/>
              <a:t> </a:t>
            </a:r>
            <a:r>
              <a:rPr dirty="0" err="1"/>
              <a:t>tính</a:t>
            </a:r>
            <a:r>
              <a:rPr dirty="0"/>
              <a:t> </a:t>
            </a:r>
            <a:r>
              <a:rPr dirty="0" err="1"/>
              <a:t>trong</a:t>
            </a:r>
            <a:r>
              <a:rPr dirty="0"/>
              <a:t> </a:t>
            </a:r>
            <a:r>
              <a:rPr dirty="0" err="1"/>
              <a:t>vùng</a:t>
            </a:r>
            <a:r>
              <a:rPr dirty="0"/>
              <a:t> </a:t>
            </a:r>
            <a:r>
              <a:rPr dirty="0" err="1"/>
              <a:t>vật</a:t>
            </a:r>
            <a:r>
              <a:rPr dirty="0"/>
              <a:t> </a:t>
            </a:r>
            <a:r>
              <a:rPr dirty="0" err="1"/>
              <a:t>thể</a:t>
            </a:r>
            <a:r>
              <a:rPr dirty="0"/>
              <a:t> </a:t>
            </a:r>
            <a:r>
              <a:rPr dirty="0" err="1"/>
              <a:t>và</a:t>
            </a:r>
            <a:r>
              <a:rPr dirty="0"/>
              <a:t> </a:t>
            </a:r>
            <a:r>
              <a:rPr dirty="0" err="1"/>
              <a:t>hệ</a:t>
            </a:r>
            <a:r>
              <a:rPr dirty="0"/>
              <a:t> </a:t>
            </a:r>
            <a:r>
              <a:rPr dirty="0" err="1"/>
              <a:t>thống</a:t>
            </a:r>
            <a:r>
              <a:rPr dirty="0"/>
              <a:t> </a:t>
            </a:r>
            <a:r>
              <a:rPr dirty="0" err="1"/>
              <a:t>giữ</a:t>
            </a:r>
            <a:r>
              <a:rPr dirty="0"/>
              <a:t> </a:t>
            </a:r>
            <a:r>
              <a:rPr dirty="0" err="1"/>
              <a:t>vùng</a:t>
            </a:r>
            <a:r>
              <a:rPr dirty="0"/>
              <a:t> </a:t>
            </a:r>
            <a:r>
              <a:rPr dirty="0" err="1"/>
              <a:t>liên</a:t>
            </a:r>
            <a:r>
              <a:rPr dirty="0"/>
              <a:t> </a:t>
            </a:r>
            <a:r>
              <a:rPr dirty="0" err="1"/>
              <a:t>thông</a:t>
            </a:r>
            <a:r>
              <a:rPr dirty="0"/>
              <a:t> </a:t>
            </a:r>
            <a:r>
              <a:rPr dirty="0" err="1"/>
              <a:t>lớn</a:t>
            </a:r>
            <a:r>
              <a:rPr dirty="0"/>
              <a:t> </a:t>
            </a:r>
            <a:r>
              <a:rPr dirty="0" err="1"/>
              <a:t>nhất</a:t>
            </a:r>
            <a:r>
              <a:rPr dirty="0"/>
              <a:t>. AUROC </a:t>
            </a:r>
            <a:r>
              <a:rPr dirty="0" err="1"/>
              <a:t>trung</a:t>
            </a:r>
            <a:r>
              <a:rPr dirty="0"/>
              <a:t> </a:t>
            </a:r>
            <a:r>
              <a:rPr dirty="0" err="1"/>
              <a:t>bình</a:t>
            </a:r>
            <a:r>
              <a:rPr dirty="0"/>
              <a:t> </a:t>
            </a:r>
            <a:r>
              <a:rPr dirty="0" err="1"/>
              <a:t>đạt</a:t>
            </a:r>
            <a:r>
              <a:rPr dirty="0"/>
              <a:t> 0,996. </a:t>
            </a:r>
            <a:r>
              <a:rPr dirty="0" err="1"/>
              <a:t>Tất</a:t>
            </a:r>
            <a:r>
              <a:rPr dirty="0"/>
              <a:t> </a:t>
            </a:r>
            <a:r>
              <a:rPr dirty="0" err="1"/>
              <a:t>cả</a:t>
            </a:r>
            <a:r>
              <a:rPr dirty="0"/>
              <a:t> 12 </a:t>
            </a:r>
            <a:r>
              <a:rPr lang="en-US" dirty="0" err="1"/>
              <a:t>mẫu</a:t>
            </a:r>
            <a:r>
              <a:rPr lang="en-US" baseline="0" dirty="0"/>
              <a:t> </a:t>
            </a:r>
            <a:r>
              <a:rPr lang="en-US" baseline="0" dirty="0" err="1"/>
              <a:t>sản</a:t>
            </a:r>
            <a:r>
              <a:rPr lang="en-US" baseline="0" dirty="0"/>
              <a:t> </a:t>
            </a:r>
            <a:r>
              <a:rPr lang="en-US" baseline="0" dirty="0" err="1"/>
              <a:t>phẩm</a:t>
            </a:r>
            <a:r>
              <a:rPr dirty="0"/>
              <a:t> </a:t>
            </a:r>
            <a:r>
              <a:rPr dirty="0" err="1"/>
              <a:t>đều</a:t>
            </a:r>
            <a:r>
              <a:rPr dirty="0"/>
              <a:t> </a:t>
            </a:r>
            <a:r>
              <a:rPr dirty="0" err="1"/>
              <a:t>đạt</a:t>
            </a:r>
            <a:r>
              <a:rPr dirty="0"/>
              <a:t> </a:t>
            </a:r>
            <a:r>
              <a:rPr dirty="0" err="1"/>
              <a:t>ít</a:t>
            </a:r>
            <a:r>
              <a:rPr dirty="0"/>
              <a:t> </a:t>
            </a:r>
            <a:r>
              <a:rPr dirty="0" err="1"/>
              <a:t>nhất</a:t>
            </a:r>
            <a:r>
              <a:rPr dirty="0"/>
              <a:t> 0,983, </a:t>
            </a:r>
            <a:r>
              <a:rPr dirty="0" err="1"/>
              <a:t>nên</a:t>
            </a:r>
            <a:r>
              <a:rPr dirty="0"/>
              <a:t> </a:t>
            </a:r>
            <a:r>
              <a:rPr dirty="0" err="1"/>
              <a:t>hai</a:t>
            </a:r>
            <a:r>
              <a:rPr dirty="0"/>
              <a:t> </a:t>
            </a:r>
            <a:r>
              <a:rPr lang="en-US" dirty="0" err="1"/>
              <a:t>mẫu</a:t>
            </a:r>
            <a:r>
              <a:rPr lang="en-US" baseline="0" dirty="0"/>
              <a:t> </a:t>
            </a:r>
            <a:r>
              <a:rPr lang="en-US" baseline="0" dirty="0" err="1"/>
              <a:t>sản</a:t>
            </a:r>
            <a:r>
              <a:rPr lang="en-US" baseline="0" dirty="0"/>
              <a:t> </a:t>
            </a:r>
            <a:r>
              <a:rPr lang="en-US" baseline="0" dirty="0" err="1"/>
              <a:t>phẩm</a:t>
            </a:r>
            <a:r>
              <a:rPr dirty="0"/>
              <a:t> </a:t>
            </a:r>
            <a:r>
              <a:rPr dirty="0" err="1"/>
              <a:t>yếu</a:t>
            </a:r>
            <a:r>
              <a:rPr dirty="0"/>
              <a:t> ở </a:t>
            </a:r>
            <a:r>
              <a:rPr dirty="0" err="1"/>
              <a:t>cấu</a:t>
            </a:r>
            <a:r>
              <a:rPr dirty="0"/>
              <a:t> </a:t>
            </a:r>
            <a:r>
              <a:rPr dirty="0" err="1"/>
              <a:t>hình</a:t>
            </a:r>
            <a:r>
              <a:rPr dirty="0"/>
              <a:t> ban </a:t>
            </a:r>
            <a:r>
              <a:rPr dirty="0" err="1"/>
              <a:t>đầu</a:t>
            </a:r>
            <a:r>
              <a:rPr dirty="0"/>
              <a:t> </a:t>
            </a:r>
            <a:r>
              <a:rPr dirty="0" err="1"/>
              <a:t>không</a:t>
            </a:r>
            <a:r>
              <a:rPr dirty="0"/>
              <a:t> </a:t>
            </a:r>
            <a:r>
              <a:rPr dirty="0" err="1"/>
              <a:t>còn</a:t>
            </a:r>
            <a:r>
              <a:rPr dirty="0"/>
              <a:t> </a:t>
            </a:r>
            <a:r>
              <a:rPr dirty="0" err="1"/>
              <a:t>là</a:t>
            </a:r>
            <a:r>
              <a:rPr dirty="0"/>
              <a:t> </a:t>
            </a:r>
            <a:r>
              <a:rPr dirty="0" err="1"/>
              <a:t>ngoại</a:t>
            </a:r>
            <a:r>
              <a:rPr dirty="0"/>
              <a:t> </a:t>
            </a:r>
            <a:r>
              <a:rPr dirty="0" err="1"/>
              <a:t>lệ</a:t>
            </a:r>
            <a:r>
              <a:rPr dirty="0"/>
              <a:t> </a:t>
            </a:r>
            <a:r>
              <a:rPr dirty="0" err="1"/>
              <a:t>rõ</a:t>
            </a:r>
            <a:r>
              <a:rPr dirty="0"/>
              <a:t> </a:t>
            </a:r>
            <a:r>
              <a:rPr dirty="0" err="1"/>
              <a:t>rệt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phát hiện quan trọng nằm ở bước tạo mask vật thể. Khi ảnh đã được ghép lên nền đen và alpha bị loại bỏ, ngưỡng độ sáng gần như không phân biệt được vật thể tối với nền. Ba lớp tối nhất bị bỏ sót từ 78 đến 96 phần trăm pixel vật thể. Tỉ lệ bỏ sót tương quan rất mạnh và nghịch với độ sáng, r bằng âm 0,938. Giải pháp là dùng alpha mask gốc của mô hình tách nền.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Ngưỡng</a:t>
            </a:r>
            <a:r>
              <a:rPr dirty="0"/>
              <a:t> </a:t>
            </a:r>
            <a:r>
              <a:rPr dirty="0" err="1"/>
              <a:t>cố</a:t>
            </a:r>
            <a:r>
              <a:rPr dirty="0"/>
              <a:t> </a:t>
            </a:r>
            <a:r>
              <a:rPr dirty="0" err="1"/>
              <a:t>định</a:t>
            </a:r>
            <a:r>
              <a:rPr dirty="0"/>
              <a:t> ở percentile 92 </a:t>
            </a:r>
            <a:r>
              <a:rPr dirty="0" err="1"/>
              <a:t>vẫn</a:t>
            </a:r>
            <a:r>
              <a:rPr dirty="0"/>
              <a:t> </a:t>
            </a:r>
            <a:r>
              <a:rPr dirty="0" err="1"/>
              <a:t>giữ</a:t>
            </a:r>
            <a:r>
              <a:rPr dirty="0"/>
              <a:t> </a:t>
            </a:r>
            <a:r>
              <a:rPr dirty="0" err="1"/>
              <a:t>lại</a:t>
            </a:r>
            <a:r>
              <a:rPr dirty="0"/>
              <a:t> </a:t>
            </a:r>
            <a:r>
              <a:rPr dirty="0" err="1"/>
              <a:t>một</a:t>
            </a:r>
            <a:r>
              <a:rPr dirty="0"/>
              <a:t> </a:t>
            </a:r>
            <a:r>
              <a:rPr dirty="0" err="1"/>
              <a:t>vùng</a:t>
            </a:r>
            <a:r>
              <a:rPr dirty="0"/>
              <a:t> </a:t>
            </a:r>
            <a:r>
              <a:rPr dirty="0" err="1"/>
              <a:t>dương</a:t>
            </a:r>
            <a:r>
              <a:rPr dirty="0"/>
              <a:t> </a:t>
            </a:r>
            <a:r>
              <a:rPr dirty="0" err="1"/>
              <a:t>tính</a:t>
            </a:r>
            <a:r>
              <a:rPr dirty="0"/>
              <a:t> </a:t>
            </a:r>
            <a:r>
              <a:rPr dirty="0" err="1"/>
              <a:t>giả</a:t>
            </a:r>
            <a:r>
              <a:rPr dirty="0"/>
              <a:t> </a:t>
            </a:r>
            <a:r>
              <a:rPr dirty="0" err="1"/>
              <a:t>nhỏ</a:t>
            </a:r>
            <a:r>
              <a:rPr dirty="0"/>
              <a:t> </a:t>
            </a:r>
            <a:r>
              <a:rPr dirty="0" err="1"/>
              <a:t>trên</a:t>
            </a:r>
            <a:r>
              <a:rPr dirty="0"/>
              <a:t> </a:t>
            </a:r>
            <a:r>
              <a:rPr dirty="0" err="1"/>
              <a:t>nhiều</a:t>
            </a:r>
            <a:r>
              <a:rPr dirty="0"/>
              <a:t> </a:t>
            </a:r>
            <a:r>
              <a:rPr dirty="0" err="1"/>
              <a:t>ảnh</a:t>
            </a:r>
            <a:r>
              <a:rPr dirty="0"/>
              <a:t> </a:t>
            </a:r>
            <a:r>
              <a:rPr dirty="0" err="1"/>
              <a:t>bình</a:t>
            </a:r>
            <a:r>
              <a:rPr dirty="0"/>
              <a:t> </a:t>
            </a:r>
            <a:r>
              <a:rPr dirty="0" err="1"/>
              <a:t>thường</a:t>
            </a:r>
            <a:r>
              <a:rPr dirty="0"/>
              <a:t>. </a:t>
            </a:r>
            <a:r>
              <a:rPr lang="en-US" dirty="0" err="1"/>
              <a:t>Tác</a:t>
            </a:r>
            <a:r>
              <a:rPr lang="en-US" baseline="0" dirty="0"/>
              <a:t> </a:t>
            </a:r>
            <a:r>
              <a:rPr lang="en-US" baseline="0" dirty="0" err="1"/>
              <a:t>giả</a:t>
            </a:r>
            <a:r>
              <a:rPr dirty="0"/>
              <a:t> </a:t>
            </a:r>
            <a:r>
              <a:rPr dirty="0" err="1"/>
              <a:t>hiệu</a:t>
            </a:r>
            <a:r>
              <a:rPr dirty="0"/>
              <a:t> </a:t>
            </a:r>
            <a:r>
              <a:rPr dirty="0" err="1"/>
              <a:t>chuẩn</a:t>
            </a:r>
            <a:r>
              <a:rPr dirty="0"/>
              <a:t> </a:t>
            </a:r>
            <a:r>
              <a:rPr dirty="0" err="1"/>
              <a:t>ngưỡng</a:t>
            </a:r>
            <a:r>
              <a:rPr dirty="0"/>
              <a:t> </a:t>
            </a:r>
            <a:r>
              <a:rPr dirty="0" err="1"/>
              <a:t>riêng</a:t>
            </a:r>
            <a:r>
              <a:rPr dirty="0"/>
              <a:t> </a:t>
            </a:r>
            <a:r>
              <a:rPr dirty="0" err="1"/>
              <a:t>cho</a:t>
            </a:r>
            <a:r>
              <a:rPr dirty="0"/>
              <a:t> </a:t>
            </a:r>
            <a:r>
              <a:rPr dirty="0" err="1"/>
              <a:t>từng</a:t>
            </a:r>
            <a:r>
              <a:rPr dirty="0"/>
              <a:t> </a:t>
            </a:r>
            <a:r>
              <a:rPr lang="en-US" dirty="0" err="1"/>
              <a:t>mẫu</a:t>
            </a:r>
            <a:r>
              <a:rPr lang="en-US" baseline="0" dirty="0"/>
              <a:t> </a:t>
            </a:r>
            <a:r>
              <a:rPr lang="en-US" baseline="0" dirty="0" err="1"/>
              <a:t>sản</a:t>
            </a:r>
            <a:r>
              <a:rPr lang="en-US" baseline="0" dirty="0"/>
              <a:t> </a:t>
            </a:r>
            <a:r>
              <a:rPr lang="en-US" baseline="0" dirty="0" err="1"/>
              <a:t>phẩm</a:t>
            </a:r>
            <a:r>
              <a:rPr dirty="0"/>
              <a:t>, </a:t>
            </a:r>
            <a:r>
              <a:rPr dirty="0" err="1"/>
              <a:t>chỉ</a:t>
            </a:r>
            <a:r>
              <a:rPr dirty="0"/>
              <a:t> </a:t>
            </a:r>
            <a:r>
              <a:rPr dirty="0" err="1"/>
              <a:t>dùng</a:t>
            </a:r>
            <a:r>
              <a:rPr dirty="0"/>
              <a:t> </a:t>
            </a:r>
            <a:r>
              <a:rPr dirty="0" err="1"/>
              <a:t>tập</a:t>
            </a:r>
            <a:r>
              <a:rPr dirty="0"/>
              <a:t> calibration </a:t>
            </a:r>
            <a:r>
              <a:rPr dirty="0" err="1"/>
              <a:t>bình</a:t>
            </a:r>
            <a:r>
              <a:rPr dirty="0"/>
              <a:t> </a:t>
            </a:r>
            <a:r>
              <a:rPr dirty="0" err="1"/>
              <a:t>thường</a:t>
            </a:r>
            <a:r>
              <a:rPr dirty="0"/>
              <a:t> </a:t>
            </a:r>
            <a:r>
              <a:rPr dirty="0" err="1"/>
              <a:t>và</a:t>
            </a:r>
            <a:r>
              <a:rPr dirty="0"/>
              <a:t> </a:t>
            </a:r>
            <a:r>
              <a:rPr dirty="0" err="1"/>
              <a:t>chọn</a:t>
            </a:r>
            <a:r>
              <a:rPr dirty="0"/>
              <a:t> percentile </a:t>
            </a:r>
            <a:r>
              <a:rPr dirty="0" err="1"/>
              <a:t>từ</a:t>
            </a:r>
            <a:r>
              <a:rPr dirty="0"/>
              <a:t> 92 </a:t>
            </a:r>
            <a:r>
              <a:rPr dirty="0" err="1"/>
              <a:t>đến</a:t>
            </a:r>
            <a:r>
              <a:rPr dirty="0"/>
              <a:t> 99. </a:t>
            </a:r>
            <a:r>
              <a:rPr dirty="0" err="1"/>
              <a:t>Diện</a:t>
            </a:r>
            <a:r>
              <a:rPr dirty="0"/>
              <a:t> </a:t>
            </a:r>
            <a:r>
              <a:rPr dirty="0" err="1"/>
              <a:t>tích</a:t>
            </a:r>
            <a:r>
              <a:rPr dirty="0"/>
              <a:t> false positive </a:t>
            </a:r>
            <a:r>
              <a:rPr dirty="0" err="1"/>
              <a:t>trung</a:t>
            </a:r>
            <a:r>
              <a:rPr dirty="0"/>
              <a:t> </a:t>
            </a:r>
            <a:r>
              <a:rPr dirty="0" err="1"/>
              <a:t>bình</a:t>
            </a:r>
            <a:r>
              <a:rPr dirty="0"/>
              <a:t> </a:t>
            </a:r>
            <a:r>
              <a:rPr dirty="0" err="1"/>
              <a:t>giảm</a:t>
            </a:r>
            <a:r>
              <a:rPr dirty="0"/>
              <a:t> </a:t>
            </a:r>
            <a:r>
              <a:rPr dirty="0" err="1"/>
              <a:t>từ</a:t>
            </a:r>
            <a:r>
              <a:rPr dirty="0"/>
              <a:t> 662 </a:t>
            </a:r>
            <a:r>
              <a:rPr dirty="0" err="1"/>
              <a:t>xuống</a:t>
            </a:r>
            <a:r>
              <a:rPr dirty="0"/>
              <a:t> 225 pixel, </a:t>
            </a:r>
            <a:r>
              <a:rPr dirty="0" err="1"/>
              <a:t>tương</a:t>
            </a:r>
            <a:r>
              <a:rPr dirty="0"/>
              <a:t> </a:t>
            </a:r>
            <a:r>
              <a:rPr dirty="0" err="1"/>
              <a:t>đương</a:t>
            </a:r>
            <a:r>
              <a:rPr dirty="0"/>
              <a:t> 66</a:t>
            </a:r>
            <a:r>
              <a:rPr lang="en-US" dirty="0"/>
              <a:t>%</a:t>
            </a:r>
            <a:r>
              <a:rPr dirty="0"/>
              <a:t>, </a:t>
            </a:r>
            <a:r>
              <a:rPr dirty="0" err="1"/>
              <a:t>trong</a:t>
            </a:r>
            <a:r>
              <a:rPr dirty="0"/>
              <a:t> </a:t>
            </a:r>
            <a:r>
              <a:rPr dirty="0" err="1"/>
              <a:t>khi</a:t>
            </a:r>
            <a:r>
              <a:rPr dirty="0"/>
              <a:t> AUROC </a:t>
            </a:r>
            <a:r>
              <a:rPr dirty="0" err="1"/>
              <a:t>phân</a:t>
            </a:r>
            <a:r>
              <a:rPr dirty="0"/>
              <a:t> </a:t>
            </a:r>
            <a:r>
              <a:rPr dirty="0" err="1"/>
              <a:t>loại</a:t>
            </a:r>
            <a:r>
              <a:rPr dirty="0"/>
              <a:t> </a:t>
            </a:r>
            <a:r>
              <a:rPr dirty="0" err="1"/>
              <a:t>không</a:t>
            </a:r>
            <a:r>
              <a:rPr dirty="0"/>
              <a:t> </a:t>
            </a:r>
            <a:r>
              <a:rPr dirty="0" err="1"/>
              <a:t>thay</a:t>
            </a:r>
            <a:r>
              <a:rPr dirty="0"/>
              <a:t> </a:t>
            </a:r>
            <a:r>
              <a:rPr dirty="0" err="1"/>
              <a:t>đổi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Tổng</a:t>
            </a:r>
            <a:r>
              <a:rPr dirty="0"/>
              <a:t> </a:t>
            </a:r>
            <a:r>
              <a:rPr dirty="0" err="1"/>
              <a:t>hợp</a:t>
            </a:r>
            <a:r>
              <a:rPr dirty="0"/>
              <a:t> </a:t>
            </a:r>
            <a:r>
              <a:rPr dirty="0" err="1"/>
              <a:t>đa</a:t>
            </a:r>
            <a:r>
              <a:rPr dirty="0"/>
              <a:t> </a:t>
            </a:r>
            <a:r>
              <a:rPr dirty="0" err="1"/>
              <a:t>tỉ</a:t>
            </a:r>
            <a:r>
              <a:rPr dirty="0"/>
              <a:t> </a:t>
            </a:r>
            <a:r>
              <a:rPr dirty="0" err="1"/>
              <a:t>lệ</a:t>
            </a:r>
            <a:r>
              <a:rPr dirty="0"/>
              <a:t> </a:t>
            </a:r>
            <a:r>
              <a:rPr dirty="0" err="1"/>
              <a:t>chạy</a:t>
            </a:r>
            <a:r>
              <a:rPr dirty="0"/>
              <a:t> </a:t>
            </a:r>
            <a:r>
              <a:rPr dirty="0" err="1"/>
              <a:t>PatchCore</a:t>
            </a:r>
            <a:r>
              <a:rPr dirty="0"/>
              <a:t> </a:t>
            </a:r>
            <a:r>
              <a:rPr dirty="0" err="1"/>
              <a:t>độc</a:t>
            </a:r>
            <a:r>
              <a:rPr dirty="0"/>
              <a:t> </a:t>
            </a:r>
            <a:r>
              <a:rPr dirty="0" err="1"/>
              <a:t>lập</a:t>
            </a:r>
            <a:r>
              <a:rPr dirty="0"/>
              <a:t> ở 256, 384 </a:t>
            </a:r>
            <a:r>
              <a:rPr dirty="0" err="1"/>
              <a:t>và</a:t>
            </a:r>
            <a:r>
              <a:rPr dirty="0"/>
              <a:t> 512, </a:t>
            </a:r>
            <a:r>
              <a:rPr dirty="0" err="1"/>
              <a:t>rồi</a:t>
            </a:r>
            <a:r>
              <a:rPr dirty="0"/>
              <a:t> </a:t>
            </a:r>
            <a:r>
              <a:rPr dirty="0" err="1"/>
              <a:t>lấy</a:t>
            </a:r>
            <a:r>
              <a:rPr dirty="0"/>
              <a:t> </a:t>
            </a:r>
            <a:r>
              <a:rPr dirty="0" err="1"/>
              <a:t>cực</a:t>
            </a:r>
            <a:r>
              <a:rPr dirty="0"/>
              <a:t> </a:t>
            </a:r>
            <a:r>
              <a:rPr dirty="0" err="1"/>
              <a:t>đại</a:t>
            </a:r>
            <a:r>
              <a:rPr dirty="0"/>
              <a:t> </a:t>
            </a:r>
            <a:r>
              <a:rPr dirty="0" err="1"/>
              <a:t>trên</a:t>
            </a:r>
            <a:r>
              <a:rPr dirty="0"/>
              <a:t> </a:t>
            </a:r>
            <a:r>
              <a:rPr dirty="0" err="1"/>
              <a:t>các</a:t>
            </a:r>
            <a:r>
              <a:rPr dirty="0"/>
              <a:t> anomaly map. </a:t>
            </a:r>
            <a:r>
              <a:rPr dirty="0" err="1"/>
              <a:t>Kết</a:t>
            </a:r>
            <a:r>
              <a:rPr dirty="0"/>
              <a:t> </a:t>
            </a:r>
            <a:r>
              <a:rPr dirty="0" err="1"/>
              <a:t>quả</a:t>
            </a:r>
            <a:r>
              <a:rPr dirty="0"/>
              <a:t> </a:t>
            </a:r>
            <a:r>
              <a:rPr dirty="0" err="1"/>
              <a:t>trung</a:t>
            </a:r>
            <a:r>
              <a:rPr dirty="0"/>
              <a:t> </a:t>
            </a:r>
            <a:r>
              <a:rPr dirty="0" err="1"/>
              <a:t>bình</a:t>
            </a:r>
            <a:r>
              <a:rPr dirty="0"/>
              <a:t> </a:t>
            </a:r>
            <a:r>
              <a:rPr dirty="0" err="1"/>
              <a:t>không</a:t>
            </a:r>
            <a:r>
              <a:rPr dirty="0"/>
              <a:t> </a:t>
            </a:r>
            <a:r>
              <a:rPr dirty="0" err="1"/>
              <a:t>tăng</a:t>
            </a:r>
            <a:r>
              <a:rPr dirty="0"/>
              <a:t>, </a:t>
            </a:r>
            <a:r>
              <a:rPr dirty="0" err="1"/>
              <a:t>thậm</a:t>
            </a:r>
            <a:r>
              <a:rPr dirty="0"/>
              <a:t> </a:t>
            </a:r>
            <a:r>
              <a:rPr dirty="0" err="1"/>
              <a:t>chí</a:t>
            </a:r>
            <a:r>
              <a:rPr dirty="0"/>
              <a:t> </a:t>
            </a:r>
            <a:r>
              <a:rPr dirty="0" err="1"/>
              <a:t>giảm</a:t>
            </a:r>
            <a:r>
              <a:rPr dirty="0"/>
              <a:t> </a:t>
            </a:r>
            <a:r>
              <a:rPr dirty="0" err="1"/>
              <a:t>nhẹ</a:t>
            </a:r>
            <a:r>
              <a:rPr dirty="0"/>
              <a:t> </a:t>
            </a:r>
            <a:r>
              <a:rPr dirty="0" err="1"/>
              <a:t>từ</a:t>
            </a:r>
            <a:r>
              <a:rPr dirty="0"/>
              <a:t> 0,9964 </a:t>
            </a:r>
            <a:r>
              <a:rPr dirty="0" err="1"/>
              <a:t>xuống</a:t>
            </a:r>
            <a:r>
              <a:rPr dirty="0"/>
              <a:t> 0,9958. </a:t>
            </a:r>
            <a:r>
              <a:rPr dirty="0" err="1"/>
              <a:t>Lý</a:t>
            </a:r>
            <a:r>
              <a:rPr dirty="0"/>
              <a:t> do </a:t>
            </a:r>
            <a:r>
              <a:rPr dirty="0" err="1"/>
              <a:t>là</a:t>
            </a:r>
            <a:r>
              <a:rPr dirty="0"/>
              <a:t> </a:t>
            </a:r>
            <a:r>
              <a:rPr dirty="0" err="1"/>
              <a:t>phép</a:t>
            </a:r>
            <a:r>
              <a:rPr dirty="0"/>
              <a:t> </a:t>
            </a:r>
            <a:r>
              <a:rPr dirty="0" err="1"/>
              <a:t>cực</a:t>
            </a:r>
            <a:r>
              <a:rPr dirty="0"/>
              <a:t> </a:t>
            </a:r>
            <a:r>
              <a:rPr dirty="0" err="1"/>
              <a:t>đại</a:t>
            </a:r>
            <a:r>
              <a:rPr dirty="0"/>
              <a:t> </a:t>
            </a:r>
            <a:r>
              <a:rPr dirty="0" err="1"/>
              <a:t>có</a:t>
            </a:r>
            <a:r>
              <a:rPr dirty="0"/>
              <a:t> </a:t>
            </a:r>
            <a:r>
              <a:rPr dirty="0" err="1"/>
              <a:t>thể</a:t>
            </a:r>
            <a:r>
              <a:rPr dirty="0"/>
              <a:t> </a:t>
            </a:r>
            <a:r>
              <a:rPr dirty="0" err="1"/>
              <a:t>đưa</a:t>
            </a:r>
            <a:r>
              <a:rPr dirty="0"/>
              <a:t> </a:t>
            </a:r>
            <a:r>
              <a:rPr dirty="0" err="1"/>
              <a:t>cả</a:t>
            </a:r>
            <a:r>
              <a:rPr dirty="0"/>
              <a:t> </a:t>
            </a:r>
            <a:r>
              <a:rPr dirty="0" err="1"/>
              <a:t>đỉnh</a:t>
            </a:r>
            <a:r>
              <a:rPr dirty="0"/>
              <a:t> false positive </a:t>
            </a:r>
            <a:r>
              <a:rPr dirty="0" err="1"/>
              <a:t>của</a:t>
            </a:r>
            <a:r>
              <a:rPr dirty="0"/>
              <a:t> </a:t>
            </a:r>
            <a:r>
              <a:rPr dirty="0" err="1"/>
              <a:t>một</a:t>
            </a:r>
            <a:r>
              <a:rPr dirty="0"/>
              <a:t> </a:t>
            </a:r>
            <a:r>
              <a:rPr dirty="0" err="1"/>
              <a:t>tỉ</a:t>
            </a:r>
            <a:r>
              <a:rPr dirty="0"/>
              <a:t> </a:t>
            </a:r>
            <a:r>
              <a:rPr dirty="0" err="1"/>
              <a:t>lệ</a:t>
            </a:r>
            <a:r>
              <a:rPr dirty="0"/>
              <a:t> </a:t>
            </a:r>
            <a:r>
              <a:rPr dirty="0" err="1"/>
              <a:t>vào</a:t>
            </a:r>
            <a:r>
              <a:rPr dirty="0"/>
              <a:t> </a:t>
            </a:r>
            <a:r>
              <a:rPr dirty="0" err="1"/>
              <a:t>bản</a:t>
            </a:r>
            <a:r>
              <a:rPr dirty="0"/>
              <a:t> </a:t>
            </a:r>
            <a:r>
              <a:rPr dirty="0" err="1"/>
              <a:t>đồ</a:t>
            </a:r>
            <a:r>
              <a:rPr dirty="0"/>
              <a:t> </a:t>
            </a:r>
            <a:r>
              <a:rPr dirty="0" err="1"/>
              <a:t>tổng</a:t>
            </a:r>
            <a:r>
              <a:rPr dirty="0"/>
              <a:t> </a:t>
            </a:r>
            <a:r>
              <a:rPr dirty="0" err="1"/>
              <a:t>hợp</a:t>
            </a:r>
            <a:r>
              <a:rPr dirty="0"/>
              <a:t>. </a:t>
            </a:r>
            <a:r>
              <a:rPr dirty="0" err="1"/>
              <a:t>Với</a:t>
            </a:r>
            <a:r>
              <a:rPr dirty="0"/>
              <a:t> </a:t>
            </a:r>
            <a:r>
              <a:rPr dirty="0" err="1"/>
              <a:t>bộ</a:t>
            </a:r>
            <a:r>
              <a:rPr dirty="0"/>
              <a:t> </a:t>
            </a:r>
            <a:r>
              <a:rPr dirty="0" err="1"/>
              <a:t>dữ</a:t>
            </a:r>
            <a:r>
              <a:rPr dirty="0"/>
              <a:t> </a:t>
            </a:r>
            <a:r>
              <a:rPr dirty="0" err="1"/>
              <a:t>liệu</a:t>
            </a:r>
            <a:r>
              <a:rPr dirty="0"/>
              <a:t> </a:t>
            </a:r>
            <a:r>
              <a:rPr dirty="0" err="1"/>
              <a:t>này</a:t>
            </a:r>
            <a:r>
              <a:rPr dirty="0"/>
              <a:t>, 384 </a:t>
            </a:r>
            <a:r>
              <a:rPr lang="en-US" dirty="0"/>
              <a:t>x</a:t>
            </a:r>
            <a:r>
              <a:rPr dirty="0"/>
              <a:t> 384 </a:t>
            </a:r>
            <a:r>
              <a:rPr dirty="0" err="1"/>
              <a:t>đã</a:t>
            </a:r>
            <a:r>
              <a:rPr dirty="0"/>
              <a:t> </a:t>
            </a:r>
            <a:r>
              <a:rPr dirty="0" err="1"/>
              <a:t>đủ</a:t>
            </a:r>
            <a:r>
              <a:rPr dirty="0"/>
              <a:t> </a:t>
            </a:r>
            <a:r>
              <a:rPr dirty="0" err="1"/>
              <a:t>và</a:t>
            </a:r>
            <a:r>
              <a:rPr dirty="0"/>
              <a:t> </a:t>
            </a:r>
            <a:r>
              <a:rPr dirty="0" err="1"/>
              <a:t>tiết</a:t>
            </a:r>
            <a:r>
              <a:rPr dirty="0"/>
              <a:t> </a:t>
            </a:r>
            <a:r>
              <a:rPr dirty="0" err="1"/>
              <a:t>kiệm</a:t>
            </a:r>
            <a:r>
              <a:rPr dirty="0"/>
              <a:t> </a:t>
            </a:r>
            <a:r>
              <a:rPr dirty="0" err="1"/>
              <a:t>hơn</a:t>
            </a:r>
            <a:r>
              <a:rPr dirty="0"/>
              <a:t> </a:t>
            </a:r>
            <a:r>
              <a:rPr dirty="0" err="1"/>
              <a:t>khoảng</a:t>
            </a:r>
            <a:r>
              <a:rPr dirty="0"/>
              <a:t> </a:t>
            </a:r>
            <a:r>
              <a:rPr dirty="0" err="1"/>
              <a:t>ba</a:t>
            </a:r>
            <a:r>
              <a:rPr dirty="0"/>
              <a:t> </a:t>
            </a:r>
            <a:r>
              <a:rPr dirty="0" err="1"/>
              <a:t>lần</a:t>
            </a:r>
            <a:r>
              <a:rPr dirty="0"/>
              <a:t> chi </a:t>
            </a:r>
            <a:r>
              <a:rPr dirty="0" err="1"/>
              <a:t>phí</a:t>
            </a:r>
            <a:r>
              <a:rPr dirty="0"/>
              <a:t> </a:t>
            </a:r>
            <a:r>
              <a:rPr dirty="0" err="1"/>
              <a:t>suy</a:t>
            </a:r>
            <a:r>
              <a:rPr dirty="0"/>
              <a:t> </a:t>
            </a:r>
            <a:r>
              <a:rPr dirty="0" err="1"/>
              <a:t>luận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Định</a:t>
            </a:r>
            <a:r>
              <a:rPr dirty="0"/>
              <a:t> </a:t>
            </a:r>
            <a:r>
              <a:rPr dirty="0" err="1"/>
              <a:t>vị</a:t>
            </a:r>
            <a:r>
              <a:rPr dirty="0"/>
              <a:t> </a:t>
            </a:r>
            <a:r>
              <a:rPr dirty="0" err="1"/>
              <a:t>được</a:t>
            </a:r>
            <a:r>
              <a:rPr dirty="0"/>
              <a:t> </a:t>
            </a:r>
            <a:r>
              <a:rPr dirty="0" err="1"/>
              <a:t>kiểm</a:t>
            </a:r>
            <a:r>
              <a:rPr dirty="0"/>
              <a:t> </a:t>
            </a:r>
            <a:r>
              <a:rPr dirty="0" err="1"/>
              <a:t>tra</a:t>
            </a:r>
            <a:r>
              <a:rPr dirty="0"/>
              <a:t> </a:t>
            </a:r>
            <a:r>
              <a:rPr dirty="0" err="1"/>
              <a:t>trên</a:t>
            </a:r>
            <a:r>
              <a:rPr dirty="0"/>
              <a:t> 192 </a:t>
            </a:r>
            <a:r>
              <a:rPr dirty="0" err="1"/>
              <a:t>ảnh</a:t>
            </a:r>
            <a:r>
              <a:rPr dirty="0"/>
              <a:t> </a:t>
            </a:r>
            <a:r>
              <a:rPr dirty="0" err="1"/>
              <a:t>lỗi</a:t>
            </a:r>
            <a:r>
              <a:rPr dirty="0"/>
              <a:t> </a:t>
            </a:r>
            <a:r>
              <a:rPr dirty="0" err="1"/>
              <a:t>với</a:t>
            </a:r>
            <a:r>
              <a:rPr dirty="0"/>
              <a:t> </a:t>
            </a:r>
            <a:r>
              <a:rPr dirty="0" err="1"/>
              <a:t>mặt</a:t>
            </a:r>
            <a:r>
              <a:rPr dirty="0"/>
              <a:t> </a:t>
            </a:r>
            <a:r>
              <a:rPr dirty="0" err="1"/>
              <a:t>nạ</a:t>
            </a:r>
            <a:r>
              <a:rPr dirty="0"/>
              <a:t> </a:t>
            </a:r>
            <a:r>
              <a:rPr dirty="0" err="1"/>
              <a:t>thủ</a:t>
            </a:r>
            <a:r>
              <a:rPr dirty="0"/>
              <a:t> </a:t>
            </a:r>
            <a:r>
              <a:rPr dirty="0" err="1"/>
              <a:t>công</a:t>
            </a:r>
            <a:r>
              <a:rPr dirty="0"/>
              <a:t> </a:t>
            </a:r>
            <a:r>
              <a:rPr dirty="0" err="1"/>
              <a:t>có</a:t>
            </a:r>
            <a:r>
              <a:rPr dirty="0"/>
              <a:t> </a:t>
            </a:r>
            <a:r>
              <a:rPr dirty="0" err="1"/>
              <a:t>chủ</a:t>
            </a:r>
            <a:r>
              <a:rPr dirty="0"/>
              <a:t> ý </a:t>
            </a:r>
            <a:r>
              <a:rPr dirty="0" err="1"/>
              <a:t>vẽ</a:t>
            </a:r>
            <a:r>
              <a:rPr dirty="0"/>
              <a:t> </a:t>
            </a:r>
            <a:r>
              <a:rPr dirty="0" err="1"/>
              <a:t>thô</a:t>
            </a:r>
            <a:r>
              <a:rPr dirty="0"/>
              <a:t>. </a:t>
            </a:r>
            <a:r>
              <a:rPr dirty="0" err="1"/>
              <a:t>IoU</a:t>
            </a:r>
            <a:r>
              <a:rPr dirty="0"/>
              <a:t> </a:t>
            </a:r>
            <a:r>
              <a:rPr dirty="0" err="1"/>
              <a:t>trung</a:t>
            </a:r>
            <a:r>
              <a:rPr dirty="0"/>
              <a:t> </a:t>
            </a:r>
            <a:r>
              <a:rPr dirty="0" err="1"/>
              <a:t>bình</a:t>
            </a:r>
            <a:r>
              <a:rPr dirty="0"/>
              <a:t> </a:t>
            </a:r>
            <a:r>
              <a:rPr dirty="0" err="1"/>
              <a:t>chỉ</a:t>
            </a:r>
            <a:r>
              <a:rPr dirty="0"/>
              <a:t> 0,220 </a:t>
            </a:r>
            <a:r>
              <a:rPr dirty="0" err="1"/>
              <a:t>và</a:t>
            </a:r>
            <a:r>
              <a:rPr dirty="0"/>
              <a:t> coverage </a:t>
            </a:r>
            <a:r>
              <a:rPr dirty="0" err="1"/>
              <a:t>là</a:t>
            </a:r>
            <a:r>
              <a:rPr dirty="0"/>
              <a:t> 0,313, </a:t>
            </a:r>
            <a:r>
              <a:rPr dirty="0" err="1"/>
              <a:t>phản</a:t>
            </a:r>
            <a:r>
              <a:rPr dirty="0"/>
              <a:t> </a:t>
            </a:r>
            <a:r>
              <a:rPr dirty="0" err="1"/>
              <a:t>ánh</a:t>
            </a:r>
            <a:r>
              <a:rPr dirty="0"/>
              <a:t> </a:t>
            </a:r>
            <a:r>
              <a:rPr dirty="0" err="1"/>
              <a:t>biên</a:t>
            </a:r>
            <a:r>
              <a:rPr dirty="0"/>
              <a:t> </a:t>
            </a:r>
            <a:r>
              <a:rPr dirty="0" err="1"/>
              <a:t>dự</a:t>
            </a:r>
            <a:r>
              <a:rPr dirty="0"/>
              <a:t> </a:t>
            </a:r>
            <a:r>
              <a:rPr dirty="0" err="1"/>
              <a:t>đoán</a:t>
            </a:r>
            <a:r>
              <a:rPr dirty="0"/>
              <a:t> </a:t>
            </a:r>
            <a:r>
              <a:rPr dirty="0" err="1"/>
              <a:t>chưa</a:t>
            </a:r>
            <a:r>
              <a:rPr dirty="0"/>
              <a:t> </a:t>
            </a:r>
            <a:r>
              <a:rPr dirty="0" err="1"/>
              <a:t>khớp</a:t>
            </a:r>
            <a:r>
              <a:rPr dirty="0"/>
              <a:t> </a:t>
            </a:r>
            <a:r>
              <a:rPr dirty="0" err="1"/>
              <a:t>chặt</a:t>
            </a:r>
            <a:r>
              <a:rPr dirty="0"/>
              <a:t> </a:t>
            </a:r>
            <a:r>
              <a:rPr dirty="0" err="1"/>
              <a:t>với</a:t>
            </a:r>
            <a:r>
              <a:rPr dirty="0"/>
              <a:t> </a:t>
            </a:r>
            <a:r>
              <a:rPr dirty="0" err="1"/>
              <a:t>vùng</a:t>
            </a:r>
            <a:r>
              <a:rPr dirty="0"/>
              <a:t> </a:t>
            </a:r>
            <a:r>
              <a:rPr dirty="0" err="1"/>
              <a:t>chú</a:t>
            </a:r>
            <a:r>
              <a:rPr dirty="0"/>
              <a:t> </a:t>
            </a:r>
            <a:r>
              <a:rPr dirty="0" err="1"/>
              <a:t>thích</a:t>
            </a:r>
            <a:r>
              <a:rPr dirty="0"/>
              <a:t>. </a:t>
            </a:r>
            <a:r>
              <a:rPr dirty="0" err="1"/>
              <a:t>Tuy</a:t>
            </a:r>
            <a:r>
              <a:rPr dirty="0"/>
              <a:t> </a:t>
            </a:r>
            <a:r>
              <a:rPr dirty="0" err="1"/>
              <a:t>nhiên</a:t>
            </a:r>
            <a:r>
              <a:rPr dirty="0"/>
              <a:t> pointing-game accuracy </a:t>
            </a:r>
            <a:r>
              <a:rPr dirty="0" err="1"/>
              <a:t>đạt</a:t>
            </a:r>
            <a:r>
              <a:rPr dirty="0"/>
              <a:t> 0,875. </a:t>
            </a:r>
            <a:r>
              <a:rPr dirty="0" err="1"/>
              <a:t>Nghĩa</a:t>
            </a:r>
            <a:r>
              <a:rPr dirty="0"/>
              <a:t> </a:t>
            </a:r>
            <a:r>
              <a:rPr dirty="0" err="1"/>
              <a:t>là</a:t>
            </a:r>
            <a:r>
              <a:rPr dirty="0"/>
              <a:t> </a:t>
            </a:r>
            <a:r>
              <a:rPr dirty="0" err="1"/>
              <a:t>điểm</a:t>
            </a:r>
            <a:r>
              <a:rPr dirty="0"/>
              <a:t> </a:t>
            </a:r>
            <a:r>
              <a:rPr dirty="0" err="1"/>
              <a:t>bất</a:t>
            </a:r>
            <a:r>
              <a:rPr dirty="0"/>
              <a:t> </a:t>
            </a:r>
            <a:r>
              <a:rPr dirty="0" err="1"/>
              <a:t>thường</a:t>
            </a:r>
            <a:r>
              <a:rPr dirty="0"/>
              <a:t> </a:t>
            </a:r>
            <a:r>
              <a:rPr dirty="0" err="1"/>
              <a:t>mạnh</a:t>
            </a:r>
            <a:r>
              <a:rPr dirty="0"/>
              <a:t> </a:t>
            </a:r>
            <a:r>
              <a:rPr dirty="0" err="1"/>
              <a:t>nhất</a:t>
            </a:r>
            <a:r>
              <a:rPr dirty="0"/>
              <a:t> </a:t>
            </a:r>
            <a:r>
              <a:rPr dirty="0" err="1"/>
              <a:t>thường</a:t>
            </a:r>
            <a:r>
              <a:rPr dirty="0"/>
              <a:t> </a:t>
            </a:r>
            <a:r>
              <a:rPr dirty="0" err="1"/>
              <a:t>chỉ</a:t>
            </a:r>
            <a:r>
              <a:rPr dirty="0"/>
              <a:t> </a:t>
            </a:r>
            <a:r>
              <a:rPr dirty="0" err="1"/>
              <a:t>đúng</a:t>
            </a:r>
            <a:r>
              <a:rPr dirty="0"/>
              <a:t> </a:t>
            </a:r>
            <a:r>
              <a:rPr dirty="0" err="1"/>
              <a:t>khu</a:t>
            </a:r>
            <a:r>
              <a:rPr dirty="0"/>
              <a:t> </a:t>
            </a:r>
            <a:r>
              <a:rPr dirty="0" err="1"/>
              <a:t>vực</a:t>
            </a:r>
            <a:r>
              <a:rPr dirty="0"/>
              <a:t> </a:t>
            </a:r>
            <a:r>
              <a:rPr dirty="0" err="1"/>
              <a:t>cần</a:t>
            </a:r>
            <a:r>
              <a:rPr dirty="0"/>
              <a:t> </a:t>
            </a:r>
            <a:r>
              <a:rPr dirty="0" err="1"/>
              <a:t>kiểm</a:t>
            </a:r>
            <a:r>
              <a:rPr dirty="0"/>
              <a:t> </a:t>
            </a:r>
            <a:r>
              <a:rPr dirty="0" err="1"/>
              <a:t>tra</a:t>
            </a:r>
            <a:r>
              <a:rPr dirty="0"/>
              <a:t>, </a:t>
            </a:r>
            <a:r>
              <a:rPr dirty="0" err="1"/>
              <a:t>phù</a:t>
            </a:r>
            <a:r>
              <a:rPr dirty="0"/>
              <a:t> </a:t>
            </a:r>
            <a:r>
              <a:rPr dirty="0" err="1"/>
              <a:t>hợp</a:t>
            </a:r>
            <a:r>
              <a:rPr dirty="0"/>
              <a:t> </a:t>
            </a:r>
            <a:r>
              <a:rPr dirty="0" err="1"/>
              <a:t>vai</a:t>
            </a:r>
            <a:r>
              <a:rPr dirty="0"/>
              <a:t> </a:t>
            </a:r>
            <a:r>
              <a:rPr dirty="0" err="1"/>
              <a:t>trò</a:t>
            </a:r>
            <a:r>
              <a:rPr dirty="0"/>
              <a:t> </a:t>
            </a:r>
            <a:r>
              <a:rPr dirty="0" err="1"/>
              <a:t>hỗ</a:t>
            </a:r>
            <a:r>
              <a:rPr dirty="0"/>
              <a:t> </a:t>
            </a:r>
            <a:r>
              <a:rPr dirty="0" err="1"/>
              <a:t>trợ</a:t>
            </a:r>
            <a:r>
              <a:rPr dirty="0"/>
              <a:t> </a:t>
            </a:r>
            <a:r>
              <a:rPr dirty="0" err="1"/>
              <a:t>công</a:t>
            </a:r>
            <a:r>
              <a:rPr dirty="0"/>
              <a:t> </a:t>
            </a:r>
            <a:r>
              <a:rPr dirty="0" err="1"/>
              <a:t>nhân</a:t>
            </a:r>
            <a:r>
              <a:rPr dirty="0"/>
              <a:t> </a:t>
            </a:r>
            <a:r>
              <a:rPr dirty="0" err="1"/>
              <a:t>xác</a:t>
            </a:r>
            <a:r>
              <a:rPr dirty="0"/>
              <a:t> </a:t>
            </a:r>
            <a:r>
              <a:rPr dirty="0" err="1"/>
              <a:t>định</a:t>
            </a:r>
            <a:r>
              <a:rPr dirty="0"/>
              <a:t> </a:t>
            </a:r>
            <a:r>
              <a:rPr dirty="0" err="1"/>
              <a:t>nơi</a:t>
            </a:r>
            <a:r>
              <a:rPr dirty="0"/>
              <a:t> </a:t>
            </a:r>
            <a:r>
              <a:rPr dirty="0" err="1"/>
              <a:t>cần</a:t>
            </a:r>
            <a:r>
              <a:rPr dirty="0"/>
              <a:t> </a:t>
            </a:r>
            <a:r>
              <a:rPr dirty="0" err="1"/>
              <a:t>quan</a:t>
            </a:r>
            <a:r>
              <a:rPr dirty="0"/>
              <a:t> </a:t>
            </a:r>
            <a:r>
              <a:rPr dirty="0" err="1"/>
              <a:t>sát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Tóm</a:t>
            </a:r>
            <a:r>
              <a:rPr dirty="0"/>
              <a:t> </a:t>
            </a:r>
            <a:r>
              <a:rPr dirty="0" err="1"/>
              <a:t>lại</a:t>
            </a:r>
            <a:r>
              <a:rPr dirty="0"/>
              <a:t>, </a:t>
            </a:r>
            <a:r>
              <a:rPr dirty="0" err="1"/>
              <a:t>PatchCore</a:t>
            </a:r>
            <a:r>
              <a:rPr dirty="0"/>
              <a:t> </a:t>
            </a:r>
            <a:r>
              <a:rPr dirty="0" err="1"/>
              <a:t>kết</a:t>
            </a:r>
            <a:r>
              <a:rPr dirty="0"/>
              <a:t> </a:t>
            </a:r>
            <a:r>
              <a:rPr dirty="0" err="1"/>
              <a:t>hợp</a:t>
            </a:r>
            <a:r>
              <a:rPr dirty="0"/>
              <a:t> </a:t>
            </a:r>
            <a:r>
              <a:rPr dirty="0" err="1"/>
              <a:t>với</a:t>
            </a:r>
            <a:r>
              <a:rPr dirty="0"/>
              <a:t> </a:t>
            </a:r>
            <a:r>
              <a:rPr dirty="0" err="1"/>
              <a:t>xử</a:t>
            </a:r>
            <a:r>
              <a:rPr dirty="0"/>
              <a:t> </a:t>
            </a:r>
            <a:r>
              <a:rPr dirty="0" err="1"/>
              <a:t>lý</a:t>
            </a:r>
            <a:r>
              <a:rPr dirty="0"/>
              <a:t> foreground </a:t>
            </a:r>
            <a:r>
              <a:rPr dirty="0" err="1"/>
              <a:t>cẩn</a:t>
            </a:r>
            <a:r>
              <a:rPr dirty="0"/>
              <a:t> </a:t>
            </a:r>
            <a:r>
              <a:rPr dirty="0" err="1"/>
              <a:t>thận</a:t>
            </a:r>
            <a:r>
              <a:rPr dirty="0"/>
              <a:t> </a:t>
            </a:r>
            <a:r>
              <a:rPr dirty="0" err="1"/>
              <a:t>là</a:t>
            </a:r>
            <a:r>
              <a:rPr dirty="0"/>
              <a:t> </a:t>
            </a:r>
            <a:r>
              <a:rPr dirty="0" err="1"/>
              <a:t>lựa</a:t>
            </a:r>
            <a:r>
              <a:rPr dirty="0"/>
              <a:t> </a:t>
            </a:r>
            <a:r>
              <a:rPr dirty="0" err="1"/>
              <a:t>chọn</a:t>
            </a:r>
            <a:r>
              <a:rPr dirty="0"/>
              <a:t> </a:t>
            </a:r>
            <a:r>
              <a:rPr dirty="0" err="1"/>
              <a:t>thực</a:t>
            </a:r>
            <a:r>
              <a:rPr dirty="0"/>
              <a:t> </a:t>
            </a:r>
            <a:r>
              <a:rPr dirty="0" err="1"/>
              <a:t>tế</a:t>
            </a:r>
            <a:r>
              <a:rPr dirty="0"/>
              <a:t> </a:t>
            </a:r>
            <a:r>
              <a:rPr dirty="0" err="1"/>
              <a:t>cho</a:t>
            </a:r>
            <a:r>
              <a:rPr dirty="0"/>
              <a:t> </a:t>
            </a:r>
            <a:r>
              <a:rPr dirty="0" err="1"/>
              <a:t>bài</a:t>
            </a:r>
            <a:r>
              <a:rPr dirty="0"/>
              <a:t> </a:t>
            </a:r>
            <a:r>
              <a:rPr dirty="0" err="1"/>
              <a:t>toán</a:t>
            </a:r>
            <a:r>
              <a:rPr dirty="0"/>
              <a:t> </a:t>
            </a:r>
            <a:r>
              <a:rPr dirty="0" err="1"/>
              <a:t>dữ</a:t>
            </a:r>
            <a:r>
              <a:rPr dirty="0"/>
              <a:t> </a:t>
            </a:r>
            <a:r>
              <a:rPr dirty="0" err="1"/>
              <a:t>liệu</a:t>
            </a:r>
            <a:r>
              <a:rPr dirty="0"/>
              <a:t> </a:t>
            </a:r>
            <a:r>
              <a:rPr dirty="0" err="1"/>
              <a:t>cực</a:t>
            </a:r>
            <a:r>
              <a:rPr dirty="0"/>
              <a:t> </a:t>
            </a:r>
            <a:r>
              <a:rPr dirty="0" err="1"/>
              <a:t>ít</a:t>
            </a:r>
            <a:r>
              <a:rPr dirty="0"/>
              <a:t>. </a:t>
            </a:r>
            <a:r>
              <a:rPr dirty="0" err="1"/>
              <a:t>Cấu</a:t>
            </a:r>
            <a:r>
              <a:rPr dirty="0"/>
              <a:t> </a:t>
            </a:r>
            <a:r>
              <a:rPr dirty="0" err="1"/>
              <a:t>hình</a:t>
            </a:r>
            <a:r>
              <a:rPr dirty="0"/>
              <a:t> </a:t>
            </a:r>
            <a:r>
              <a:rPr dirty="0" err="1"/>
              <a:t>cuối</a:t>
            </a:r>
            <a:r>
              <a:rPr dirty="0"/>
              <a:t> </a:t>
            </a:r>
            <a:r>
              <a:rPr dirty="0" err="1"/>
              <a:t>đạt</a:t>
            </a:r>
            <a:r>
              <a:rPr dirty="0"/>
              <a:t> AUROC 0,996 </a:t>
            </a:r>
            <a:r>
              <a:rPr dirty="0" err="1"/>
              <a:t>và</a:t>
            </a:r>
            <a:r>
              <a:rPr dirty="0"/>
              <a:t> </a:t>
            </a:r>
            <a:r>
              <a:rPr dirty="0" err="1"/>
              <a:t>ổn</a:t>
            </a:r>
            <a:r>
              <a:rPr dirty="0"/>
              <a:t> </a:t>
            </a:r>
            <a:r>
              <a:rPr dirty="0" err="1"/>
              <a:t>định</a:t>
            </a:r>
            <a:r>
              <a:rPr dirty="0"/>
              <a:t> </a:t>
            </a:r>
            <a:r>
              <a:rPr dirty="0" err="1"/>
              <a:t>trong</a:t>
            </a:r>
            <a:r>
              <a:rPr dirty="0"/>
              <a:t> </a:t>
            </a:r>
            <a:r>
              <a:rPr dirty="0" err="1"/>
              <a:t>năm</a:t>
            </a:r>
            <a:r>
              <a:rPr dirty="0"/>
              <a:t> seed. </a:t>
            </a:r>
            <a:r>
              <a:rPr dirty="0" err="1"/>
              <a:t>Giá</a:t>
            </a:r>
            <a:r>
              <a:rPr dirty="0"/>
              <a:t> </a:t>
            </a:r>
            <a:r>
              <a:rPr dirty="0" err="1"/>
              <a:t>trị</a:t>
            </a:r>
            <a:r>
              <a:rPr dirty="0"/>
              <a:t> </a:t>
            </a:r>
            <a:r>
              <a:rPr dirty="0" err="1"/>
              <a:t>lớn</a:t>
            </a:r>
            <a:r>
              <a:rPr dirty="0"/>
              <a:t> </a:t>
            </a:r>
            <a:r>
              <a:rPr dirty="0" err="1"/>
              <a:t>của</a:t>
            </a:r>
            <a:r>
              <a:rPr dirty="0"/>
              <a:t> </a:t>
            </a:r>
            <a:r>
              <a:rPr dirty="0" err="1"/>
              <a:t>nghiên</a:t>
            </a:r>
            <a:r>
              <a:rPr dirty="0"/>
              <a:t> </a:t>
            </a:r>
            <a:r>
              <a:rPr dirty="0" err="1"/>
              <a:t>cứu</a:t>
            </a:r>
            <a:r>
              <a:rPr dirty="0"/>
              <a:t> </a:t>
            </a:r>
            <a:r>
              <a:rPr dirty="0" err="1"/>
              <a:t>nằm</a:t>
            </a:r>
            <a:r>
              <a:rPr dirty="0"/>
              <a:t> ở </a:t>
            </a:r>
            <a:r>
              <a:rPr dirty="0" err="1"/>
              <a:t>việc</a:t>
            </a:r>
            <a:r>
              <a:rPr dirty="0"/>
              <a:t> </a:t>
            </a:r>
            <a:r>
              <a:rPr dirty="0" err="1"/>
              <a:t>kiểm</a:t>
            </a:r>
            <a:r>
              <a:rPr dirty="0"/>
              <a:t> </a:t>
            </a:r>
            <a:r>
              <a:rPr dirty="0" err="1"/>
              <a:t>tra</a:t>
            </a:r>
            <a:r>
              <a:rPr dirty="0"/>
              <a:t> </a:t>
            </a:r>
            <a:r>
              <a:rPr dirty="0" err="1"/>
              <a:t>các</a:t>
            </a:r>
            <a:r>
              <a:rPr dirty="0"/>
              <a:t> </a:t>
            </a:r>
            <a:r>
              <a:rPr dirty="0" err="1"/>
              <a:t>giả</a:t>
            </a:r>
            <a:r>
              <a:rPr dirty="0"/>
              <a:t> </a:t>
            </a:r>
            <a:r>
              <a:rPr dirty="0" err="1"/>
              <a:t>định</a:t>
            </a:r>
            <a:r>
              <a:rPr dirty="0"/>
              <a:t> </a:t>
            </a:r>
            <a:r>
              <a:rPr dirty="0" err="1"/>
              <a:t>tiền</a:t>
            </a:r>
            <a:r>
              <a:rPr dirty="0"/>
              <a:t> </a:t>
            </a:r>
            <a:r>
              <a:rPr dirty="0" err="1"/>
              <a:t>xử</a:t>
            </a:r>
            <a:r>
              <a:rPr dirty="0"/>
              <a:t> </a:t>
            </a:r>
            <a:r>
              <a:rPr dirty="0" err="1"/>
              <a:t>lý</a:t>
            </a:r>
            <a:r>
              <a:rPr dirty="0"/>
              <a:t> </a:t>
            </a:r>
            <a:r>
              <a:rPr dirty="0" err="1"/>
              <a:t>bằng</a:t>
            </a:r>
            <a:r>
              <a:rPr dirty="0"/>
              <a:t> </a:t>
            </a:r>
            <a:r>
              <a:rPr dirty="0" err="1"/>
              <a:t>số</a:t>
            </a:r>
            <a:r>
              <a:rPr dirty="0"/>
              <a:t> </a:t>
            </a:r>
            <a:r>
              <a:rPr dirty="0" err="1"/>
              <a:t>liệu</a:t>
            </a:r>
            <a:r>
              <a:rPr dirty="0"/>
              <a:t> </a:t>
            </a:r>
            <a:r>
              <a:rPr dirty="0" err="1"/>
              <a:t>trên</a:t>
            </a:r>
            <a:r>
              <a:rPr dirty="0"/>
              <a:t> </a:t>
            </a:r>
            <a:r>
              <a:rPr dirty="0" err="1"/>
              <a:t>toàn</a:t>
            </a:r>
            <a:r>
              <a:rPr dirty="0"/>
              <a:t> </a:t>
            </a:r>
            <a:r>
              <a:rPr dirty="0" err="1"/>
              <a:t>bộ</a:t>
            </a:r>
            <a:r>
              <a:rPr dirty="0"/>
              <a:t> 12 </a:t>
            </a:r>
            <a:r>
              <a:rPr dirty="0" err="1"/>
              <a:t>lớp</a:t>
            </a:r>
            <a:r>
              <a:rPr dirty="0"/>
              <a:t>. </a:t>
            </a:r>
            <a:r>
              <a:rPr dirty="0" err="1"/>
              <a:t>Hướng</a:t>
            </a:r>
            <a:r>
              <a:rPr dirty="0"/>
              <a:t> </a:t>
            </a:r>
            <a:r>
              <a:rPr dirty="0" err="1"/>
              <a:t>phát</a:t>
            </a:r>
            <a:r>
              <a:rPr dirty="0"/>
              <a:t> </a:t>
            </a:r>
            <a:r>
              <a:rPr dirty="0" err="1"/>
              <a:t>triển</a:t>
            </a:r>
            <a:r>
              <a:rPr dirty="0"/>
              <a:t> </a:t>
            </a:r>
            <a:r>
              <a:rPr dirty="0" err="1"/>
              <a:t>nên</a:t>
            </a:r>
            <a:r>
              <a:rPr dirty="0"/>
              <a:t> </a:t>
            </a:r>
            <a:r>
              <a:rPr dirty="0" err="1"/>
              <a:t>tập</a:t>
            </a:r>
            <a:r>
              <a:rPr dirty="0"/>
              <a:t> </a:t>
            </a:r>
            <a:r>
              <a:rPr dirty="0" err="1"/>
              <a:t>trung</a:t>
            </a:r>
            <a:r>
              <a:rPr dirty="0"/>
              <a:t> </a:t>
            </a:r>
            <a:r>
              <a:rPr dirty="0" err="1"/>
              <a:t>vào</a:t>
            </a:r>
            <a:r>
              <a:rPr dirty="0"/>
              <a:t> ground truth </a:t>
            </a:r>
            <a:r>
              <a:rPr dirty="0" err="1"/>
              <a:t>chính</a:t>
            </a:r>
            <a:r>
              <a:rPr dirty="0"/>
              <a:t> </a:t>
            </a:r>
            <a:r>
              <a:rPr dirty="0" err="1"/>
              <a:t>xác</a:t>
            </a:r>
            <a:r>
              <a:rPr dirty="0"/>
              <a:t> </a:t>
            </a:r>
            <a:r>
              <a:rPr dirty="0" err="1"/>
              <a:t>hơn</a:t>
            </a:r>
            <a:r>
              <a:rPr dirty="0"/>
              <a:t>, </a:t>
            </a:r>
            <a:r>
              <a:rPr dirty="0" err="1"/>
              <a:t>độ</a:t>
            </a:r>
            <a:r>
              <a:rPr dirty="0"/>
              <a:t> </a:t>
            </a:r>
            <a:r>
              <a:rPr dirty="0" err="1"/>
              <a:t>đồng</a:t>
            </a:r>
            <a:r>
              <a:rPr dirty="0"/>
              <a:t> </a:t>
            </a:r>
            <a:r>
              <a:rPr dirty="0" err="1"/>
              <a:t>thuận</a:t>
            </a:r>
            <a:r>
              <a:rPr dirty="0"/>
              <a:t> </a:t>
            </a:r>
            <a:r>
              <a:rPr dirty="0" err="1"/>
              <a:t>giữa</a:t>
            </a:r>
            <a:r>
              <a:rPr dirty="0"/>
              <a:t> </a:t>
            </a:r>
            <a:r>
              <a:rPr dirty="0" err="1"/>
              <a:t>người</a:t>
            </a:r>
            <a:r>
              <a:rPr dirty="0"/>
              <a:t> </a:t>
            </a:r>
            <a:r>
              <a:rPr dirty="0" err="1"/>
              <a:t>gán</a:t>
            </a:r>
            <a:r>
              <a:rPr dirty="0"/>
              <a:t> </a:t>
            </a:r>
            <a:r>
              <a:rPr dirty="0" err="1"/>
              <a:t>nhãn</a:t>
            </a:r>
            <a:r>
              <a:rPr dirty="0"/>
              <a:t>, </a:t>
            </a:r>
            <a:r>
              <a:rPr dirty="0" err="1"/>
              <a:t>đường</a:t>
            </a:r>
            <a:r>
              <a:rPr dirty="0"/>
              <a:t> </a:t>
            </a:r>
            <a:r>
              <a:rPr dirty="0" err="1"/>
              <a:t>cong</a:t>
            </a:r>
            <a:r>
              <a:rPr dirty="0"/>
              <a:t> PRO </a:t>
            </a:r>
            <a:r>
              <a:rPr dirty="0" err="1"/>
              <a:t>và</a:t>
            </a:r>
            <a:r>
              <a:rPr dirty="0"/>
              <a:t> </a:t>
            </a:r>
            <a:r>
              <a:rPr dirty="0" err="1"/>
              <a:t>phân</a:t>
            </a:r>
            <a:r>
              <a:rPr dirty="0"/>
              <a:t> </a:t>
            </a:r>
            <a:r>
              <a:rPr dirty="0" err="1"/>
              <a:t>tích</a:t>
            </a:r>
            <a:r>
              <a:rPr dirty="0"/>
              <a:t> </a:t>
            </a:r>
            <a:r>
              <a:rPr dirty="0" err="1"/>
              <a:t>sâu</a:t>
            </a:r>
            <a:r>
              <a:rPr dirty="0"/>
              <a:t> </a:t>
            </a:r>
            <a:r>
              <a:rPr dirty="0" err="1"/>
              <a:t>lớp</a:t>
            </a:r>
            <a:r>
              <a:rPr dirty="0"/>
              <a:t> FA-1114. Xin </a:t>
            </a:r>
            <a:r>
              <a:rPr dirty="0" err="1"/>
              <a:t>cảm</a:t>
            </a:r>
            <a:r>
              <a:rPr dirty="0"/>
              <a:t> </a:t>
            </a:r>
            <a:r>
              <a:rPr dirty="0" err="1"/>
              <a:t>ơn</a:t>
            </a:r>
            <a:r>
              <a:rPr dirty="0"/>
              <a:t> </a:t>
            </a:r>
            <a:r>
              <a:rPr lang="en-US" dirty="0" err="1"/>
              <a:t>thầy</a:t>
            </a:r>
            <a:r>
              <a:rPr lang="en-US" baseline="0" dirty="0"/>
              <a:t> </a:t>
            </a:r>
            <a:r>
              <a:rPr dirty="0" err="1"/>
              <a:t>đã</a:t>
            </a:r>
            <a:r>
              <a:rPr dirty="0"/>
              <a:t> </a:t>
            </a:r>
            <a:r>
              <a:rPr dirty="0" err="1"/>
              <a:t>lắng</a:t>
            </a:r>
            <a:r>
              <a:rPr dirty="0"/>
              <a:t> </a:t>
            </a:r>
            <a:r>
              <a:rPr dirty="0" err="1"/>
              <a:t>nghe</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8E1E81-557F-4E8B-9FDE-C0FA88A7CE90}"/>
              </a:ext>
            </a:extLst>
          </p:cNvPr>
          <p:cNvSpPr>
            <a:spLocks noGrp="1"/>
          </p:cNvSpPr>
          <p:nvPr/>
        </p:nvSpPr>
        <p:spPr>
          <a:xfrm>
            <a:off x="0" y="0"/>
            <a:ext cx="247650" cy="6858000"/>
          </a:xfrm>
          <a:prstGeom prst="rect">
            <a:avLst/>
          </a:prstGeom>
          <a:solidFill>
            <a:srgbClr val="18A999"/>
          </a:solidFill>
          <a:ln w="0">
            <a:noFill/>
          </a:ln>
        </p:spPr>
      </p:sp>
      <p:sp>
        <p:nvSpPr>
          <p:cNvPr id="2" name="Rectangle 1">
            <a:extLst>
              <a:ext uri="{FF2B5EF4-FFF2-40B4-BE49-F238E27FC236}">
                <a16:creationId xmlns:a16="http://schemas.microsoft.com/office/drawing/2014/main" id="{B27B061B-8C72-44B9-A1A3-0BB91E3775FB}"/>
              </a:ext>
            </a:extLst>
          </p:cNvPr>
          <p:cNvSpPr>
            <a:spLocks noGrp="1"/>
          </p:cNvSpPr>
          <p:nvPr/>
        </p:nvSpPr>
        <p:spPr>
          <a:xfrm>
            <a:off x="819150" y="1981200"/>
            <a:ext cx="9544050" cy="1251857"/>
          </a:xfrm>
          <a:prstGeom prst="rect">
            <a:avLst/>
          </a:prstGeom>
          <a:noFill/>
          <a:ln w="0">
            <a:noFill/>
          </a:ln>
        </p:spPr>
        <p:txBody>
          <a:bodyPr anchor="ctr">
            <a:normAutofit/>
          </a:bodyPr>
          <a:lstStyle/>
          <a:p>
            <a:pPr algn="l">
              <a:defRPr sz="3600" b="1">
                <a:solidFill>
                  <a:srgbClr val="FFFFFF"/>
                </a:solidFill>
                <a:latin typeface="Aptos"/>
                <a:ea typeface="Aptos"/>
                <a:cs typeface="Aptos"/>
              </a:defRPr>
            </a:pPr>
            <a:r>
              <a:rPr lang="en-US" sz="2500" b="1" dirty="0" err="1">
                <a:solidFill>
                  <a:srgbClr val="FFFFFF"/>
                </a:solidFill>
                <a:latin typeface="Aptos"/>
                <a:ea typeface="Aptos"/>
                <a:cs typeface="Aptos"/>
              </a:rPr>
              <a:t>Đề</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tài</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Xây</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dựng</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hệ</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thống</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phát</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hiện</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sai</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lệch</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ngoại</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quan</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của</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sản</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phẩm</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đồ</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trang</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trí</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xuất</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khẩu</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sử</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dụng</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thị</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giác</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máy</a:t>
            </a:r>
            <a:r>
              <a:rPr lang="en-US" sz="2500" b="1" dirty="0">
                <a:solidFill>
                  <a:srgbClr val="FFFFFF"/>
                </a:solidFill>
                <a:latin typeface="Aptos"/>
                <a:ea typeface="Aptos"/>
                <a:cs typeface="Aptos"/>
              </a:rPr>
              <a:t> </a:t>
            </a:r>
            <a:r>
              <a:rPr lang="en-US" sz="2500" b="1" dirty="0" err="1">
                <a:solidFill>
                  <a:srgbClr val="FFFFFF"/>
                </a:solidFill>
                <a:latin typeface="Aptos"/>
                <a:ea typeface="Aptos"/>
                <a:cs typeface="Aptos"/>
              </a:rPr>
              <a:t>tính</a:t>
            </a:r>
            <a:r>
              <a:rPr lang="en-US" sz="2500" b="1" dirty="0">
                <a:solidFill>
                  <a:srgbClr val="FFFFFF"/>
                </a:solidFill>
                <a:latin typeface="Aptos"/>
                <a:ea typeface="Aptos"/>
                <a:cs typeface="Aptos"/>
              </a:rPr>
              <a:t>. </a:t>
            </a:r>
            <a:endParaRPr sz="2500" b="1" dirty="0">
              <a:solidFill>
                <a:srgbClr val="FFFFFF"/>
              </a:solidFill>
              <a:latin typeface="Aptos"/>
              <a:ea typeface="Aptos"/>
              <a:cs typeface="Aptos"/>
            </a:endParaRPr>
          </a:p>
        </p:txBody>
      </p:sp>
      <p:sp>
        <p:nvSpPr>
          <p:cNvPr id="3" name="Rectangle 2">
            <a:extLst>
              <a:ext uri="{FF2B5EF4-FFF2-40B4-BE49-F238E27FC236}">
                <a16:creationId xmlns:a16="http://schemas.microsoft.com/office/drawing/2014/main" id="{1F7C61EE-2E30-4288-9EB4-70029977849A}"/>
              </a:ext>
            </a:extLst>
          </p:cNvPr>
          <p:cNvSpPr>
            <a:spLocks noGrp="1"/>
          </p:cNvSpPr>
          <p:nvPr/>
        </p:nvSpPr>
        <p:spPr>
          <a:xfrm>
            <a:off x="857250" y="3558540"/>
            <a:ext cx="8191500" cy="492760"/>
          </a:xfrm>
          <a:prstGeom prst="rect">
            <a:avLst/>
          </a:prstGeom>
          <a:noFill/>
          <a:ln w="0">
            <a:noFill/>
          </a:ln>
        </p:spPr>
        <p:txBody>
          <a:bodyPr anchor="ctr">
            <a:noAutofit/>
          </a:bodyPr>
          <a:lstStyle/>
          <a:p>
            <a:pPr>
              <a:defRPr sz="1725" b="0">
                <a:solidFill>
                  <a:srgbClr val="BFE9E4"/>
                </a:solidFill>
                <a:latin typeface="Aptos"/>
                <a:ea typeface="Aptos"/>
                <a:cs typeface="Aptos"/>
              </a:defRPr>
            </a:pPr>
            <a:r>
              <a:rPr lang="en-US" sz="2800" dirty="0"/>
              <a:t>IE400.F3.CN2.CNTT – CHUYÊN ĐỀ TỐT NGHIỆP</a:t>
            </a:r>
            <a:endParaRPr sz="2800" b="0" dirty="0">
              <a:solidFill>
                <a:srgbClr val="BFE9E4"/>
              </a:solidFill>
              <a:latin typeface="Aptos"/>
              <a:ea typeface="Aptos"/>
              <a:cs typeface="Aptos"/>
            </a:endParaRPr>
          </a:p>
        </p:txBody>
      </p:sp>
      <p:sp>
        <p:nvSpPr>
          <p:cNvPr id="4" name="Rectangle 3">
            <a:extLst>
              <a:ext uri="{FF2B5EF4-FFF2-40B4-BE49-F238E27FC236}">
                <a16:creationId xmlns:a16="http://schemas.microsoft.com/office/drawing/2014/main" id="{67745B75-47D4-4BF9-BAA8-EE7CDF520A0E}"/>
              </a:ext>
            </a:extLst>
          </p:cNvPr>
          <p:cNvSpPr>
            <a:spLocks noGrp="1"/>
          </p:cNvSpPr>
          <p:nvPr/>
        </p:nvSpPr>
        <p:spPr>
          <a:xfrm>
            <a:off x="763009" y="4501244"/>
            <a:ext cx="4953505" cy="1251857"/>
          </a:xfrm>
          <a:prstGeom prst="rect">
            <a:avLst/>
          </a:prstGeom>
          <a:noFill/>
          <a:ln w="0">
            <a:noFill/>
          </a:ln>
        </p:spPr>
        <p:txBody>
          <a:bodyPr anchor="ctr">
            <a:noAutofit/>
          </a:bodyPr>
          <a:lstStyle/>
          <a:p>
            <a:pPr>
              <a:defRPr sz="1350" b="0">
                <a:solidFill>
                  <a:srgbClr val="B8C8D2"/>
                </a:solidFill>
                <a:latin typeface="Aptos"/>
                <a:ea typeface="Aptos"/>
                <a:cs typeface="Aptos"/>
              </a:defRPr>
            </a:pPr>
            <a:r>
              <a:rPr lang="en-US" sz="2800" dirty="0" err="1"/>
              <a:t>Trình</a:t>
            </a:r>
            <a:r>
              <a:rPr lang="en-US" sz="2800" dirty="0"/>
              <a:t> </a:t>
            </a:r>
            <a:r>
              <a:rPr lang="en-US" sz="2800" dirty="0" err="1"/>
              <a:t>bày</a:t>
            </a:r>
            <a:r>
              <a:rPr lang="en-US" sz="2800" dirty="0"/>
              <a:t>: </a:t>
            </a:r>
            <a:r>
              <a:rPr lang="en-US" sz="2800" dirty="0" err="1"/>
              <a:t>Nguyễn</a:t>
            </a:r>
            <a:r>
              <a:rPr lang="en-US" sz="2800" dirty="0"/>
              <a:t> </a:t>
            </a:r>
            <a:r>
              <a:rPr lang="en-US" sz="2800" dirty="0" err="1"/>
              <a:t>Thị</a:t>
            </a:r>
            <a:r>
              <a:rPr lang="en-US" sz="2800" dirty="0"/>
              <a:t> </a:t>
            </a:r>
            <a:r>
              <a:rPr lang="en-US" sz="2800" dirty="0" err="1"/>
              <a:t>Hiền</a:t>
            </a:r>
            <a:br>
              <a:rPr lang="en-US" sz="2800" dirty="0"/>
            </a:br>
            <a:r>
              <a:rPr lang="en-US" sz="2800" dirty="0"/>
              <a:t>MSSV: 25410207 </a:t>
            </a:r>
            <a:endParaRPr sz="2800" b="0" dirty="0">
              <a:solidFill>
                <a:srgbClr val="B8C8D2"/>
              </a:solidFill>
              <a:latin typeface="Aptos"/>
              <a:ea typeface="Aptos"/>
              <a:cs typeface="Aptos"/>
            </a:endParaRPr>
          </a:p>
        </p:txBody>
      </p:sp>
      <p:sp>
        <p:nvSpPr>
          <p:cNvPr id="9" name="Rectangle 8">
            <a:extLst>
              <a:ext uri="{FF2B5EF4-FFF2-40B4-BE49-F238E27FC236}">
                <a16:creationId xmlns:a16="http://schemas.microsoft.com/office/drawing/2014/main" id="{67745B75-47D4-4BF9-BAA8-EE7CDF520A0E}"/>
              </a:ext>
            </a:extLst>
          </p:cNvPr>
          <p:cNvSpPr>
            <a:spLocks noGrp="1"/>
          </p:cNvSpPr>
          <p:nvPr/>
        </p:nvSpPr>
        <p:spPr>
          <a:xfrm>
            <a:off x="6231873" y="4857750"/>
            <a:ext cx="4833978" cy="538843"/>
          </a:xfrm>
          <a:prstGeom prst="rect">
            <a:avLst/>
          </a:prstGeom>
          <a:noFill/>
          <a:ln w="0">
            <a:noFill/>
          </a:ln>
        </p:spPr>
        <p:txBody>
          <a:bodyPr anchor="ctr">
            <a:noAutofit/>
          </a:bodyPr>
          <a:lstStyle/>
          <a:p>
            <a:pPr>
              <a:defRPr sz="1350" b="0">
                <a:solidFill>
                  <a:srgbClr val="B8C8D2"/>
                </a:solidFill>
                <a:latin typeface="Aptos"/>
                <a:ea typeface="Aptos"/>
                <a:cs typeface="Aptos"/>
              </a:defRPr>
            </a:pPr>
            <a:r>
              <a:rPr lang="vi-VN" sz="2800" dirty="0"/>
              <a:t>Giảng viên hướng dẫn</a:t>
            </a:r>
            <a:br>
              <a:rPr lang="en-US" sz="2800" dirty="0"/>
            </a:br>
            <a:r>
              <a:rPr lang="en-US" sz="2800" dirty="0" err="1"/>
              <a:t>Ths</a:t>
            </a:r>
            <a:r>
              <a:rPr lang="en-US" sz="2800" dirty="0"/>
              <a:t>. </a:t>
            </a:r>
            <a:r>
              <a:rPr lang="en-US" sz="2800" dirty="0" err="1"/>
              <a:t>Đỗ</a:t>
            </a:r>
            <a:r>
              <a:rPr lang="en-US" sz="2800" dirty="0"/>
              <a:t> Minh </a:t>
            </a:r>
            <a:r>
              <a:rPr lang="en-US" sz="2800" dirty="0" err="1"/>
              <a:t>Tiến</a:t>
            </a:r>
            <a:r>
              <a:rPr lang="en-US" sz="2800" dirty="0"/>
              <a:t> </a:t>
            </a:r>
            <a:endParaRPr sz="2800" b="0" dirty="0">
              <a:solidFill>
                <a:srgbClr val="B8C8D2"/>
              </a:solidFill>
              <a:latin typeface="Aptos"/>
              <a:ea typeface="Aptos"/>
              <a:cs typeface="Aptos"/>
            </a:endParaRPr>
          </a:p>
        </p:txBody>
      </p:sp>
      <p:pic>
        <p:nvPicPr>
          <p:cNvPr id="12" name="Picture 11">
            <a:extLst>
              <a:ext uri="{FF2B5EF4-FFF2-40B4-BE49-F238E27FC236}">
                <a16:creationId xmlns:a16="http://schemas.microsoft.com/office/drawing/2014/main" id="{7D562656-0001-466F-B418-0AFD91301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915" y="307978"/>
            <a:ext cx="1857524" cy="1593842"/>
          </a:xfrm>
          <a:prstGeom prst="rect">
            <a:avLst/>
          </a:prstGeom>
        </p:spPr>
      </p:pic>
    </p:spTree>
    <p:extLst>
      <p:ext uri="{BB962C8B-B14F-4D97-AF65-F5344CB8AC3E}">
        <p14:creationId xmlns:p14="http://schemas.microsoft.com/office/powerpoint/2010/main" val="1714002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ECC9EB0-105F-4EEC-93E8-1240D5D9D080}"/>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94791C2B-DF2D-41C0-97D7-2302B151C2E0}"/>
              </a:ext>
            </a:extLst>
          </p:cNvPr>
          <p:cNvSpPr>
            <a:spLocks noGrp="1"/>
          </p:cNvSpPr>
          <p:nvPr/>
        </p:nvSpPr>
        <p:spPr>
          <a:xfrm>
            <a:off x="1447799" y="547007"/>
            <a:ext cx="4747807"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Bài</a:t>
            </a:r>
            <a:r>
              <a:rPr sz="2550" b="1" dirty="0">
                <a:solidFill>
                  <a:srgbClr val="0B1F33"/>
                </a:solidFill>
                <a:latin typeface="Aptos"/>
                <a:ea typeface="Aptos"/>
                <a:cs typeface="Aptos"/>
              </a:rPr>
              <a:t> </a:t>
            </a:r>
            <a:r>
              <a:rPr sz="2550" b="1" dirty="0" err="1">
                <a:solidFill>
                  <a:srgbClr val="0B1F33"/>
                </a:solidFill>
                <a:latin typeface="Aptos"/>
                <a:ea typeface="Aptos"/>
                <a:cs typeface="Aptos"/>
              </a:rPr>
              <a:t>toán</a:t>
            </a:r>
            <a:r>
              <a:rPr sz="2550" b="1" dirty="0">
                <a:solidFill>
                  <a:srgbClr val="0B1F33"/>
                </a:solidFill>
                <a:latin typeface="Aptos"/>
                <a:ea typeface="Aptos"/>
                <a:cs typeface="Aptos"/>
              </a:rPr>
              <a:t> </a:t>
            </a:r>
            <a:r>
              <a:rPr sz="2550" b="1" dirty="0" err="1">
                <a:solidFill>
                  <a:srgbClr val="0B1F33"/>
                </a:solidFill>
                <a:latin typeface="Aptos"/>
                <a:ea typeface="Aptos"/>
                <a:cs typeface="Aptos"/>
              </a:rPr>
              <a:t>nghiên</a:t>
            </a:r>
            <a:r>
              <a:rPr sz="2550" b="1" dirty="0">
                <a:solidFill>
                  <a:srgbClr val="0B1F33"/>
                </a:solidFill>
                <a:latin typeface="Aptos"/>
                <a:ea typeface="Aptos"/>
                <a:cs typeface="Aptos"/>
              </a:rPr>
              <a:t> </a:t>
            </a:r>
            <a:r>
              <a:rPr sz="2550" b="1" dirty="0" err="1">
                <a:solidFill>
                  <a:srgbClr val="0B1F33"/>
                </a:solidFill>
                <a:latin typeface="Aptos"/>
                <a:ea typeface="Aptos"/>
                <a:cs typeface="Aptos"/>
              </a:rPr>
              <a:t>cứu</a:t>
            </a:r>
            <a:endParaRPr sz="2550" b="1" dirty="0">
              <a:solidFill>
                <a:srgbClr val="0B1F33"/>
              </a:solidFill>
              <a:latin typeface="Aptos"/>
              <a:ea typeface="Aptos"/>
              <a:cs typeface="Aptos"/>
            </a:endParaRPr>
          </a:p>
        </p:txBody>
      </p:sp>
      <p:sp>
        <p:nvSpPr>
          <p:cNvPr id="3" name="Rectangle 2">
            <a:extLst>
              <a:ext uri="{FF2B5EF4-FFF2-40B4-BE49-F238E27FC236}">
                <a16:creationId xmlns:a16="http://schemas.microsoft.com/office/drawing/2014/main" id="{FB98C258-5B95-4BB9-8A74-F34E0C02871F}"/>
              </a:ext>
            </a:extLst>
          </p:cNvPr>
          <p:cNvSpPr>
            <a:spLocks noGrp="1"/>
          </p:cNvSpPr>
          <p:nvPr/>
        </p:nvSpPr>
        <p:spPr>
          <a:xfrm>
            <a:off x="1447798" y="977537"/>
            <a:ext cx="9848851" cy="704850"/>
          </a:xfrm>
          <a:prstGeom prst="rect">
            <a:avLst/>
          </a:prstGeom>
          <a:noFill/>
          <a:ln w="0">
            <a:noFill/>
          </a:ln>
        </p:spPr>
        <p:txBody>
          <a:bodyPr anchor="ctr">
            <a:normAutofit/>
          </a:bodyPr>
          <a:lstStyle/>
          <a:p>
            <a:pPr algn="l">
              <a:defRPr sz="1200" b="0">
                <a:solidFill>
                  <a:srgbClr val="55707F"/>
                </a:solidFill>
                <a:latin typeface="Aptos"/>
                <a:ea typeface="Aptos"/>
                <a:cs typeface="Aptos"/>
              </a:defRPr>
            </a:pPr>
            <a:r>
              <a:rPr lang="en-US" sz="2000" b="0" dirty="0" err="1">
                <a:solidFill>
                  <a:srgbClr val="55707F"/>
                </a:solidFill>
                <a:latin typeface="Aptos"/>
                <a:ea typeface="Aptos"/>
                <a:cs typeface="Aptos"/>
              </a:rPr>
              <a:t>Dữ</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liệu</a:t>
            </a:r>
            <a:r>
              <a:rPr lang="en-US" sz="2000" b="0" dirty="0">
                <a:solidFill>
                  <a:srgbClr val="55707F"/>
                </a:solidFill>
                <a:latin typeface="Aptos"/>
                <a:ea typeface="Aptos"/>
                <a:cs typeface="Aptos"/>
              </a:rPr>
              <a:t> normal-only </a:t>
            </a:r>
            <a:r>
              <a:rPr lang="en-US" sz="2000" b="0" dirty="0" err="1">
                <a:solidFill>
                  <a:srgbClr val="55707F"/>
                </a:solidFill>
                <a:latin typeface="Aptos"/>
                <a:ea typeface="Aptos"/>
                <a:cs typeface="Aptos"/>
              </a:rPr>
              <a:t>cực</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kỳ</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hạn</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chế</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với</a:t>
            </a:r>
            <a:r>
              <a:rPr lang="en-US" sz="2000" b="0" dirty="0">
                <a:solidFill>
                  <a:srgbClr val="55707F"/>
                </a:solidFill>
                <a:latin typeface="Aptos"/>
                <a:ea typeface="Aptos"/>
                <a:cs typeface="Aptos"/>
              </a:rPr>
              <a:t> 12 </a:t>
            </a:r>
            <a:r>
              <a:rPr lang="en-US" sz="2000" b="0" dirty="0" err="1">
                <a:solidFill>
                  <a:srgbClr val="55707F"/>
                </a:solidFill>
                <a:latin typeface="Aptos"/>
                <a:ea typeface="Aptos"/>
                <a:cs typeface="Aptos"/>
              </a:rPr>
              <a:t>mẫu</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sản</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phẩm</a:t>
            </a:r>
            <a:r>
              <a:rPr lang="en-US" sz="2000" b="0" dirty="0">
                <a:solidFill>
                  <a:srgbClr val="55707F"/>
                </a:solidFill>
                <a:latin typeface="Aptos"/>
                <a:ea typeface="Aptos"/>
                <a:cs typeface="Aptos"/>
              </a:rPr>
              <a:t>. </a:t>
            </a:r>
          </a:p>
          <a:p>
            <a:pPr algn="l">
              <a:defRPr sz="1200" b="0">
                <a:solidFill>
                  <a:srgbClr val="55707F"/>
                </a:solidFill>
                <a:latin typeface="Aptos"/>
                <a:ea typeface="Aptos"/>
                <a:cs typeface="Aptos"/>
              </a:defRPr>
            </a:pPr>
            <a:r>
              <a:rPr sz="2000" b="0" dirty="0" err="1">
                <a:solidFill>
                  <a:srgbClr val="55707F"/>
                </a:solidFill>
                <a:latin typeface="Aptos"/>
                <a:ea typeface="Aptos"/>
                <a:cs typeface="Aptos"/>
              </a:rPr>
              <a:t>Kiểm</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tra</a:t>
            </a:r>
            <a:r>
              <a:rPr sz="2000" b="0" dirty="0">
                <a:solidFill>
                  <a:srgbClr val="55707F"/>
                </a:solidFill>
                <a:latin typeface="Aptos"/>
                <a:ea typeface="Aptos"/>
                <a:cs typeface="Aptos"/>
              </a:rPr>
              <a:t> </a:t>
            </a:r>
            <a:r>
              <a:rPr sz="2000" b="0" dirty="0" err="1">
                <a:solidFill>
                  <a:srgbClr val="55707F"/>
                </a:solidFill>
                <a:latin typeface="Aptos"/>
                <a:ea typeface="Aptos"/>
                <a:cs typeface="Aptos"/>
              </a:rPr>
              <a:t>chất</a:t>
            </a:r>
            <a:r>
              <a:rPr sz="2000" b="0" dirty="0">
                <a:solidFill>
                  <a:srgbClr val="55707F"/>
                </a:solidFill>
                <a:latin typeface="Aptos"/>
                <a:ea typeface="Aptos"/>
                <a:cs typeface="Aptos"/>
              </a:rPr>
              <a:t> </a:t>
            </a:r>
            <a:r>
              <a:rPr sz="2000" b="0" dirty="0" err="1">
                <a:solidFill>
                  <a:srgbClr val="55707F"/>
                </a:solidFill>
                <a:latin typeface="Aptos"/>
                <a:ea typeface="Aptos"/>
                <a:cs typeface="Aptos"/>
              </a:rPr>
              <a:t>lượng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với</a:t>
            </a:r>
            <a:r>
              <a:rPr sz="2000" b="0" dirty="0">
                <a:solidFill>
                  <a:srgbClr val="55707F"/>
                </a:solidFill>
                <a:latin typeface="Aptos"/>
                <a:ea typeface="Aptos"/>
                <a:cs typeface="Aptos"/>
              </a:rPr>
              <a:t> </a:t>
            </a:r>
            <a:r>
              <a:rPr sz="2000" b="0" dirty="0" err="1">
                <a:solidFill>
                  <a:srgbClr val="55707F"/>
                </a:solidFill>
                <a:latin typeface="Aptos"/>
                <a:ea typeface="Aptos"/>
                <a:cs typeface="Aptos"/>
              </a:rPr>
              <a:t>ít</a:t>
            </a:r>
            <a:r>
              <a:rPr sz="2000" b="0" dirty="0">
                <a:solidFill>
                  <a:srgbClr val="55707F"/>
                </a:solidFill>
                <a:latin typeface="Aptos"/>
                <a:ea typeface="Aptos"/>
                <a:cs typeface="Aptos"/>
              </a:rPr>
              <a:t> </a:t>
            </a:r>
            <a:r>
              <a:rPr sz="2000" b="0" dirty="0" err="1">
                <a:solidFill>
                  <a:srgbClr val="55707F"/>
                </a:solidFill>
                <a:latin typeface="Aptos"/>
                <a:ea typeface="Aptos"/>
                <a:cs typeface="Aptos"/>
              </a:rPr>
              <a:t>dữ</a:t>
            </a:r>
            <a:r>
              <a:rPr sz="2000" b="0" dirty="0">
                <a:solidFill>
                  <a:srgbClr val="55707F"/>
                </a:solidFill>
                <a:latin typeface="Aptos"/>
                <a:ea typeface="Aptos"/>
                <a:cs typeface="Aptos"/>
              </a:rPr>
              <a:t> </a:t>
            </a:r>
            <a:r>
              <a:rPr sz="2000" b="0" dirty="0" err="1">
                <a:solidFill>
                  <a:srgbClr val="55707F"/>
                </a:solidFill>
                <a:latin typeface="Aptos"/>
                <a:ea typeface="Aptos"/>
                <a:cs typeface="Aptos"/>
              </a:rPr>
              <a:t>liệu</a:t>
            </a:r>
            <a:r>
              <a:rPr sz="2000" b="0" dirty="0">
                <a:solidFill>
                  <a:srgbClr val="55707F"/>
                </a:solidFill>
                <a:latin typeface="Aptos"/>
                <a:ea typeface="Aptos"/>
                <a:cs typeface="Aptos"/>
              </a:rPr>
              <a:t> </a:t>
            </a:r>
            <a:r>
              <a:rPr sz="2000" b="0" dirty="0" err="1">
                <a:solidFill>
                  <a:srgbClr val="55707F"/>
                </a:solidFill>
                <a:latin typeface="Aptos"/>
                <a:ea typeface="Aptos"/>
                <a:cs typeface="Aptos"/>
              </a:rPr>
              <a:t>và</a:t>
            </a:r>
            <a:r>
              <a:rPr sz="2000" b="0" dirty="0">
                <a:solidFill>
                  <a:srgbClr val="55707F"/>
                </a:solidFill>
                <a:latin typeface="Aptos"/>
                <a:ea typeface="Aptos"/>
                <a:cs typeface="Aptos"/>
              </a:rPr>
              <a:t> </a:t>
            </a:r>
            <a:r>
              <a:rPr sz="2000" b="0" dirty="0" err="1">
                <a:solidFill>
                  <a:srgbClr val="55707F"/>
                </a:solidFill>
                <a:latin typeface="Aptos"/>
                <a:ea typeface="Aptos"/>
                <a:cs typeface="Aptos"/>
              </a:rPr>
              <a:t>không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có</a:t>
            </a:r>
            <a:r>
              <a:rPr sz="2000" b="0" dirty="0">
                <a:solidFill>
                  <a:srgbClr val="55707F"/>
                </a:solidFill>
                <a:latin typeface="Aptos"/>
                <a:ea typeface="Aptos"/>
                <a:cs typeface="Aptos"/>
              </a:rPr>
              <a:t> </a:t>
            </a:r>
            <a:r>
              <a:rPr sz="2000" b="0" dirty="0" err="1">
                <a:solidFill>
                  <a:srgbClr val="55707F"/>
                </a:solidFill>
                <a:latin typeface="Aptos"/>
                <a:ea typeface="Aptos"/>
                <a:cs typeface="Aptos"/>
              </a:rPr>
              <a:t>nhãn</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lỗi</a:t>
            </a:r>
            <a:r>
              <a:rPr lang="en-US" sz="2000" b="0" dirty="0">
                <a:solidFill>
                  <a:srgbClr val="55707F"/>
                </a:solidFill>
                <a:latin typeface="Aptos"/>
                <a:ea typeface="Aptos"/>
                <a:cs typeface="Aptos"/>
              </a:rPr>
              <a:t>.</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A9A5FA10-77F1-49FA-95CA-96681095FAF4}"/>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02</a:t>
            </a:r>
          </a:p>
        </p:txBody>
      </p:sp>
      <p:sp>
        <p:nvSpPr>
          <p:cNvPr id="5" name="Rectangle 4">
            <a:extLst>
              <a:ext uri="{FF2B5EF4-FFF2-40B4-BE49-F238E27FC236}">
                <a16:creationId xmlns:a16="http://schemas.microsoft.com/office/drawing/2014/main" id="{69DA3C6E-EB24-4570-8529-69133A1E4B1C}"/>
              </a:ext>
            </a:extLst>
          </p:cNvPr>
          <p:cNvSpPr>
            <a:spLocks noGrp="1"/>
          </p:cNvSpPr>
          <p:nvPr/>
        </p:nvSpPr>
        <p:spPr>
          <a:xfrm>
            <a:off x="857250" y="2095500"/>
            <a:ext cx="2476500" cy="1047750"/>
          </a:xfrm>
          <a:prstGeom prst="rect">
            <a:avLst/>
          </a:prstGeom>
          <a:noFill/>
          <a:ln w="0">
            <a:noFill/>
          </a:ln>
        </p:spPr>
        <p:txBody>
          <a:bodyPr anchor="ctr">
            <a:normAutofit/>
          </a:bodyPr>
          <a:lstStyle/>
          <a:p>
            <a:pPr algn="ctr">
              <a:defRPr sz="4050" b="1">
                <a:solidFill>
                  <a:srgbClr val="18A999"/>
                </a:solidFill>
                <a:latin typeface="Aptos"/>
                <a:ea typeface="Aptos"/>
                <a:cs typeface="Aptos"/>
              </a:defRPr>
            </a:pPr>
            <a:r>
              <a:rPr sz="4050" b="1">
                <a:solidFill>
                  <a:srgbClr val="18A999"/>
                </a:solidFill>
                <a:latin typeface="Aptos"/>
                <a:ea typeface="Aptos"/>
                <a:cs typeface="Aptos"/>
              </a:rPr>
              <a:t>12</a:t>
            </a:r>
          </a:p>
        </p:txBody>
      </p:sp>
      <p:sp>
        <p:nvSpPr>
          <p:cNvPr id="6" name="Rectangle 5">
            <a:extLst>
              <a:ext uri="{FF2B5EF4-FFF2-40B4-BE49-F238E27FC236}">
                <a16:creationId xmlns:a16="http://schemas.microsoft.com/office/drawing/2014/main" id="{52EB00EC-7C73-4A58-AF50-24032F562908}"/>
              </a:ext>
            </a:extLst>
          </p:cNvPr>
          <p:cNvSpPr>
            <a:spLocks noGrp="1"/>
          </p:cNvSpPr>
          <p:nvPr/>
        </p:nvSpPr>
        <p:spPr>
          <a:xfrm>
            <a:off x="857250" y="3007176"/>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lang="en-US" sz="2000" b="0" dirty="0" err="1">
                <a:solidFill>
                  <a:srgbClr val="55707F"/>
                </a:solidFill>
                <a:latin typeface="Aptos"/>
                <a:ea typeface="Aptos"/>
                <a:cs typeface="Aptos"/>
              </a:rPr>
              <a:t>Mẫu</a:t>
            </a:r>
            <a:r>
              <a:rPr sz="2000" b="0" dirty="0">
                <a:solidFill>
                  <a:srgbClr val="55707F"/>
                </a:solidFill>
                <a:latin typeface="Aptos"/>
                <a:ea typeface="Aptos"/>
                <a:cs typeface="Aptos"/>
              </a:rPr>
              <a:t> </a:t>
            </a:r>
            <a:r>
              <a:rPr sz="2000" b="0" dirty="0" err="1">
                <a:solidFill>
                  <a:srgbClr val="55707F"/>
                </a:solidFill>
                <a:latin typeface="Aptos"/>
                <a:ea typeface="Aptos"/>
                <a:cs typeface="Aptos"/>
              </a:rPr>
              <a:t>sản</a:t>
            </a:r>
            <a:r>
              <a:rPr sz="2000" b="0" dirty="0">
                <a:solidFill>
                  <a:srgbClr val="55707F"/>
                </a:solidFill>
                <a:latin typeface="Aptos"/>
                <a:ea typeface="Aptos"/>
                <a:cs typeface="Aptos"/>
              </a:rPr>
              <a:t> </a:t>
            </a:r>
            <a:r>
              <a:rPr sz="2000" b="0" dirty="0" err="1">
                <a:solidFill>
                  <a:srgbClr val="55707F"/>
                </a:solidFill>
                <a:latin typeface="Aptos"/>
                <a:ea typeface="Aptos"/>
                <a:cs typeface="Aptos"/>
              </a:rPr>
              <a:t>phẩm</a:t>
            </a:r>
            <a:endParaRPr sz="2000" b="0" dirty="0">
              <a:solidFill>
                <a:srgbClr val="55707F"/>
              </a:solidFill>
              <a:latin typeface="Aptos"/>
              <a:ea typeface="Aptos"/>
              <a:cs typeface="Aptos"/>
            </a:endParaRPr>
          </a:p>
        </p:txBody>
      </p:sp>
      <p:sp>
        <p:nvSpPr>
          <p:cNvPr id="7" name="Rectangle 6">
            <a:extLst>
              <a:ext uri="{FF2B5EF4-FFF2-40B4-BE49-F238E27FC236}">
                <a16:creationId xmlns:a16="http://schemas.microsoft.com/office/drawing/2014/main" id="{F590D414-E345-4E2A-A80D-15DA4D5518E3}"/>
              </a:ext>
            </a:extLst>
          </p:cNvPr>
          <p:cNvSpPr>
            <a:spLocks noGrp="1"/>
          </p:cNvSpPr>
          <p:nvPr/>
        </p:nvSpPr>
        <p:spPr>
          <a:xfrm>
            <a:off x="3882390" y="2095500"/>
            <a:ext cx="2476500" cy="1047750"/>
          </a:xfrm>
          <a:prstGeom prst="rect">
            <a:avLst/>
          </a:prstGeom>
          <a:noFill/>
          <a:ln w="0">
            <a:noFill/>
          </a:ln>
        </p:spPr>
        <p:txBody>
          <a:bodyPr anchor="ctr">
            <a:normAutofit/>
          </a:bodyPr>
          <a:lstStyle/>
          <a:p>
            <a:pPr algn="ctr">
              <a:defRPr sz="4050" b="1">
                <a:solidFill>
                  <a:srgbClr val="0E5A78"/>
                </a:solidFill>
                <a:latin typeface="Aptos"/>
                <a:ea typeface="Aptos"/>
                <a:cs typeface="Aptos"/>
              </a:defRPr>
            </a:pPr>
            <a:r>
              <a:rPr sz="4050" b="1" dirty="0">
                <a:solidFill>
                  <a:srgbClr val="0E5A78"/>
                </a:solidFill>
                <a:latin typeface="Aptos"/>
                <a:ea typeface="Aptos"/>
                <a:cs typeface="Aptos"/>
              </a:rPr>
              <a:t>100</a:t>
            </a:r>
          </a:p>
        </p:txBody>
      </p:sp>
      <p:sp>
        <p:nvSpPr>
          <p:cNvPr id="8" name="Rectangle 7">
            <a:extLst>
              <a:ext uri="{FF2B5EF4-FFF2-40B4-BE49-F238E27FC236}">
                <a16:creationId xmlns:a16="http://schemas.microsoft.com/office/drawing/2014/main" id="{3209D9F6-3456-49A0-A6E0-3B921B20AD11}"/>
              </a:ext>
            </a:extLst>
          </p:cNvPr>
          <p:cNvSpPr>
            <a:spLocks noGrp="1"/>
          </p:cNvSpPr>
          <p:nvPr/>
        </p:nvSpPr>
        <p:spPr>
          <a:xfrm>
            <a:off x="3679376" y="3105150"/>
            <a:ext cx="279926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lang="en-US" sz="2000" b="0" dirty="0" err="1">
                <a:solidFill>
                  <a:srgbClr val="55707F"/>
                </a:solidFill>
                <a:latin typeface="Aptos"/>
                <a:ea typeface="Aptos"/>
                <a:cs typeface="Aptos"/>
              </a:rPr>
              <a:t>Hình</a:t>
            </a:r>
            <a:r>
              <a:rPr lang="en-US" sz="2000" b="0" dirty="0">
                <a:solidFill>
                  <a:srgbClr val="55707F"/>
                </a:solidFill>
                <a:latin typeface="Aptos"/>
                <a:ea typeface="Aptos"/>
                <a:cs typeface="Aptos"/>
              </a:rPr>
              <a:t> </a:t>
            </a:r>
            <a:r>
              <a:rPr sz="2000" b="0" dirty="0" err="1">
                <a:solidFill>
                  <a:srgbClr val="55707F"/>
                </a:solidFill>
                <a:latin typeface="Aptos"/>
                <a:ea typeface="Aptos"/>
                <a:cs typeface="Aptos"/>
              </a:rPr>
              <a:t>ảnh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thường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mỗi</a:t>
            </a:r>
            <a:r>
              <a:rPr sz="2000" b="0" dirty="0">
                <a:solidFill>
                  <a:srgbClr val="55707F"/>
                </a:solidFill>
                <a:latin typeface="Aptos"/>
                <a:ea typeface="Aptos"/>
                <a:cs typeface="Aptos"/>
              </a:rPr>
              <a:t> </a:t>
            </a:r>
            <a:r>
              <a:rPr lang="en-US" sz="2000" b="0" dirty="0" err="1">
                <a:solidFill>
                  <a:srgbClr val="55707F"/>
                </a:solidFill>
                <a:latin typeface="Aptos"/>
                <a:ea typeface="Aptos"/>
                <a:cs typeface="Aptos"/>
              </a:rPr>
              <a:t>mẫu</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sản</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phẩm</a:t>
            </a:r>
            <a:endParaRPr sz="2000" b="0" dirty="0">
              <a:solidFill>
                <a:srgbClr val="55707F"/>
              </a:solidFill>
              <a:latin typeface="Aptos"/>
              <a:ea typeface="Aptos"/>
              <a:cs typeface="Aptos"/>
            </a:endParaRPr>
          </a:p>
        </p:txBody>
      </p:sp>
      <p:sp>
        <p:nvSpPr>
          <p:cNvPr id="9" name="Rectangle 8">
            <a:extLst>
              <a:ext uri="{FF2B5EF4-FFF2-40B4-BE49-F238E27FC236}">
                <a16:creationId xmlns:a16="http://schemas.microsoft.com/office/drawing/2014/main" id="{3D7BDE45-0AD7-4900-AA56-B9056D943C18}"/>
              </a:ext>
            </a:extLst>
          </p:cNvPr>
          <p:cNvSpPr>
            <a:spLocks noGrp="1"/>
          </p:cNvSpPr>
          <p:nvPr/>
        </p:nvSpPr>
        <p:spPr>
          <a:xfrm>
            <a:off x="7547610" y="2095500"/>
            <a:ext cx="2476500" cy="1047750"/>
          </a:xfrm>
          <a:prstGeom prst="rect">
            <a:avLst/>
          </a:prstGeom>
          <a:noFill/>
          <a:ln w="0">
            <a:noFill/>
          </a:ln>
        </p:spPr>
        <p:txBody>
          <a:bodyPr anchor="ctr">
            <a:normAutofit/>
          </a:bodyPr>
          <a:lstStyle/>
          <a:p>
            <a:pPr algn="ctr">
              <a:defRPr sz="4050" b="1">
                <a:solidFill>
                  <a:srgbClr val="E3A72F"/>
                </a:solidFill>
                <a:latin typeface="Aptos"/>
                <a:ea typeface="Aptos"/>
                <a:cs typeface="Aptos"/>
              </a:defRPr>
            </a:pPr>
            <a:r>
              <a:rPr sz="4050" b="1" dirty="0">
                <a:solidFill>
                  <a:srgbClr val="E3A72F"/>
                </a:solidFill>
                <a:latin typeface="Aptos"/>
                <a:ea typeface="Aptos"/>
                <a:cs typeface="Aptos"/>
              </a:rPr>
              <a:t>30–53</a:t>
            </a:r>
          </a:p>
        </p:txBody>
      </p:sp>
      <p:sp>
        <p:nvSpPr>
          <p:cNvPr id="10" name="Rectangle 9">
            <a:extLst>
              <a:ext uri="{FF2B5EF4-FFF2-40B4-BE49-F238E27FC236}">
                <a16:creationId xmlns:a16="http://schemas.microsoft.com/office/drawing/2014/main" id="{6C50F796-14DF-49E7-95B0-6CD5A76F5E68}"/>
              </a:ext>
            </a:extLst>
          </p:cNvPr>
          <p:cNvSpPr>
            <a:spLocks noGrp="1"/>
          </p:cNvSpPr>
          <p:nvPr/>
        </p:nvSpPr>
        <p:spPr>
          <a:xfrm>
            <a:off x="7471408" y="3105150"/>
            <a:ext cx="2957104"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lang="en-US" sz="2000" b="0" dirty="0" err="1">
                <a:solidFill>
                  <a:srgbClr val="55707F"/>
                </a:solidFill>
                <a:latin typeface="Aptos"/>
                <a:ea typeface="Aptos"/>
                <a:cs typeface="Aptos"/>
              </a:rPr>
              <a:t>Hình</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ảnh</a:t>
            </a:r>
            <a:r>
              <a:rPr lang="en-US" sz="2000" b="0" dirty="0">
                <a:solidFill>
                  <a:srgbClr val="55707F"/>
                </a:solidFill>
                <a:latin typeface="Aptos"/>
                <a:ea typeface="Aptos"/>
                <a:cs typeface="Aptos"/>
              </a:rPr>
              <a:t> </a:t>
            </a:r>
            <a:r>
              <a:rPr sz="2000" b="0" dirty="0" err="1">
                <a:solidFill>
                  <a:srgbClr val="55707F"/>
                </a:solidFill>
                <a:latin typeface="Aptos"/>
                <a:ea typeface="Aptos"/>
                <a:cs typeface="Aptos"/>
              </a:rPr>
              <a:t>lỗi</a:t>
            </a:r>
            <a:r>
              <a:rPr sz="2000" b="0" dirty="0">
                <a:solidFill>
                  <a:srgbClr val="55707F"/>
                </a:solidFill>
                <a:latin typeface="Aptos"/>
                <a:ea typeface="Aptos"/>
                <a:cs typeface="Aptos"/>
              </a:rPr>
              <a:t> </a:t>
            </a:r>
            <a:r>
              <a:rPr sz="2000" b="0" dirty="0" err="1">
                <a:solidFill>
                  <a:srgbClr val="55707F"/>
                </a:solidFill>
                <a:latin typeface="Aptos"/>
                <a:ea typeface="Aptos"/>
                <a:cs typeface="Aptos"/>
              </a:rPr>
              <a:t>chỉ</a:t>
            </a:r>
            <a:r>
              <a:rPr sz="2000" b="0" dirty="0">
                <a:solidFill>
                  <a:srgbClr val="55707F"/>
                </a:solidFill>
                <a:latin typeface="Aptos"/>
                <a:ea typeface="Aptos"/>
                <a:cs typeface="Aptos"/>
              </a:rPr>
              <a:t> </a:t>
            </a:r>
            <a:r>
              <a:rPr sz="2000" b="0" dirty="0" err="1">
                <a:solidFill>
                  <a:srgbClr val="55707F"/>
                </a:solidFill>
                <a:latin typeface="Aptos"/>
                <a:ea typeface="Aptos"/>
                <a:cs typeface="Aptos"/>
              </a:rPr>
              <a:t>dùng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đánh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giá</a:t>
            </a:r>
            <a:r>
              <a:rPr lang="en-US" sz="2000" b="0" dirty="0">
                <a:solidFill>
                  <a:srgbClr val="55707F"/>
                </a:solidFill>
                <a:latin typeface="Aptos"/>
                <a:ea typeface="Aptos"/>
                <a:cs typeface="Aptos"/>
              </a:rPr>
              <a:t> </a:t>
            </a:r>
            <a:r>
              <a:rPr lang="en-US" sz="2000" b="0" dirty="0" err="1">
                <a:solidFill>
                  <a:srgbClr val="55707F"/>
                </a:solidFill>
                <a:latin typeface="Aptos"/>
                <a:ea typeface="Aptos"/>
                <a:cs typeface="Aptos"/>
              </a:rPr>
              <a:t>cho</a:t>
            </a:r>
            <a:r>
              <a:rPr lang="en-US" sz="2000" dirty="0">
                <a:solidFill>
                  <a:srgbClr val="55707F"/>
                </a:solidFill>
                <a:latin typeface="Aptos"/>
                <a:ea typeface="Aptos"/>
                <a:cs typeface="Aptos"/>
              </a:rPr>
              <a:t> </a:t>
            </a:r>
            <a:r>
              <a:rPr lang="en-US" sz="2000" dirty="0" err="1">
                <a:solidFill>
                  <a:srgbClr val="55707F"/>
                </a:solidFill>
                <a:latin typeface="Aptos"/>
                <a:ea typeface="Aptos"/>
                <a:cs typeface="Aptos"/>
              </a:rPr>
              <a:t>mẫu</a:t>
            </a:r>
            <a:r>
              <a:rPr lang="en-US" sz="2000" dirty="0">
                <a:solidFill>
                  <a:srgbClr val="55707F"/>
                </a:solidFill>
                <a:latin typeface="Aptos"/>
                <a:ea typeface="Aptos"/>
                <a:cs typeface="Aptos"/>
              </a:rPr>
              <a:t> </a:t>
            </a:r>
            <a:r>
              <a:rPr lang="en-US" sz="2000" dirty="0" err="1">
                <a:solidFill>
                  <a:srgbClr val="55707F"/>
                </a:solidFill>
                <a:latin typeface="Aptos"/>
                <a:ea typeface="Aptos"/>
                <a:cs typeface="Aptos"/>
              </a:rPr>
              <a:t>sản</a:t>
            </a:r>
            <a:r>
              <a:rPr lang="en-US" sz="2000" dirty="0">
                <a:solidFill>
                  <a:srgbClr val="55707F"/>
                </a:solidFill>
                <a:latin typeface="Aptos"/>
                <a:ea typeface="Aptos"/>
                <a:cs typeface="Aptos"/>
              </a:rPr>
              <a:t> </a:t>
            </a:r>
            <a:r>
              <a:rPr lang="en-US" sz="2000" dirty="0" err="1">
                <a:solidFill>
                  <a:srgbClr val="55707F"/>
                </a:solidFill>
                <a:latin typeface="Aptos"/>
                <a:ea typeface="Aptos"/>
                <a:cs typeface="Aptos"/>
              </a:rPr>
              <a:t>phẩm</a:t>
            </a:r>
            <a:endParaRPr lang="en-US" sz="2000" dirty="0">
              <a:solidFill>
                <a:srgbClr val="55707F"/>
              </a:solidFill>
              <a:latin typeface="Aptos"/>
              <a:ea typeface="Aptos"/>
              <a:cs typeface="Aptos"/>
            </a:endParaRPr>
          </a:p>
        </p:txBody>
      </p:sp>
      <p:sp>
        <p:nvSpPr>
          <p:cNvPr id="11" name="Rectangle 10">
            <a:extLst>
              <a:ext uri="{FF2B5EF4-FFF2-40B4-BE49-F238E27FC236}">
                <a16:creationId xmlns:a16="http://schemas.microsoft.com/office/drawing/2014/main" id="{EAEEC621-7815-4BA4-9904-B1769434A215}"/>
              </a:ext>
            </a:extLst>
          </p:cNvPr>
          <p:cNvSpPr>
            <a:spLocks noGrp="1"/>
          </p:cNvSpPr>
          <p:nvPr/>
        </p:nvSpPr>
        <p:spPr>
          <a:xfrm>
            <a:off x="800100" y="4572000"/>
            <a:ext cx="2476500" cy="361950"/>
          </a:xfrm>
          <a:prstGeom prst="rect">
            <a:avLst/>
          </a:prstGeom>
          <a:noFill/>
          <a:ln w="0">
            <a:noFill/>
          </a:ln>
        </p:spPr>
        <p:txBody>
          <a:bodyPr anchor="ctr">
            <a:noAutofit/>
          </a:bodyPr>
          <a:lstStyle/>
          <a:p>
            <a:pPr algn="l">
              <a:defRPr sz="1650" b="1">
                <a:solidFill>
                  <a:srgbClr val="0B1F33"/>
                </a:solidFill>
                <a:latin typeface="Aptos"/>
                <a:ea typeface="Aptos"/>
                <a:cs typeface="Aptos"/>
              </a:defRPr>
            </a:pPr>
            <a:r>
              <a:rPr sz="2000" b="1" dirty="0">
                <a:solidFill>
                  <a:srgbClr val="0B1F33"/>
                </a:solidFill>
                <a:latin typeface="Aptos"/>
                <a:ea typeface="Aptos"/>
                <a:cs typeface="Aptos"/>
              </a:rPr>
              <a:t>Hai </a:t>
            </a:r>
            <a:r>
              <a:rPr sz="2000" b="1" dirty="0" err="1">
                <a:solidFill>
                  <a:srgbClr val="0B1F33"/>
                </a:solidFill>
                <a:latin typeface="Aptos"/>
                <a:ea typeface="Aptos"/>
                <a:cs typeface="Aptos"/>
              </a:rPr>
              <a:t>nhiệm</a:t>
            </a:r>
            <a:r>
              <a:rPr sz="2000" b="1" dirty="0">
                <a:solidFill>
                  <a:srgbClr val="0B1F33"/>
                </a:solidFill>
                <a:latin typeface="Aptos"/>
                <a:ea typeface="Aptos"/>
                <a:cs typeface="Aptos"/>
              </a:rPr>
              <a:t> </a:t>
            </a:r>
            <a:r>
              <a:rPr sz="2000" b="1" dirty="0" err="1">
                <a:solidFill>
                  <a:srgbClr val="0B1F33"/>
                </a:solidFill>
                <a:latin typeface="Aptos"/>
                <a:ea typeface="Aptos"/>
                <a:cs typeface="Aptos"/>
              </a:rPr>
              <a:t>vụ</a:t>
            </a:r>
            <a:endParaRPr sz="2000" b="1" dirty="0">
              <a:solidFill>
                <a:srgbClr val="0B1F33"/>
              </a:solidFill>
              <a:latin typeface="Aptos"/>
              <a:ea typeface="Aptos"/>
              <a:cs typeface="Aptos"/>
            </a:endParaRPr>
          </a:p>
        </p:txBody>
      </p:sp>
      <p:sp>
        <p:nvSpPr>
          <p:cNvPr id="12" name="Rectangle 11">
            <a:extLst>
              <a:ext uri="{FF2B5EF4-FFF2-40B4-BE49-F238E27FC236}">
                <a16:creationId xmlns:a16="http://schemas.microsoft.com/office/drawing/2014/main" id="{B4C8C2AA-8C66-49F7-A7C1-1843910DFFEF}"/>
              </a:ext>
            </a:extLst>
          </p:cNvPr>
          <p:cNvSpPr>
            <a:spLocks noGrp="1"/>
          </p:cNvSpPr>
          <p:nvPr/>
        </p:nvSpPr>
        <p:spPr>
          <a:xfrm>
            <a:off x="800100" y="4972050"/>
            <a:ext cx="8572500" cy="800100"/>
          </a:xfrm>
          <a:prstGeom prst="rect">
            <a:avLst/>
          </a:prstGeom>
          <a:noFill/>
          <a:ln w="0">
            <a:noFill/>
          </a:ln>
        </p:spPr>
        <p:txBody>
          <a:bodyPr anchor="ctr">
            <a:normAutofit/>
          </a:bodyPr>
          <a:lstStyle/>
          <a:p>
            <a:pPr algn="l">
              <a:defRPr sz="1725" b="0">
                <a:solidFill>
                  <a:srgbClr val="172B3A"/>
                </a:solidFill>
                <a:latin typeface="Aptos"/>
                <a:ea typeface="Aptos"/>
                <a:cs typeface="Aptos"/>
              </a:defRPr>
            </a:pPr>
            <a:r>
              <a:rPr lang="en-US" sz="2000" b="0" dirty="0">
                <a:solidFill>
                  <a:srgbClr val="172B3A"/>
                </a:solidFill>
                <a:latin typeface="Aptos"/>
                <a:ea typeface="Aptos"/>
                <a:cs typeface="Aptos"/>
              </a:rPr>
              <a:t>1. </a:t>
            </a:r>
            <a:r>
              <a:rPr sz="2000" b="0" dirty="0" err="1">
                <a:solidFill>
                  <a:srgbClr val="172B3A"/>
                </a:solidFill>
                <a:latin typeface="Aptos"/>
                <a:ea typeface="Aptos"/>
                <a:cs typeface="Aptos"/>
              </a:rPr>
              <a:t>Phân</a:t>
            </a:r>
            <a:r>
              <a:rPr sz="2000" b="0" dirty="0">
                <a:solidFill>
                  <a:srgbClr val="172B3A"/>
                </a:solidFill>
                <a:latin typeface="Aptos"/>
                <a:ea typeface="Aptos"/>
                <a:cs typeface="Aptos"/>
              </a:rPr>
              <a:t> </a:t>
            </a:r>
            <a:r>
              <a:rPr sz="2000" b="0" dirty="0" err="1">
                <a:solidFill>
                  <a:srgbClr val="172B3A"/>
                </a:solidFill>
                <a:latin typeface="Aptos"/>
                <a:ea typeface="Aptos"/>
                <a:cs typeface="Aptos"/>
              </a:rPr>
              <a:t>loại</a:t>
            </a:r>
            <a:r>
              <a:rPr sz="2000" b="0" dirty="0">
                <a:solidFill>
                  <a:srgbClr val="172B3A"/>
                </a:solidFill>
                <a:latin typeface="Aptos"/>
                <a:ea typeface="Aptos"/>
                <a:cs typeface="Aptos"/>
              </a:rPr>
              <a:t> </a:t>
            </a:r>
            <a:r>
              <a:rPr sz="2000" b="0" dirty="0" err="1">
                <a:solidFill>
                  <a:srgbClr val="172B3A"/>
                </a:solidFill>
                <a:latin typeface="Aptos"/>
                <a:ea typeface="Aptos"/>
                <a:cs typeface="Aptos"/>
              </a:rPr>
              <a:t>ảnh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bình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thường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hoặc</a:t>
            </a:r>
            <a:r>
              <a:rPr sz="2000" b="0" dirty="0">
                <a:solidFill>
                  <a:srgbClr val="172B3A"/>
                </a:solidFill>
                <a:latin typeface="Aptos"/>
                <a:ea typeface="Aptos"/>
                <a:cs typeface="Aptos"/>
              </a:rPr>
              <a:t> </a:t>
            </a:r>
            <a:r>
              <a:rPr sz="2000" b="0" dirty="0" err="1">
                <a:solidFill>
                  <a:srgbClr val="172B3A"/>
                </a:solidFill>
                <a:latin typeface="Aptos"/>
                <a:ea typeface="Aptos"/>
                <a:cs typeface="Aptos"/>
              </a:rPr>
              <a:t>bất</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thường</a:t>
            </a:r>
            <a:r>
              <a:rPr lang="en-US" sz="2000" b="0" dirty="0">
                <a:solidFill>
                  <a:srgbClr val="172B3A"/>
                </a:solidFill>
                <a:latin typeface="Aptos"/>
                <a:ea typeface="Aptos"/>
                <a:cs typeface="Aptos"/>
              </a:rPr>
              <a:t>.</a:t>
            </a:r>
            <a:endParaRPr sz="2000" b="0" dirty="0">
              <a:solidFill>
                <a:srgbClr val="172B3A"/>
              </a:solidFill>
              <a:latin typeface="Aptos"/>
              <a:ea typeface="Aptos"/>
              <a:cs typeface="Aptos"/>
            </a:endParaRPr>
          </a:p>
          <a:p>
            <a:pPr algn="l">
              <a:defRPr sz="1725" b="0">
                <a:solidFill>
                  <a:srgbClr val="172B3A"/>
                </a:solidFill>
                <a:latin typeface="Aptos"/>
                <a:ea typeface="Aptos"/>
                <a:cs typeface="Aptos"/>
              </a:defRPr>
            </a:pPr>
            <a:r>
              <a:rPr lang="en-US" sz="2000" b="0" dirty="0">
                <a:solidFill>
                  <a:srgbClr val="172B3A"/>
                </a:solidFill>
                <a:latin typeface="Aptos"/>
                <a:ea typeface="Aptos"/>
                <a:cs typeface="Aptos"/>
              </a:rPr>
              <a:t>2. </a:t>
            </a:r>
            <a:r>
              <a:rPr sz="2000" b="0" dirty="0" err="1">
                <a:solidFill>
                  <a:srgbClr val="172B3A"/>
                </a:solidFill>
                <a:latin typeface="Aptos"/>
                <a:ea typeface="Aptos"/>
                <a:cs typeface="Aptos"/>
              </a:rPr>
              <a:t>Định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vị</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vùng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lỗi</a:t>
            </a:r>
            <a:r>
              <a:rPr sz="2000" b="0" dirty="0">
                <a:solidFill>
                  <a:srgbClr val="172B3A"/>
                </a:solidFill>
                <a:latin typeface="Aptos"/>
                <a:ea typeface="Aptos"/>
                <a:cs typeface="Aptos"/>
              </a:rPr>
              <a:t> </a:t>
            </a:r>
            <a:r>
              <a:rPr sz="2000" b="0" dirty="0" err="1">
                <a:solidFill>
                  <a:srgbClr val="172B3A"/>
                </a:solidFill>
                <a:latin typeface="Aptos"/>
                <a:ea typeface="Aptos"/>
                <a:cs typeface="Aptos"/>
              </a:rPr>
              <a:t>trên</a:t>
            </a:r>
            <a:r>
              <a:rPr sz="2000" b="0" dirty="0">
                <a:solidFill>
                  <a:srgbClr val="172B3A"/>
                </a:solidFill>
                <a:latin typeface="Aptos"/>
                <a:ea typeface="Aptos"/>
                <a:cs typeface="Aptos"/>
              </a:rPr>
              <a:t> </a:t>
            </a:r>
            <a:r>
              <a:rPr sz="2000" b="0" dirty="0" err="1">
                <a:solidFill>
                  <a:srgbClr val="172B3A"/>
                </a:solidFill>
                <a:latin typeface="Aptos"/>
                <a:ea typeface="Aptos"/>
                <a:cs typeface="Aptos"/>
              </a:rPr>
              <a:t>ảnh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bất</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thường</a:t>
            </a:r>
            <a:endParaRPr sz="2000" b="0" dirty="0">
              <a:solidFill>
                <a:srgbClr val="172B3A"/>
              </a:solidFill>
              <a:latin typeface="Aptos"/>
              <a:ea typeface="Aptos"/>
              <a:cs typeface="Aptos"/>
            </a:endParaRPr>
          </a:p>
        </p:txBody>
      </p:sp>
      <p:pic>
        <p:nvPicPr>
          <p:cNvPr id="16" name="Picture 15"/>
          <p:cNvPicPr>
            <a:picLocks noChangeAspect="1"/>
          </p:cNvPicPr>
          <p:nvPr/>
        </p:nvPicPr>
        <p:blipFill>
          <a:blip r:embed="rId3"/>
          <a:stretch>
            <a:fillRect/>
          </a:stretch>
        </p:blipFill>
        <p:spPr>
          <a:xfrm>
            <a:off x="582927" y="650830"/>
            <a:ext cx="895350" cy="771525"/>
          </a:xfrm>
          <a:prstGeom prst="rect">
            <a:avLst/>
          </a:prstGeom>
        </p:spPr>
      </p:pic>
    </p:spTree>
    <p:extLst>
      <p:ext uri="{BB962C8B-B14F-4D97-AF65-F5344CB8AC3E}">
        <p14:creationId xmlns:p14="http://schemas.microsoft.com/office/powerpoint/2010/main" val="7800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5139C48-0F44-4B46-AD46-97187541E0FF}"/>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9CCB3453-24BB-42E2-9756-A3F87F18E986}"/>
              </a:ext>
            </a:extLst>
          </p:cNvPr>
          <p:cNvSpPr>
            <a:spLocks noGrp="1"/>
          </p:cNvSpPr>
          <p:nvPr/>
        </p:nvSpPr>
        <p:spPr>
          <a:xfrm>
            <a:off x="1432560" y="361950"/>
            <a:ext cx="984504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Lựa</a:t>
            </a:r>
            <a:r>
              <a:rPr sz="2550" b="1" dirty="0">
                <a:solidFill>
                  <a:srgbClr val="0B1F33"/>
                </a:solidFill>
                <a:latin typeface="Aptos"/>
                <a:ea typeface="Aptos"/>
                <a:cs typeface="Aptos"/>
              </a:rPr>
              <a:t> </a:t>
            </a:r>
            <a:r>
              <a:rPr sz="2550" b="1" dirty="0" err="1">
                <a:solidFill>
                  <a:srgbClr val="0B1F33"/>
                </a:solidFill>
                <a:latin typeface="Aptos"/>
                <a:ea typeface="Aptos"/>
                <a:cs typeface="Aptos"/>
              </a:rPr>
              <a:t>chọn</a:t>
            </a:r>
            <a:r>
              <a:rPr sz="2550" b="1" dirty="0">
                <a:solidFill>
                  <a:srgbClr val="0B1F33"/>
                </a:solidFill>
                <a:latin typeface="Aptos"/>
                <a:ea typeface="Aptos"/>
                <a:cs typeface="Aptos"/>
              </a:rPr>
              <a:t> </a:t>
            </a:r>
            <a:r>
              <a:rPr sz="2550" b="1" dirty="0" err="1">
                <a:solidFill>
                  <a:srgbClr val="0B1F33"/>
                </a:solidFill>
                <a:latin typeface="Aptos"/>
                <a:ea typeface="Aptos"/>
                <a:cs typeface="Aptos"/>
              </a:rPr>
              <a:t>phương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pháp</a:t>
            </a:r>
            <a:endParaRPr sz="2550" b="1" dirty="0">
              <a:solidFill>
                <a:srgbClr val="0B1F33"/>
              </a:solidFill>
              <a:latin typeface="Aptos"/>
              <a:ea typeface="Aptos"/>
              <a:cs typeface="Aptos"/>
            </a:endParaRPr>
          </a:p>
        </p:txBody>
      </p:sp>
      <p:sp>
        <p:nvSpPr>
          <p:cNvPr id="3" name="Rectangle 2">
            <a:extLst>
              <a:ext uri="{FF2B5EF4-FFF2-40B4-BE49-F238E27FC236}">
                <a16:creationId xmlns:a16="http://schemas.microsoft.com/office/drawing/2014/main" id="{18444510-2C0A-405C-9084-A98AC19081A9}"/>
              </a:ext>
            </a:extLst>
          </p:cNvPr>
          <p:cNvSpPr>
            <a:spLocks noGrp="1"/>
          </p:cNvSpPr>
          <p:nvPr/>
        </p:nvSpPr>
        <p:spPr>
          <a:xfrm>
            <a:off x="1432560" y="853439"/>
            <a:ext cx="9864090" cy="339092"/>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err="1">
                <a:solidFill>
                  <a:srgbClr val="55707F"/>
                </a:solidFill>
                <a:latin typeface="Aptos"/>
                <a:ea typeface="Aptos"/>
                <a:cs typeface="Aptos"/>
              </a:rPr>
              <a:t>PatchCore</a:t>
            </a:r>
            <a:r>
              <a:rPr sz="2000" b="0" dirty="0">
                <a:solidFill>
                  <a:srgbClr val="55707F"/>
                </a:solidFill>
                <a:latin typeface="Aptos"/>
                <a:ea typeface="Aptos"/>
                <a:cs typeface="Aptos"/>
              </a:rPr>
              <a:t> </a:t>
            </a:r>
            <a:r>
              <a:rPr sz="2000" b="0" dirty="0" err="1">
                <a:solidFill>
                  <a:srgbClr val="55707F"/>
                </a:solidFill>
                <a:latin typeface="Aptos"/>
                <a:ea typeface="Aptos"/>
                <a:cs typeface="Aptos"/>
              </a:rPr>
              <a:t>phù</a:t>
            </a:r>
            <a:r>
              <a:rPr sz="2000" b="0" dirty="0">
                <a:solidFill>
                  <a:srgbClr val="55707F"/>
                </a:solidFill>
                <a:latin typeface="Aptos"/>
                <a:ea typeface="Aptos"/>
                <a:cs typeface="Aptos"/>
              </a:rPr>
              <a:t> </a:t>
            </a:r>
            <a:r>
              <a:rPr sz="2000" b="0" dirty="0" err="1">
                <a:solidFill>
                  <a:srgbClr val="55707F"/>
                </a:solidFill>
                <a:latin typeface="Aptos"/>
                <a:ea typeface="Aptos"/>
                <a:cs typeface="Aptos"/>
              </a:rPr>
              <a:t>hợp</a:t>
            </a:r>
            <a:r>
              <a:rPr sz="2000" b="0" dirty="0">
                <a:solidFill>
                  <a:srgbClr val="55707F"/>
                </a:solidFill>
                <a:latin typeface="Aptos"/>
                <a:ea typeface="Aptos"/>
                <a:cs typeface="Aptos"/>
              </a:rPr>
              <a:t> </a:t>
            </a:r>
            <a:r>
              <a:rPr sz="2000" b="0" dirty="0" err="1">
                <a:solidFill>
                  <a:srgbClr val="55707F"/>
                </a:solidFill>
                <a:latin typeface="Aptos"/>
                <a:ea typeface="Aptos"/>
                <a:cs typeface="Aptos"/>
              </a:rPr>
              <a:t>với</a:t>
            </a:r>
            <a:r>
              <a:rPr sz="2000" b="0" dirty="0">
                <a:solidFill>
                  <a:srgbClr val="55707F"/>
                </a:solidFill>
                <a:latin typeface="Aptos"/>
                <a:ea typeface="Aptos"/>
                <a:cs typeface="Aptos"/>
              </a:rPr>
              <a:t> </a:t>
            </a:r>
            <a:r>
              <a:rPr sz="2000" b="0" dirty="0" err="1">
                <a:solidFill>
                  <a:srgbClr val="55707F"/>
                </a:solidFill>
                <a:latin typeface="Aptos"/>
                <a:ea typeface="Aptos"/>
                <a:cs typeface="Aptos"/>
              </a:rPr>
              <a:t>ngân</a:t>
            </a:r>
            <a:r>
              <a:rPr sz="2000" b="0" dirty="0">
                <a:solidFill>
                  <a:srgbClr val="55707F"/>
                </a:solidFill>
                <a:latin typeface="Aptos"/>
                <a:ea typeface="Aptos"/>
                <a:cs typeface="Aptos"/>
              </a:rPr>
              <a:t> </a:t>
            </a:r>
            <a:r>
              <a:rPr sz="2000" b="0" dirty="0" err="1">
                <a:solidFill>
                  <a:srgbClr val="55707F"/>
                </a:solidFill>
                <a:latin typeface="Aptos"/>
                <a:ea typeface="Aptos"/>
                <a:cs typeface="Aptos"/>
              </a:rPr>
              <a:t>sách</a:t>
            </a:r>
            <a:r>
              <a:rPr sz="2000" b="0" dirty="0">
                <a:solidFill>
                  <a:srgbClr val="55707F"/>
                </a:solidFill>
                <a:latin typeface="Aptos"/>
                <a:ea typeface="Aptos"/>
                <a:cs typeface="Aptos"/>
              </a:rPr>
              <a:t> 80 </a:t>
            </a:r>
            <a:r>
              <a:rPr sz="2000" b="0" dirty="0" err="1">
                <a:solidFill>
                  <a:srgbClr val="55707F"/>
                </a:solidFill>
                <a:latin typeface="Aptos"/>
                <a:ea typeface="Aptos"/>
                <a:cs typeface="Aptos"/>
              </a:rPr>
              <a:t>ảnh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huấn</a:t>
            </a:r>
            <a:r>
              <a:rPr sz="2000" b="0" dirty="0">
                <a:solidFill>
                  <a:srgbClr val="55707F"/>
                </a:solidFill>
                <a:latin typeface="Aptos"/>
                <a:ea typeface="Aptos"/>
                <a:cs typeface="Aptos"/>
              </a:rPr>
              <a:t> </a:t>
            </a:r>
            <a:r>
              <a:rPr sz="2000" b="0" dirty="0" err="1">
                <a:solidFill>
                  <a:srgbClr val="55707F"/>
                </a:solidFill>
                <a:latin typeface="Aptos"/>
                <a:ea typeface="Aptos"/>
                <a:cs typeface="Aptos"/>
              </a:rPr>
              <a:t>luyện</a:t>
            </a:r>
            <a:r>
              <a:rPr sz="2000" b="0" dirty="0">
                <a:solidFill>
                  <a:srgbClr val="55707F"/>
                </a:solidFill>
                <a:latin typeface="Aptos"/>
                <a:ea typeface="Aptos"/>
                <a:cs typeface="Aptos"/>
              </a:rPr>
              <a:t> </a:t>
            </a:r>
            <a:r>
              <a:rPr sz="2000" b="0" dirty="0" err="1">
                <a:solidFill>
                  <a:srgbClr val="55707F"/>
                </a:solidFill>
                <a:latin typeface="Aptos"/>
                <a:ea typeface="Aptos"/>
                <a:cs typeface="Aptos"/>
              </a:rPr>
              <a:t>mỗi</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lớp</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02E8DCE7-C449-4EDF-9C09-2C2AF23EA525}"/>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03</a:t>
            </a:r>
          </a:p>
        </p:txBody>
      </p:sp>
      <p:sp>
        <p:nvSpPr>
          <p:cNvPr id="5" name="Rectangle 4">
            <a:extLst>
              <a:ext uri="{FF2B5EF4-FFF2-40B4-BE49-F238E27FC236}">
                <a16:creationId xmlns:a16="http://schemas.microsoft.com/office/drawing/2014/main" id="{A250EAE9-6A86-49C1-9E87-B104700B4539}"/>
              </a:ext>
            </a:extLst>
          </p:cNvPr>
          <p:cNvSpPr>
            <a:spLocks noGrp="1"/>
          </p:cNvSpPr>
          <p:nvPr/>
        </p:nvSpPr>
        <p:spPr>
          <a:xfrm>
            <a:off x="857250" y="1809750"/>
            <a:ext cx="3143250" cy="704850"/>
          </a:xfrm>
          <a:prstGeom prst="rect">
            <a:avLst/>
          </a:prstGeom>
          <a:noFill/>
          <a:ln w="0">
            <a:noFill/>
          </a:ln>
        </p:spPr>
        <p:txBody>
          <a:bodyPr anchor="ctr">
            <a:normAutofit/>
          </a:bodyPr>
          <a:lstStyle/>
          <a:p>
            <a:pPr algn="l">
              <a:defRPr sz="2850" b="1">
                <a:solidFill>
                  <a:srgbClr val="18A999"/>
                </a:solidFill>
                <a:latin typeface="Aptos"/>
                <a:ea typeface="Aptos"/>
                <a:cs typeface="Aptos"/>
              </a:defRPr>
            </a:pPr>
            <a:r>
              <a:rPr sz="2850" b="1" dirty="0" err="1">
                <a:solidFill>
                  <a:srgbClr val="18A999"/>
                </a:solidFill>
                <a:latin typeface="Aptos"/>
                <a:ea typeface="Aptos"/>
                <a:cs typeface="Aptos"/>
              </a:rPr>
              <a:t>PatchCore</a:t>
            </a:r>
            <a:endParaRPr sz="2850" b="1" dirty="0">
              <a:solidFill>
                <a:srgbClr val="18A999"/>
              </a:solidFill>
              <a:latin typeface="Aptos"/>
              <a:ea typeface="Aptos"/>
              <a:cs typeface="Aptos"/>
            </a:endParaRPr>
          </a:p>
        </p:txBody>
      </p:sp>
      <p:sp>
        <p:nvSpPr>
          <p:cNvPr id="6" name="Rectangle 5">
            <a:extLst>
              <a:ext uri="{FF2B5EF4-FFF2-40B4-BE49-F238E27FC236}">
                <a16:creationId xmlns:a16="http://schemas.microsoft.com/office/drawing/2014/main" id="{AD4A9C94-93C6-44DF-855B-0F1208F97046}"/>
              </a:ext>
            </a:extLst>
          </p:cNvPr>
          <p:cNvSpPr>
            <a:spLocks noGrp="1"/>
          </p:cNvSpPr>
          <p:nvPr/>
        </p:nvSpPr>
        <p:spPr>
          <a:xfrm>
            <a:off x="857250" y="2647950"/>
            <a:ext cx="4762500" cy="2381250"/>
          </a:xfrm>
          <a:prstGeom prst="rect">
            <a:avLst/>
          </a:prstGeom>
          <a:noFill/>
          <a:ln w="0">
            <a:noFill/>
          </a:ln>
        </p:spPr>
        <p:txBody>
          <a:bodyPr anchor="ctr">
            <a:normAutofit/>
          </a:bodyPr>
          <a:lstStyle/>
          <a:p>
            <a:pPr algn="l">
              <a:defRPr sz="1650" b="0">
                <a:solidFill>
                  <a:srgbClr val="172B3A"/>
                </a:solidFill>
                <a:latin typeface="Aptos"/>
                <a:ea typeface="Aptos"/>
                <a:cs typeface="Aptos"/>
              </a:defRPr>
            </a:pPr>
            <a:r>
              <a:rPr sz="2000" b="0" dirty="0">
                <a:solidFill>
                  <a:srgbClr val="172B3A"/>
                </a:solidFill>
                <a:latin typeface="Aptos"/>
                <a:ea typeface="Aptos"/>
                <a:cs typeface="Aptos"/>
              </a:rPr>
              <a:t>Backbone WideResNet-50 </a:t>
            </a:r>
            <a:r>
              <a:rPr sz="2000" b="0" dirty="0" err="1">
                <a:solidFill>
                  <a:srgbClr val="172B3A"/>
                </a:solidFill>
                <a:latin typeface="Aptos"/>
                <a:ea typeface="Aptos"/>
                <a:cs typeface="Aptos"/>
              </a:rPr>
              <a:t>đóng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băng</a:t>
            </a:r>
            <a:endParaRPr sz="2000" b="0" dirty="0">
              <a:solidFill>
                <a:srgbClr val="172B3A"/>
              </a:solidFill>
              <a:latin typeface="Aptos"/>
              <a:ea typeface="Aptos"/>
              <a:cs typeface="Aptos"/>
            </a:endParaRPr>
          </a:p>
          <a:p>
            <a:pPr algn="l">
              <a:defRPr sz="1650" b="0">
                <a:solidFill>
                  <a:srgbClr val="172B3A"/>
                </a:solidFill>
                <a:latin typeface="Aptos"/>
                <a:ea typeface="Aptos"/>
                <a:cs typeface="Aptos"/>
              </a:defRPr>
            </a:pPr>
            <a:r>
              <a:rPr sz="2000" b="0" dirty="0" err="1">
                <a:solidFill>
                  <a:srgbClr val="172B3A"/>
                </a:solidFill>
                <a:latin typeface="Aptos"/>
                <a:ea typeface="Aptos"/>
                <a:cs typeface="Aptos"/>
              </a:rPr>
              <a:t>Trích</a:t>
            </a:r>
            <a:r>
              <a:rPr sz="2000" b="0" dirty="0">
                <a:solidFill>
                  <a:srgbClr val="172B3A"/>
                </a:solidFill>
                <a:latin typeface="Aptos"/>
                <a:ea typeface="Aptos"/>
                <a:cs typeface="Aptos"/>
              </a:rPr>
              <a:t> </a:t>
            </a:r>
            <a:r>
              <a:rPr sz="2000" b="0" dirty="0" err="1">
                <a:solidFill>
                  <a:srgbClr val="172B3A"/>
                </a:solidFill>
                <a:latin typeface="Aptos"/>
                <a:ea typeface="Aptos"/>
                <a:cs typeface="Aptos"/>
              </a:rPr>
              <a:t>xuất</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đặc</a:t>
            </a:r>
            <a:r>
              <a:rPr sz="2000" b="0" dirty="0">
                <a:solidFill>
                  <a:srgbClr val="172B3A"/>
                </a:solidFill>
                <a:latin typeface="Aptos"/>
                <a:ea typeface="Aptos"/>
                <a:cs typeface="Aptos"/>
              </a:rPr>
              <a:t> </a:t>
            </a:r>
            <a:r>
              <a:rPr sz="2000" b="0" dirty="0" err="1">
                <a:solidFill>
                  <a:srgbClr val="172B3A"/>
                </a:solidFill>
                <a:latin typeface="Aptos"/>
                <a:ea typeface="Aptos"/>
                <a:cs typeface="Aptos"/>
              </a:rPr>
              <a:t>trưng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theo</a:t>
            </a:r>
            <a:r>
              <a:rPr sz="2000" b="0" dirty="0">
                <a:solidFill>
                  <a:srgbClr val="172B3A"/>
                </a:solidFill>
                <a:latin typeface="Aptos"/>
                <a:ea typeface="Aptos"/>
                <a:cs typeface="Aptos"/>
              </a:rPr>
              <a:t> patch</a:t>
            </a:r>
          </a:p>
          <a:p>
            <a:pPr algn="l">
              <a:defRPr sz="1650" b="0">
                <a:solidFill>
                  <a:srgbClr val="172B3A"/>
                </a:solidFill>
                <a:latin typeface="Aptos"/>
                <a:ea typeface="Aptos"/>
                <a:cs typeface="Aptos"/>
              </a:defRPr>
            </a:pPr>
            <a:r>
              <a:rPr sz="2000" b="0" dirty="0">
                <a:solidFill>
                  <a:srgbClr val="172B3A"/>
                </a:solidFill>
                <a:latin typeface="Aptos"/>
                <a:ea typeface="Aptos"/>
                <a:cs typeface="Aptos"/>
              </a:rPr>
              <a:t>Memory bank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a:t>
            </a:r>
            <a:r>
              <a:rPr sz="2000" b="0" dirty="0" err="1">
                <a:solidFill>
                  <a:srgbClr val="172B3A"/>
                </a:solidFill>
                <a:latin typeface="Aptos"/>
                <a:ea typeface="Aptos"/>
                <a:cs typeface="Aptos"/>
              </a:rPr>
              <a:t>khoảng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cách</a:t>
            </a:r>
            <a:r>
              <a:rPr sz="2000" b="0" dirty="0">
                <a:solidFill>
                  <a:srgbClr val="172B3A"/>
                </a:solidFill>
                <a:latin typeface="Aptos"/>
                <a:ea typeface="Aptos"/>
                <a:cs typeface="Aptos"/>
              </a:rPr>
              <a:t> </a:t>
            </a:r>
            <a:r>
              <a:rPr sz="2000" b="0" dirty="0" err="1">
                <a:solidFill>
                  <a:srgbClr val="172B3A"/>
                </a:solidFill>
                <a:latin typeface="Aptos"/>
                <a:ea typeface="Aptos"/>
                <a:cs typeface="Aptos"/>
              </a:rPr>
              <a:t>láng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giềng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gần</a:t>
            </a:r>
            <a:r>
              <a:rPr sz="2000" b="0" dirty="0">
                <a:solidFill>
                  <a:srgbClr val="172B3A"/>
                </a:solidFill>
                <a:latin typeface="Aptos"/>
                <a:ea typeface="Aptos"/>
                <a:cs typeface="Aptos"/>
              </a:rPr>
              <a:t> </a:t>
            </a:r>
            <a:r>
              <a:rPr sz="2000" b="0" dirty="0" err="1">
                <a:solidFill>
                  <a:srgbClr val="172B3A"/>
                </a:solidFill>
                <a:latin typeface="Aptos"/>
                <a:ea typeface="Aptos"/>
                <a:cs typeface="Aptos"/>
              </a:rPr>
              <a:t>nhất</a:t>
            </a:r>
            <a:endParaRPr sz="2000" b="0" dirty="0">
              <a:solidFill>
                <a:srgbClr val="172B3A"/>
              </a:solidFill>
              <a:latin typeface="Aptos"/>
              <a:ea typeface="Aptos"/>
              <a:cs typeface="Aptos"/>
            </a:endParaRPr>
          </a:p>
          <a:p>
            <a:pPr algn="l">
              <a:defRPr sz="1650" b="0">
                <a:solidFill>
                  <a:srgbClr val="172B3A"/>
                </a:solidFill>
                <a:latin typeface="Aptos"/>
                <a:ea typeface="Aptos"/>
                <a:cs typeface="Aptos"/>
              </a:defRPr>
            </a:pPr>
            <a:r>
              <a:rPr sz="2000" b="0" dirty="0" err="1">
                <a:solidFill>
                  <a:srgbClr val="172B3A"/>
                </a:solidFill>
                <a:latin typeface="Aptos"/>
                <a:ea typeface="Aptos"/>
                <a:cs typeface="Aptos"/>
              </a:rPr>
              <a:t>Không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cần</a:t>
            </a:r>
            <a:r>
              <a:rPr sz="2000" b="0" dirty="0">
                <a:solidFill>
                  <a:srgbClr val="172B3A"/>
                </a:solidFill>
                <a:latin typeface="Aptos"/>
                <a:ea typeface="Aptos"/>
                <a:cs typeface="Aptos"/>
              </a:rPr>
              <a:t> </a:t>
            </a:r>
            <a:r>
              <a:rPr sz="2000" b="0" dirty="0" err="1">
                <a:solidFill>
                  <a:srgbClr val="172B3A"/>
                </a:solidFill>
                <a:latin typeface="Aptos"/>
                <a:ea typeface="Aptos"/>
                <a:cs typeface="Aptos"/>
              </a:rPr>
              <a:t>tối</a:t>
            </a:r>
            <a:r>
              <a:rPr sz="2000" b="0" dirty="0">
                <a:solidFill>
                  <a:srgbClr val="172B3A"/>
                </a:solidFill>
                <a:latin typeface="Aptos"/>
                <a:ea typeface="Aptos"/>
                <a:cs typeface="Aptos"/>
              </a:rPr>
              <a:t> </a:t>
            </a:r>
            <a:r>
              <a:rPr sz="2000" b="0" dirty="0" err="1">
                <a:solidFill>
                  <a:srgbClr val="172B3A"/>
                </a:solidFill>
                <a:latin typeface="Aptos"/>
                <a:ea typeface="Aptos"/>
                <a:cs typeface="Aptos"/>
              </a:rPr>
              <a:t>ưu</a:t>
            </a:r>
            <a:r>
              <a:rPr sz="2000" b="0" dirty="0">
                <a:solidFill>
                  <a:srgbClr val="172B3A"/>
                </a:solidFill>
                <a:latin typeface="Aptos"/>
                <a:ea typeface="Aptos"/>
                <a:cs typeface="Aptos"/>
              </a:rPr>
              <a:t> gradient </a:t>
            </a:r>
            <a:r>
              <a:rPr sz="2000" b="0" dirty="0" err="1">
                <a:solidFill>
                  <a:srgbClr val="172B3A"/>
                </a:solidFill>
                <a:latin typeface="Aptos"/>
                <a:ea typeface="Aptos"/>
                <a:cs typeface="Aptos"/>
              </a:rPr>
              <a:t>cho</a:t>
            </a:r>
            <a:r>
              <a:rPr sz="2000" b="0" dirty="0">
                <a:solidFill>
                  <a:srgbClr val="172B3A"/>
                </a:solidFill>
                <a:latin typeface="Aptos"/>
                <a:ea typeface="Aptos"/>
                <a:cs typeface="Aptos"/>
              </a:rPr>
              <a:t> backbone</a:t>
            </a:r>
          </a:p>
        </p:txBody>
      </p:sp>
      <p:sp>
        <p:nvSpPr>
          <p:cNvPr id="7" name="Rectangle 6">
            <a:extLst>
              <a:ext uri="{FF2B5EF4-FFF2-40B4-BE49-F238E27FC236}">
                <a16:creationId xmlns:a16="http://schemas.microsoft.com/office/drawing/2014/main" id="{B9EE018E-1ED9-4F48-8AF8-8D3DFE00AF86}"/>
              </a:ext>
            </a:extLst>
          </p:cNvPr>
          <p:cNvSpPr>
            <a:spLocks noGrp="1"/>
          </p:cNvSpPr>
          <p:nvPr/>
        </p:nvSpPr>
        <p:spPr>
          <a:xfrm>
            <a:off x="6762750" y="1809750"/>
            <a:ext cx="3333750" cy="514350"/>
          </a:xfrm>
          <a:prstGeom prst="rect">
            <a:avLst/>
          </a:prstGeom>
          <a:noFill/>
          <a:ln w="0">
            <a:noFill/>
          </a:ln>
        </p:spPr>
        <p:txBody>
          <a:bodyPr anchor="ctr">
            <a:normAutofit/>
          </a:bodyPr>
          <a:lstStyle/>
          <a:p>
            <a:pPr algn="l">
              <a:defRPr sz="2250" b="1">
                <a:solidFill>
                  <a:srgbClr val="0B1F33"/>
                </a:solidFill>
                <a:latin typeface="Aptos"/>
                <a:ea typeface="Aptos"/>
                <a:cs typeface="Aptos"/>
              </a:defRPr>
            </a:pPr>
            <a:r>
              <a:rPr sz="2250" b="1" dirty="0" err="1">
                <a:solidFill>
                  <a:srgbClr val="0B1F33"/>
                </a:solidFill>
                <a:latin typeface="Aptos"/>
                <a:ea typeface="Aptos"/>
                <a:cs typeface="Aptos"/>
              </a:rPr>
              <a:t>Vì</a:t>
            </a:r>
            <a:r>
              <a:rPr sz="2250" b="1" dirty="0">
                <a:solidFill>
                  <a:srgbClr val="0B1F33"/>
                </a:solidFill>
                <a:latin typeface="Aptos"/>
                <a:ea typeface="Aptos"/>
                <a:cs typeface="Aptos"/>
              </a:rPr>
              <a:t> </a:t>
            </a:r>
            <a:r>
              <a:rPr sz="2250" b="1" dirty="0" err="1">
                <a:solidFill>
                  <a:srgbClr val="0B1F33"/>
                </a:solidFill>
                <a:latin typeface="Aptos"/>
                <a:ea typeface="Aptos"/>
                <a:cs typeface="Aptos"/>
              </a:rPr>
              <a:t>sao</a:t>
            </a:r>
            <a:r>
              <a:rPr sz="2250" b="1" dirty="0">
                <a:solidFill>
                  <a:srgbClr val="0B1F33"/>
                </a:solidFill>
                <a:latin typeface="Aptos"/>
                <a:ea typeface="Aptos"/>
                <a:cs typeface="Aptos"/>
              </a:rPr>
              <a:t> </a:t>
            </a:r>
            <a:r>
              <a:rPr sz="2250" b="1" dirty="0" err="1">
                <a:solidFill>
                  <a:srgbClr val="0B1F33"/>
                </a:solidFill>
                <a:latin typeface="Aptos"/>
                <a:ea typeface="Aptos"/>
                <a:cs typeface="Aptos"/>
              </a:rPr>
              <a:t>phù</a:t>
            </a:r>
            <a:r>
              <a:rPr sz="2250" b="1" dirty="0">
                <a:solidFill>
                  <a:srgbClr val="0B1F33"/>
                </a:solidFill>
                <a:latin typeface="Aptos"/>
                <a:ea typeface="Aptos"/>
                <a:cs typeface="Aptos"/>
              </a:rPr>
              <a:t> </a:t>
            </a:r>
            <a:r>
              <a:rPr sz="2250" b="1" dirty="0" err="1">
                <a:solidFill>
                  <a:srgbClr val="0B1F33"/>
                </a:solidFill>
                <a:latin typeface="Aptos"/>
                <a:ea typeface="Aptos"/>
                <a:cs typeface="Aptos"/>
              </a:rPr>
              <a:t>hợp</a:t>
            </a:r>
            <a:r>
              <a:rPr sz="2250" b="1" dirty="0">
                <a:solidFill>
                  <a:srgbClr val="0B1F33"/>
                </a:solidFill>
                <a:latin typeface="Aptos"/>
                <a:ea typeface="Aptos"/>
                <a:cs typeface="Aptos"/>
              </a:rPr>
              <a:t>?</a:t>
            </a:r>
          </a:p>
        </p:txBody>
      </p:sp>
      <p:sp>
        <p:nvSpPr>
          <p:cNvPr id="8" name="Rectangle 7">
            <a:extLst>
              <a:ext uri="{FF2B5EF4-FFF2-40B4-BE49-F238E27FC236}">
                <a16:creationId xmlns:a16="http://schemas.microsoft.com/office/drawing/2014/main" id="{168F0D2E-CE78-4666-BBDE-6F72BE3FBD5A}"/>
              </a:ext>
            </a:extLst>
          </p:cNvPr>
          <p:cNvSpPr>
            <a:spLocks noGrp="1"/>
          </p:cNvSpPr>
          <p:nvPr/>
        </p:nvSpPr>
        <p:spPr>
          <a:xfrm>
            <a:off x="6762750" y="2552700"/>
            <a:ext cx="4286250" cy="1809750"/>
          </a:xfrm>
          <a:prstGeom prst="rect">
            <a:avLst/>
          </a:prstGeom>
          <a:noFill/>
          <a:ln w="0">
            <a:noFill/>
          </a:ln>
        </p:spPr>
        <p:txBody>
          <a:bodyPr anchor="ctr">
            <a:normAutofit/>
          </a:bodyPr>
          <a:lstStyle/>
          <a:p>
            <a:pPr algn="l">
              <a:defRPr sz="1650" b="0">
                <a:solidFill>
                  <a:srgbClr val="172B3A"/>
                </a:solidFill>
                <a:latin typeface="Aptos"/>
                <a:ea typeface="Aptos"/>
                <a:cs typeface="Aptos"/>
              </a:defRPr>
            </a:pPr>
            <a:r>
              <a:rPr sz="2000" b="0" dirty="0" err="1">
                <a:solidFill>
                  <a:srgbClr val="172B3A"/>
                </a:solidFill>
                <a:latin typeface="Aptos"/>
                <a:ea typeface="Aptos"/>
                <a:cs typeface="Aptos"/>
              </a:rPr>
              <a:t>Giảm</a:t>
            </a:r>
            <a:r>
              <a:rPr sz="2000" b="0" dirty="0">
                <a:solidFill>
                  <a:srgbClr val="172B3A"/>
                </a:solidFill>
                <a:latin typeface="Aptos"/>
                <a:ea typeface="Aptos"/>
                <a:cs typeface="Aptos"/>
              </a:rPr>
              <a:t> </a:t>
            </a:r>
            <a:r>
              <a:rPr sz="2000" b="0" dirty="0" err="1">
                <a:solidFill>
                  <a:srgbClr val="172B3A"/>
                </a:solidFill>
                <a:latin typeface="Aptos"/>
                <a:ea typeface="Aptos"/>
                <a:cs typeface="Aptos"/>
              </a:rPr>
              <a:t>rủi</a:t>
            </a:r>
            <a:r>
              <a:rPr sz="2000" b="0" dirty="0">
                <a:solidFill>
                  <a:srgbClr val="172B3A"/>
                </a:solidFill>
                <a:latin typeface="Aptos"/>
                <a:ea typeface="Aptos"/>
                <a:cs typeface="Aptos"/>
              </a:rPr>
              <a:t> </a:t>
            </a:r>
            <a:r>
              <a:rPr sz="2000" b="0" dirty="0" err="1">
                <a:solidFill>
                  <a:srgbClr val="172B3A"/>
                </a:solidFill>
                <a:latin typeface="Aptos"/>
                <a:ea typeface="Aptos"/>
                <a:cs typeface="Aptos"/>
              </a:rPr>
              <a:t>ro</a:t>
            </a:r>
            <a:r>
              <a:rPr sz="2000" b="0" dirty="0">
                <a:solidFill>
                  <a:srgbClr val="172B3A"/>
                </a:solidFill>
                <a:latin typeface="Aptos"/>
                <a:ea typeface="Aptos"/>
                <a:cs typeface="Aptos"/>
              </a:rPr>
              <a:t> overfitting </a:t>
            </a:r>
            <a:r>
              <a:rPr sz="2000" b="0" dirty="0" err="1">
                <a:solidFill>
                  <a:srgbClr val="172B3A"/>
                </a:solidFill>
                <a:latin typeface="Aptos"/>
                <a:ea typeface="Aptos"/>
                <a:cs typeface="Aptos"/>
              </a:rPr>
              <a:t>khi</a:t>
            </a:r>
            <a:r>
              <a:rPr sz="2000" b="0" dirty="0">
                <a:solidFill>
                  <a:srgbClr val="172B3A"/>
                </a:solidFill>
                <a:latin typeface="Aptos"/>
                <a:ea typeface="Aptos"/>
                <a:cs typeface="Aptos"/>
              </a:rPr>
              <a:t> </a:t>
            </a:r>
            <a:r>
              <a:rPr sz="2000" b="0" dirty="0" err="1">
                <a:solidFill>
                  <a:srgbClr val="172B3A"/>
                </a:solidFill>
                <a:latin typeface="Aptos"/>
                <a:ea typeface="Aptos"/>
                <a:cs typeface="Aptos"/>
              </a:rPr>
              <a:t>dữ</a:t>
            </a:r>
            <a:r>
              <a:rPr sz="2000" b="0" dirty="0">
                <a:solidFill>
                  <a:srgbClr val="172B3A"/>
                </a:solidFill>
                <a:latin typeface="Aptos"/>
                <a:ea typeface="Aptos"/>
                <a:cs typeface="Aptos"/>
              </a:rPr>
              <a:t> </a:t>
            </a:r>
            <a:r>
              <a:rPr sz="2000" b="0" dirty="0" err="1">
                <a:solidFill>
                  <a:srgbClr val="172B3A"/>
                </a:solidFill>
                <a:latin typeface="Aptos"/>
                <a:ea typeface="Aptos"/>
                <a:cs typeface="Aptos"/>
              </a:rPr>
              <a:t>liệu</a:t>
            </a:r>
            <a:r>
              <a:rPr sz="2000" b="0" dirty="0">
                <a:solidFill>
                  <a:srgbClr val="172B3A"/>
                </a:solidFill>
                <a:latin typeface="Aptos"/>
                <a:ea typeface="Aptos"/>
                <a:cs typeface="Aptos"/>
              </a:rPr>
              <a:t> </a:t>
            </a:r>
            <a:r>
              <a:rPr sz="2000" b="0" dirty="0" err="1">
                <a:solidFill>
                  <a:srgbClr val="172B3A"/>
                </a:solidFill>
                <a:latin typeface="Aptos"/>
                <a:ea typeface="Aptos"/>
                <a:cs typeface="Aptos"/>
              </a:rPr>
              <a:t>ít</a:t>
            </a:r>
            <a:endParaRPr sz="2000" b="0" dirty="0">
              <a:solidFill>
                <a:srgbClr val="172B3A"/>
              </a:solidFill>
              <a:latin typeface="Aptos"/>
              <a:ea typeface="Aptos"/>
              <a:cs typeface="Aptos"/>
            </a:endParaRPr>
          </a:p>
          <a:p>
            <a:pPr algn="l">
              <a:defRPr sz="1650" b="0">
                <a:solidFill>
                  <a:srgbClr val="172B3A"/>
                </a:solidFill>
                <a:latin typeface="Aptos"/>
                <a:ea typeface="Aptos"/>
                <a:cs typeface="Aptos"/>
              </a:defRPr>
            </a:pPr>
            <a:r>
              <a:rPr sz="2000" b="0" dirty="0" err="1">
                <a:solidFill>
                  <a:srgbClr val="172B3A"/>
                </a:solidFill>
                <a:latin typeface="Aptos"/>
                <a:ea typeface="Aptos"/>
                <a:cs typeface="Aptos"/>
              </a:rPr>
              <a:t>Không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cần</a:t>
            </a:r>
            <a:r>
              <a:rPr sz="2000" b="0" dirty="0">
                <a:solidFill>
                  <a:srgbClr val="172B3A"/>
                </a:solidFill>
                <a:latin typeface="Aptos"/>
                <a:ea typeface="Aptos"/>
                <a:cs typeface="Aptos"/>
              </a:rPr>
              <a:t> </a:t>
            </a:r>
            <a:r>
              <a:rPr sz="2000" b="0" dirty="0" err="1">
                <a:solidFill>
                  <a:srgbClr val="172B3A"/>
                </a:solidFill>
                <a:latin typeface="Aptos"/>
                <a:ea typeface="Aptos"/>
                <a:cs typeface="Aptos"/>
              </a:rPr>
              <a:t>mẫu</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lỗi</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để</a:t>
            </a:r>
            <a:r>
              <a:rPr sz="2000" b="0" dirty="0">
                <a:solidFill>
                  <a:srgbClr val="172B3A"/>
                </a:solidFill>
                <a:latin typeface="Aptos"/>
                <a:ea typeface="Aptos"/>
                <a:cs typeface="Aptos"/>
              </a:rPr>
              <a:t> </a:t>
            </a:r>
            <a:r>
              <a:rPr sz="2000" b="0" dirty="0" err="1">
                <a:solidFill>
                  <a:srgbClr val="172B3A"/>
                </a:solidFill>
                <a:latin typeface="Aptos"/>
                <a:ea typeface="Aptos"/>
                <a:cs typeface="Aptos"/>
              </a:rPr>
              <a:t>huấn</a:t>
            </a:r>
            <a:r>
              <a:rPr sz="2000" b="0" dirty="0">
                <a:solidFill>
                  <a:srgbClr val="172B3A"/>
                </a:solidFill>
                <a:latin typeface="Aptos"/>
                <a:ea typeface="Aptos"/>
                <a:cs typeface="Aptos"/>
              </a:rPr>
              <a:t> </a:t>
            </a:r>
            <a:r>
              <a:rPr sz="2000" b="0" dirty="0" err="1">
                <a:solidFill>
                  <a:srgbClr val="172B3A"/>
                </a:solidFill>
                <a:latin typeface="Aptos"/>
                <a:ea typeface="Aptos"/>
                <a:cs typeface="Aptos"/>
              </a:rPr>
              <a:t>luyện</a:t>
            </a:r>
            <a:endParaRPr sz="2000" b="0" dirty="0">
              <a:solidFill>
                <a:srgbClr val="172B3A"/>
              </a:solidFill>
              <a:latin typeface="Aptos"/>
              <a:ea typeface="Aptos"/>
              <a:cs typeface="Aptos"/>
            </a:endParaRPr>
          </a:p>
          <a:p>
            <a:pPr algn="l">
              <a:defRPr sz="1650" b="0">
                <a:solidFill>
                  <a:srgbClr val="172B3A"/>
                </a:solidFill>
                <a:latin typeface="Aptos"/>
                <a:ea typeface="Aptos"/>
                <a:cs typeface="Aptos"/>
              </a:defRPr>
            </a:pPr>
            <a:r>
              <a:rPr sz="2000" b="0" dirty="0" err="1">
                <a:solidFill>
                  <a:srgbClr val="172B3A"/>
                </a:solidFill>
                <a:latin typeface="Aptos"/>
                <a:ea typeface="Aptos"/>
                <a:cs typeface="Aptos"/>
              </a:rPr>
              <a:t>Tạo</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được</a:t>
            </a:r>
            <a:r>
              <a:rPr sz="2000" b="0" dirty="0">
                <a:solidFill>
                  <a:srgbClr val="172B3A"/>
                </a:solidFill>
                <a:latin typeface="Aptos"/>
                <a:ea typeface="Aptos"/>
                <a:cs typeface="Aptos"/>
              </a:rPr>
              <a:t> anomaly map </a:t>
            </a:r>
            <a:r>
              <a:rPr sz="2000" b="0" dirty="0" err="1">
                <a:solidFill>
                  <a:srgbClr val="172B3A"/>
                </a:solidFill>
                <a:latin typeface="Aptos"/>
                <a:ea typeface="Aptos"/>
                <a:cs typeface="Aptos"/>
              </a:rPr>
              <a:t>phục</a:t>
            </a:r>
            <a:r>
              <a:rPr sz="2000" b="0" dirty="0">
                <a:solidFill>
                  <a:srgbClr val="172B3A"/>
                </a:solidFill>
                <a:latin typeface="Aptos"/>
                <a:ea typeface="Aptos"/>
                <a:cs typeface="Aptos"/>
              </a:rPr>
              <a:t> </a:t>
            </a:r>
            <a:r>
              <a:rPr sz="2000" b="0" dirty="0" err="1">
                <a:solidFill>
                  <a:srgbClr val="172B3A"/>
                </a:solidFill>
                <a:latin typeface="Aptos"/>
                <a:ea typeface="Aptos"/>
                <a:cs typeface="Aptos"/>
              </a:rPr>
              <a:t>vụ</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định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vị</a:t>
            </a:r>
            <a:endParaRPr sz="2000" b="0" dirty="0">
              <a:solidFill>
                <a:srgbClr val="172B3A"/>
              </a:solidFill>
              <a:latin typeface="Aptos"/>
              <a:ea typeface="Aptos"/>
              <a:cs typeface="Aptos"/>
            </a:endParaRPr>
          </a:p>
        </p:txBody>
      </p:sp>
      <p:sp>
        <p:nvSpPr>
          <p:cNvPr id="9" name="Rectangle 8">
            <a:extLst>
              <a:ext uri="{FF2B5EF4-FFF2-40B4-BE49-F238E27FC236}">
                <a16:creationId xmlns:a16="http://schemas.microsoft.com/office/drawing/2014/main" id="{13190E3A-A483-45B5-82D3-9C9E37962B0B}"/>
              </a:ext>
            </a:extLst>
          </p:cNvPr>
          <p:cNvSpPr>
            <a:spLocks noGrp="1"/>
          </p:cNvSpPr>
          <p:nvPr/>
        </p:nvSpPr>
        <p:spPr>
          <a:xfrm>
            <a:off x="6762749" y="4762500"/>
            <a:ext cx="4882225" cy="419100"/>
          </a:xfrm>
          <a:prstGeom prst="rect">
            <a:avLst/>
          </a:prstGeom>
          <a:noFill/>
          <a:ln w="0">
            <a:noFill/>
          </a:ln>
        </p:spPr>
        <p:txBody>
          <a:bodyPr anchor="ctr">
            <a:noAutofit/>
          </a:bodyPr>
          <a:lstStyle/>
          <a:p>
            <a:pPr algn="l">
              <a:defRPr sz="1275" b="0">
                <a:solidFill>
                  <a:srgbClr val="55707F"/>
                </a:solidFill>
                <a:latin typeface="Aptos"/>
                <a:ea typeface="Aptos"/>
                <a:cs typeface="Aptos"/>
              </a:defRPr>
            </a:pPr>
            <a:r>
              <a:rPr sz="2000" b="0" dirty="0">
                <a:solidFill>
                  <a:srgbClr val="55707F"/>
                </a:solidFill>
                <a:latin typeface="Aptos"/>
                <a:ea typeface="Aptos"/>
                <a:cs typeface="Aptos"/>
              </a:rPr>
              <a:t>So </a:t>
            </a:r>
            <a:r>
              <a:rPr sz="2000" b="0" dirty="0" err="1">
                <a:solidFill>
                  <a:srgbClr val="55707F"/>
                </a:solidFill>
                <a:latin typeface="Aptos"/>
                <a:ea typeface="Aptos"/>
                <a:cs typeface="Aptos"/>
              </a:rPr>
              <a:t>sánh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bổ</a:t>
            </a:r>
            <a:r>
              <a:rPr sz="2000" b="0" dirty="0">
                <a:solidFill>
                  <a:srgbClr val="55707F"/>
                </a:solidFill>
                <a:latin typeface="Aptos"/>
                <a:ea typeface="Aptos"/>
                <a:cs typeface="Aptos"/>
              </a:rPr>
              <a:t> sung: Isolation Forest </a:t>
            </a:r>
            <a:r>
              <a:rPr sz="2000" b="0" dirty="0" err="1">
                <a:solidFill>
                  <a:srgbClr val="55707F"/>
                </a:solidFill>
                <a:latin typeface="Aptos"/>
                <a:ea typeface="Aptos"/>
                <a:cs typeface="Aptos"/>
              </a:rPr>
              <a:t>và</a:t>
            </a:r>
            <a:r>
              <a:rPr sz="2000" b="0" dirty="0">
                <a:solidFill>
                  <a:srgbClr val="55707F"/>
                </a:solidFill>
                <a:latin typeface="Aptos"/>
                <a:ea typeface="Aptos"/>
                <a:cs typeface="Aptos"/>
              </a:rPr>
              <a:t> </a:t>
            </a:r>
            <a:r>
              <a:rPr sz="2000" b="0" dirty="0" err="1">
                <a:solidFill>
                  <a:srgbClr val="55707F"/>
                </a:solidFill>
                <a:latin typeface="Aptos"/>
                <a:ea typeface="Aptos"/>
                <a:cs typeface="Aptos"/>
              </a:rPr>
              <a:t>SuperSimpleNet</a:t>
            </a:r>
            <a:endParaRPr sz="2000" b="0" dirty="0">
              <a:solidFill>
                <a:srgbClr val="55707F"/>
              </a:solidFill>
              <a:latin typeface="Aptos"/>
              <a:ea typeface="Aptos"/>
              <a:cs typeface="Aptos"/>
            </a:endParaRPr>
          </a:p>
        </p:txBody>
      </p:sp>
      <p:pic>
        <p:nvPicPr>
          <p:cNvPr id="11" name="Picture 10"/>
          <p:cNvPicPr>
            <a:picLocks noChangeAspect="1"/>
          </p:cNvPicPr>
          <p:nvPr/>
        </p:nvPicPr>
        <p:blipFill>
          <a:blip r:embed="rId3"/>
          <a:stretch>
            <a:fillRect/>
          </a:stretch>
        </p:blipFill>
        <p:spPr>
          <a:xfrm>
            <a:off x="640080" y="421006"/>
            <a:ext cx="895350" cy="771525"/>
          </a:xfrm>
          <a:prstGeom prst="rect">
            <a:avLst/>
          </a:prstGeom>
        </p:spPr>
      </p:pic>
    </p:spTree>
    <p:extLst>
      <p:ext uri="{BB962C8B-B14F-4D97-AF65-F5344CB8AC3E}">
        <p14:creationId xmlns:p14="http://schemas.microsoft.com/office/powerpoint/2010/main" val="94452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1BDE40A-69B9-413A-A4A9-28ECDCB13A73}"/>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B867C52C-09FF-41DA-B7F9-E4078D54E20E}"/>
              </a:ext>
            </a:extLst>
          </p:cNvPr>
          <p:cNvSpPr>
            <a:spLocks noGrp="1"/>
          </p:cNvSpPr>
          <p:nvPr/>
        </p:nvSpPr>
        <p:spPr>
          <a:xfrm>
            <a:off x="1524000" y="438150"/>
            <a:ext cx="975360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Quy</a:t>
            </a:r>
            <a:r>
              <a:rPr sz="2550" b="1" dirty="0">
                <a:solidFill>
                  <a:srgbClr val="0B1F33"/>
                </a:solidFill>
                <a:latin typeface="Aptos"/>
                <a:ea typeface="Aptos"/>
                <a:cs typeface="Aptos"/>
              </a:rPr>
              <a:t> </a:t>
            </a:r>
            <a:r>
              <a:rPr sz="2550" b="1" dirty="0" err="1">
                <a:solidFill>
                  <a:srgbClr val="0B1F33"/>
                </a:solidFill>
                <a:latin typeface="Aptos"/>
                <a:ea typeface="Aptos"/>
                <a:cs typeface="Aptos"/>
              </a:rPr>
              <a:t>trình</a:t>
            </a:r>
            <a:r>
              <a:rPr sz="2550" b="1" dirty="0">
                <a:solidFill>
                  <a:srgbClr val="0B1F33"/>
                </a:solidFill>
                <a:latin typeface="Aptos"/>
                <a:ea typeface="Aptos"/>
                <a:cs typeface="Aptos"/>
              </a:rPr>
              <a:t> OC-MAR</a:t>
            </a:r>
          </a:p>
        </p:txBody>
      </p:sp>
      <p:sp>
        <p:nvSpPr>
          <p:cNvPr id="3" name="Rectangle 2">
            <a:extLst>
              <a:ext uri="{FF2B5EF4-FFF2-40B4-BE49-F238E27FC236}">
                <a16:creationId xmlns:a16="http://schemas.microsoft.com/office/drawing/2014/main" id="{00EF1992-15B6-4E7C-A105-64EB50819071}"/>
              </a:ext>
            </a:extLst>
          </p:cNvPr>
          <p:cNvSpPr>
            <a:spLocks noGrp="1"/>
          </p:cNvSpPr>
          <p:nvPr/>
        </p:nvSpPr>
        <p:spPr>
          <a:xfrm>
            <a:off x="1524000" y="883919"/>
            <a:ext cx="9772650" cy="405629"/>
          </a:xfrm>
          <a:prstGeom prst="rect">
            <a:avLst/>
          </a:prstGeom>
          <a:noFill/>
          <a:ln w="0">
            <a:noFill/>
          </a:ln>
        </p:spPr>
        <p:txBody>
          <a:bodyPr anchor="ctr">
            <a:normAutofit/>
          </a:bodyPr>
          <a:lstStyle/>
          <a:p>
            <a:pPr algn="l">
              <a:defRPr sz="1200" b="0">
                <a:solidFill>
                  <a:srgbClr val="55707F"/>
                </a:solidFill>
                <a:latin typeface="Aptos"/>
                <a:ea typeface="Aptos"/>
                <a:cs typeface="Aptos"/>
              </a:defRPr>
            </a:pPr>
            <a:r>
              <a:rPr sz="2000" b="0" dirty="0" err="1">
                <a:solidFill>
                  <a:srgbClr val="55707F"/>
                </a:solidFill>
                <a:latin typeface="Aptos"/>
                <a:ea typeface="Aptos"/>
                <a:cs typeface="Aptos"/>
              </a:rPr>
              <a:t>Các</a:t>
            </a:r>
            <a:r>
              <a:rPr sz="2000" b="0" dirty="0">
                <a:solidFill>
                  <a:srgbClr val="55707F"/>
                </a:solidFill>
                <a:latin typeface="Aptos"/>
                <a:ea typeface="Aptos"/>
                <a:cs typeface="Aptos"/>
              </a:rPr>
              <a:t> </a:t>
            </a:r>
            <a:r>
              <a:rPr sz="2000" b="0" dirty="0" err="1">
                <a:solidFill>
                  <a:srgbClr val="55707F"/>
                </a:solidFill>
                <a:latin typeface="Aptos"/>
                <a:ea typeface="Aptos"/>
                <a:cs typeface="Aptos"/>
              </a:rPr>
              <a:t>bước</a:t>
            </a:r>
            <a:r>
              <a:rPr sz="2000" b="0" dirty="0">
                <a:solidFill>
                  <a:srgbClr val="55707F"/>
                </a:solidFill>
                <a:latin typeface="Aptos"/>
                <a:ea typeface="Aptos"/>
                <a:cs typeface="Aptos"/>
              </a:rPr>
              <a:t> </a:t>
            </a:r>
            <a:r>
              <a:rPr sz="2000" b="0" dirty="0" err="1">
                <a:solidFill>
                  <a:srgbClr val="55707F"/>
                </a:solidFill>
                <a:latin typeface="Aptos"/>
                <a:ea typeface="Aptos"/>
                <a:cs typeface="Aptos"/>
              </a:rPr>
              <a:t>được</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triển</a:t>
            </a:r>
            <a:r>
              <a:rPr sz="2000" b="0" dirty="0">
                <a:solidFill>
                  <a:srgbClr val="55707F"/>
                </a:solidFill>
                <a:latin typeface="Aptos"/>
                <a:ea typeface="Aptos"/>
                <a:cs typeface="Aptos"/>
              </a:rPr>
              <a:t> </a:t>
            </a:r>
            <a:r>
              <a:rPr sz="2000" b="0" dirty="0" err="1">
                <a:solidFill>
                  <a:srgbClr val="55707F"/>
                </a:solidFill>
                <a:latin typeface="Aptos"/>
                <a:ea typeface="Aptos"/>
                <a:cs typeface="Aptos"/>
              </a:rPr>
              <a:t>khai</a:t>
            </a:r>
            <a:r>
              <a:rPr sz="2000" b="0" dirty="0">
                <a:solidFill>
                  <a:srgbClr val="55707F"/>
                </a:solidFill>
                <a:latin typeface="Aptos"/>
                <a:ea typeface="Aptos"/>
                <a:cs typeface="Aptos"/>
              </a:rPr>
              <a:t> </a:t>
            </a:r>
            <a:r>
              <a:rPr sz="2000" b="0" dirty="0" err="1">
                <a:solidFill>
                  <a:srgbClr val="55707F"/>
                </a:solidFill>
                <a:latin typeface="Aptos"/>
                <a:ea typeface="Aptos"/>
                <a:cs typeface="Aptos"/>
              </a:rPr>
              <a:t>và</a:t>
            </a:r>
            <a:r>
              <a:rPr sz="2000" b="0" dirty="0">
                <a:solidFill>
                  <a:srgbClr val="55707F"/>
                </a:solidFill>
                <a:latin typeface="Aptos"/>
                <a:ea typeface="Aptos"/>
                <a:cs typeface="Aptos"/>
              </a:rPr>
              <a:t> </a:t>
            </a:r>
            <a:r>
              <a:rPr sz="2000" b="0" dirty="0" err="1">
                <a:solidFill>
                  <a:srgbClr val="55707F"/>
                </a:solidFill>
                <a:latin typeface="Aptos"/>
                <a:ea typeface="Aptos"/>
                <a:cs typeface="Aptos"/>
              </a:rPr>
              <a:t>kiểm</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tra</a:t>
            </a:r>
            <a:r>
              <a:rPr sz="2000" b="0" dirty="0">
                <a:solidFill>
                  <a:srgbClr val="55707F"/>
                </a:solidFill>
                <a:latin typeface="Aptos"/>
                <a:ea typeface="Aptos"/>
                <a:cs typeface="Aptos"/>
              </a:rPr>
              <a:t> </a:t>
            </a:r>
            <a:r>
              <a:rPr sz="2000" b="0" dirty="0" err="1">
                <a:solidFill>
                  <a:srgbClr val="55707F"/>
                </a:solidFill>
                <a:latin typeface="Aptos"/>
                <a:ea typeface="Aptos"/>
                <a:cs typeface="Aptos"/>
              </a:rPr>
              <a:t>độc</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lập</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18854AFD-D6C2-4805-9873-528832DA96A5}"/>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04</a:t>
            </a:r>
          </a:p>
        </p:txBody>
      </p:sp>
      <p:sp>
        <p:nvSpPr>
          <p:cNvPr id="5" name="Rounded Rectangle 4">
            <a:extLst>
              <a:ext uri="{FF2B5EF4-FFF2-40B4-BE49-F238E27FC236}">
                <a16:creationId xmlns:a16="http://schemas.microsoft.com/office/drawing/2014/main" id="{FAD730EA-D542-4401-8E95-3ECA2E916C38}"/>
              </a:ext>
            </a:extLst>
          </p:cNvPr>
          <p:cNvSpPr>
            <a:spLocks noGrp="1"/>
          </p:cNvSpPr>
          <p:nvPr/>
        </p:nvSpPr>
        <p:spPr>
          <a:xfrm>
            <a:off x="666750" y="2238375"/>
            <a:ext cx="1581150" cy="895350"/>
          </a:xfrm>
          <a:prstGeom prst="roundRect">
            <a:avLst>
              <a:gd name="adj" fmla="val 8511"/>
            </a:avLst>
          </a:prstGeom>
          <a:solidFill>
            <a:srgbClr val="DFF4F2"/>
          </a:solidFill>
          <a:ln w="19050">
            <a:solidFill>
              <a:srgbClr val="A7D8D2"/>
            </a:solidFill>
          </a:ln>
        </p:spPr>
      </p:sp>
      <p:sp>
        <p:nvSpPr>
          <p:cNvPr id="6" name="Rectangle 5">
            <a:extLst>
              <a:ext uri="{FF2B5EF4-FFF2-40B4-BE49-F238E27FC236}">
                <a16:creationId xmlns:a16="http://schemas.microsoft.com/office/drawing/2014/main" id="{506043CE-6159-4897-8BF0-FE85120E33C2}"/>
              </a:ext>
            </a:extLst>
          </p:cNvPr>
          <p:cNvSpPr>
            <a:spLocks noGrp="1"/>
          </p:cNvSpPr>
          <p:nvPr/>
        </p:nvSpPr>
        <p:spPr>
          <a:xfrm>
            <a:off x="762000" y="2343150"/>
            <a:ext cx="1390650" cy="666750"/>
          </a:xfrm>
          <a:prstGeom prst="rect">
            <a:avLst/>
          </a:prstGeom>
          <a:noFill/>
          <a:ln w="0">
            <a:noFill/>
          </a:ln>
        </p:spPr>
        <p:txBody>
          <a:bodyPr anchor="ctr">
            <a:normAutofit/>
          </a:bodyPr>
          <a:lstStyle/>
          <a:p>
            <a:pPr algn="ctr">
              <a:defRPr sz="1425" b="1">
                <a:solidFill>
                  <a:srgbClr val="0B1F33"/>
                </a:solidFill>
                <a:latin typeface="Aptos"/>
                <a:ea typeface="Aptos"/>
                <a:cs typeface="Aptos"/>
              </a:defRPr>
            </a:pPr>
            <a:r>
              <a:rPr sz="2000" b="1" dirty="0" err="1">
                <a:solidFill>
                  <a:srgbClr val="0B1F33"/>
                </a:solidFill>
                <a:latin typeface="Aptos"/>
                <a:ea typeface="Aptos"/>
                <a:cs typeface="Aptos"/>
              </a:rPr>
              <a:t>Tiền</a:t>
            </a:r>
            <a:r>
              <a:rPr sz="2000" b="1" dirty="0">
                <a:solidFill>
                  <a:srgbClr val="0B1F33"/>
                </a:solidFill>
                <a:latin typeface="Aptos"/>
                <a:ea typeface="Aptos"/>
                <a:cs typeface="Aptos"/>
              </a:rPr>
              <a:t> </a:t>
            </a:r>
            <a:r>
              <a:rPr sz="2000" b="1" dirty="0" err="1">
                <a:solidFill>
                  <a:srgbClr val="0B1F33"/>
                </a:solidFill>
                <a:latin typeface="Aptos"/>
                <a:ea typeface="Aptos"/>
                <a:cs typeface="Aptos"/>
              </a:rPr>
              <a:t>xử</a:t>
            </a:r>
            <a:r>
              <a:rPr sz="2000" b="1" dirty="0">
                <a:solidFill>
                  <a:srgbClr val="0B1F33"/>
                </a:solidFill>
                <a:latin typeface="Aptos"/>
                <a:ea typeface="Aptos"/>
                <a:cs typeface="Aptos"/>
              </a:rPr>
              <a:t> </a:t>
            </a:r>
            <a:r>
              <a:rPr sz="2000" b="1" dirty="0" err="1">
                <a:solidFill>
                  <a:srgbClr val="0B1F33"/>
                </a:solidFill>
                <a:latin typeface="Aptos"/>
                <a:ea typeface="Aptos"/>
                <a:cs typeface="Aptos"/>
              </a:rPr>
              <a:t>lý</a:t>
            </a:r>
            <a:endParaRPr sz="2000" b="1" dirty="0">
              <a:solidFill>
                <a:srgbClr val="0B1F33"/>
              </a:solidFill>
              <a:latin typeface="Aptos"/>
              <a:ea typeface="Aptos"/>
              <a:cs typeface="Aptos"/>
            </a:endParaRPr>
          </a:p>
        </p:txBody>
      </p:sp>
      <p:sp>
        <p:nvSpPr>
          <p:cNvPr id="7" name="Rectangle 6">
            <a:extLst>
              <a:ext uri="{FF2B5EF4-FFF2-40B4-BE49-F238E27FC236}">
                <a16:creationId xmlns:a16="http://schemas.microsoft.com/office/drawing/2014/main" id="{410D91DF-0C5A-4736-B849-9D2B87849CBC}"/>
              </a:ext>
            </a:extLst>
          </p:cNvPr>
          <p:cNvSpPr>
            <a:spLocks noGrp="1"/>
          </p:cNvSpPr>
          <p:nvPr/>
        </p:nvSpPr>
        <p:spPr>
          <a:xfrm>
            <a:off x="2266950" y="2457450"/>
            <a:ext cx="285750" cy="438150"/>
          </a:xfrm>
          <a:prstGeom prst="rect">
            <a:avLst/>
          </a:prstGeom>
          <a:noFill/>
          <a:ln w="0">
            <a:noFill/>
          </a:ln>
        </p:spPr>
        <p:txBody>
          <a:bodyPr anchor="ctr">
            <a:normAutofit fontScale="89216" lnSpcReduction="10000"/>
          </a:bodyPr>
          <a:lstStyle/>
          <a:p>
            <a:pPr algn="ctr">
              <a:defRPr sz="2550" b="1">
                <a:solidFill>
                  <a:srgbClr val="18A999"/>
                </a:solidFill>
                <a:latin typeface="Aptos"/>
                <a:ea typeface="Aptos"/>
                <a:cs typeface="Aptos"/>
              </a:defRPr>
            </a:pPr>
            <a:r>
              <a:rPr sz="2550" b="1">
                <a:solidFill>
                  <a:srgbClr val="18A999"/>
                </a:solidFill>
                <a:latin typeface="Aptos"/>
                <a:ea typeface="Aptos"/>
                <a:cs typeface="Aptos"/>
              </a:rPr>
              <a:t>›</a:t>
            </a:r>
          </a:p>
        </p:txBody>
      </p:sp>
      <p:sp>
        <p:nvSpPr>
          <p:cNvPr id="8" name="Rounded Rectangle 7">
            <a:extLst>
              <a:ext uri="{FF2B5EF4-FFF2-40B4-BE49-F238E27FC236}">
                <a16:creationId xmlns:a16="http://schemas.microsoft.com/office/drawing/2014/main" id="{124F76EC-D8CF-48C9-9E13-DFABCCF74A87}"/>
              </a:ext>
            </a:extLst>
          </p:cNvPr>
          <p:cNvSpPr>
            <a:spLocks noGrp="1"/>
          </p:cNvSpPr>
          <p:nvPr/>
        </p:nvSpPr>
        <p:spPr>
          <a:xfrm>
            <a:off x="2552700" y="2238375"/>
            <a:ext cx="1581150" cy="895350"/>
          </a:xfrm>
          <a:prstGeom prst="roundRect">
            <a:avLst>
              <a:gd name="adj" fmla="val 8511"/>
            </a:avLst>
          </a:prstGeom>
          <a:solidFill>
            <a:srgbClr val="DFF4F2"/>
          </a:solidFill>
          <a:ln w="19050">
            <a:solidFill>
              <a:srgbClr val="A7D8D2"/>
            </a:solidFill>
          </a:ln>
        </p:spPr>
      </p:sp>
      <p:sp>
        <p:nvSpPr>
          <p:cNvPr id="9" name="Rectangle 8">
            <a:extLst>
              <a:ext uri="{FF2B5EF4-FFF2-40B4-BE49-F238E27FC236}">
                <a16:creationId xmlns:a16="http://schemas.microsoft.com/office/drawing/2014/main" id="{214B3DE7-D80A-450C-86CD-3A8FE861563B}"/>
              </a:ext>
            </a:extLst>
          </p:cNvPr>
          <p:cNvSpPr>
            <a:spLocks noGrp="1"/>
          </p:cNvSpPr>
          <p:nvPr/>
        </p:nvSpPr>
        <p:spPr>
          <a:xfrm>
            <a:off x="2647950" y="2343150"/>
            <a:ext cx="1390650" cy="666750"/>
          </a:xfrm>
          <a:prstGeom prst="rect">
            <a:avLst/>
          </a:prstGeom>
          <a:noFill/>
          <a:ln w="0">
            <a:noFill/>
          </a:ln>
        </p:spPr>
        <p:txBody>
          <a:bodyPr anchor="ctr">
            <a:noAutofit/>
          </a:bodyPr>
          <a:lstStyle/>
          <a:p>
            <a:pPr algn="ctr">
              <a:defRPr sz="1425" b="1">
                <a:solidFill>
                  <a:srgbClr val="0B1F33"/>
                </a:solidFill>
                <a:latin typeface="Aptos"/>
                <a:ea typeface="Aptos"/>
                <a:cs typeface="Aptos"/>
              </a:defRPr>
            </a:pPr>
            <a:r>
              <a:rPr sz="2000" b="1" dirty="0" err="1">
                <a:solidFill>
                  <a:srgbClr val="0B1F33"/>
                </a:solidFill>
                <a:latin typeface="Aptos"/>
                <a:ea typeface="Aptos"/>
                <a:cs typeface="Aptos"/>
              </a:rPr>
              <a:t>Tách</a:t>
            </a:r>
            <a:r>
              <a:rPr sz="2000" b="1" dirty="0">
                <a:solidFill>
                  <a:srgbClr val="0B1F33"/>
                </a:solidFill>
                <a:latin typeface="Aptos"/>
                <a:ea typeface="Aptos"/>
                <a:cs typeface="Aptos"/>
              </a:rPr>
              <a:t> </a:t>
            </a:r>
            <a:r>
              <a:rPr sz="2000" b="1" dirty="0" err="1">
                <a:solidFill>
                  <a:srgbClr val="0B1F33"/>
                </a:solidFill>
                <a:latin typeface="Aptos"/>
                <a:ea typeface="Aptos"/>
                <a:cs typeface="Aptos"/>
              </a:rPr>
              <a:t>nền</a:t>
            </a:r>
            <a:r>
              <a:rPr sz="2000" b="1" dirty="0">
                <a:solidFill>
                  <a:srgbClr val="0B1F33"/>
                </a:solidFill>
                <a:latin typeface="Aptos"/>
                <a:ea typeface="Aptos"/>
                <a:cs typeface="Aptos"/>
              </a:rPr>
              <a:t> </a:t>
            </a:r>
            <a:r>
              <a:rPr sz="2000" b="1" dirty="0" err="1">
                <a:solidFill>
                  <a:srgbClr val="0B1F33"/>
                </a:solidFill>
                <a:latin typeface="Aptos"/>
                <a:ea typeface="Aptos"/>
                <a:cs typeface="Aptos"/>
              </a:rPr>
              <a:t>và</a:t>
            </a:r>
            <a:r>
              <a:rPr sz="2000" b="1" dirty="0">
                <a:solidFill>
                  <a:srgbClr val="0B1F33"/>
                </a:solidFill>
                <a:latin typeface="Aptos"/>
                <a:ea typeface="Aptos"/>
                <a:cs typeface="Aptos"/>
              </a:rPr>
              <a:t> mask</a:t>
            </a:r>
          </a:p>
        </p:txBody>
      </p:sp>
      <p:sp>
        <p:nvSpPr>
          <p:cNvPr id="10" name="Rectangle 9">
            <a:extLst>
              <a:ext uri="{FF2B5EF4-FFF2-40B4-BE49-F238E27FC236}">
                <a16:creationId xmlns:a16="http://schemas.microsoft.com/office/drawing/2014/main" id="{06FD242B-90B8-4157-B793-2B0970F96920}"/>
              </a:ext>
            </a:extLst>
          </p:cNvPr>
          <p:cNvSpPr>
            <a:spLocks noGrp="1"/>
          </p:cNvSpPr>
          <p:nvPr/>
        </p:nvSpPr>
        <p:spPr>
          <a:xfrm>
            <a:off x="4152900" y="2457450"/>
            <a:ext cx="285750" cy="438150"/>
          </a:xfrm>
          <a:prstGeom prst="rect">
            <a:avLst/>
          </a:prstGeom>
          <a:noFill/>
          <a:ln w="0">
            <a:noFill/>
          </a:ln>
        </p:spPr>
        <p:txBody>
          <a:bodyPr anchor="ctr">
            <a:normAutofit fontScale="89216" lnSpcReduction="10000"/>
          </a:bodyPr>
          <a:lstStyle/>
          <a:p>
            <a:pPr algn="ctr">
              <a:defRPr sz="2550" b="1">
                <a:solidFill>
                  <a:srgbClr val="18A999"/>
                </a:solidFill>
                <a:latin typeface="Aptos"/>
                <a:ea typeface="Aptos"/>
                <a:cs typeface="Aptos"/>
              </a:defRPr>
            </a:pPr>
            <a:r>
              <a:rPr sz="2550" b="1">
                <a:solidFill>
                  <a:srgbClr val="18A999"/>
                </a:solidFill>
                <a:latin typeface="Aptos"/>
                <a:ea typeface="Aptos"/>
                <a:cs typeface="Aptos"/>
              </a:rPr>
              <a:t>›</a:t>
            </a:r>
          </a:p>
        </p:txBody>
      </p:sp>
      <p:sp>
        <p:nvSpPr>
          <p:cNvPr id="11" name="Rounded Rectangle 10">
            <a:extLst>
              <a:ext uri="{FF2B5EF4-FFF2-40B4-BE49-F238E27FC236}">
                <a16:creationId xmlns:a16="http://schemas.microsoft.com/office/drawing/2014/main" id="{40E70BC4-13F6-4D8E-A56B-993DF9153D0E}"/>
              </a:ext>
            </a:extLst>
          </p:cNvPr>
          <p:cNvSpPr>
            <a:spLocks noGrp="1"/>
          </p:cNvSpPr>
          <p:nvPr/>
        </p:nvSpPr>
        <p:spPr>
          <a:xfrm>
            <a:off x="4438650" y="2238375"/>
            <a:ext cx="1581150" cy="895350"/>
          </a:xfrm>
          <a:prstGeom prst="roundRect">
            <a:avLst>
              <a:gd name="adj" fmla="val 8511"/>
            </a:avLst>
          </a:prstGeom>
          <a:solidFill>
            <a:srgbClr val="DFF4F2"/>
          </a:solidFill>
          <a:ln w="19050">
            <a:solidFill>
              <a:srgbClr val="A7D8D2"/>
            </a:solidFill>
          </a:ln>
        </p:spPr>
      </p:sp>
      <p:sp>
        <p:nvSpPr>
          <p:cNvPr id="12" name="Rectangle 11">
            <a:extLst>
              <a:ext uri="{FF2B5EF4-FFF2-40B4-BE49-F238E27FC236}">
                <a16:creationId xmlns:a16="http://schemas.microsoft.com/office/drawing/2014/main" id="{1A11E80F-0693-4970-8651-0E328E9DD372}"/>
              </a:ext>
            </a:extLst>
          </p:cNvPr>
          <p:cNvSpPr>
            <a:spLocks noGrp="1"/>
          </p:cNvSpPr>
          <p:nvPr/>
        </p:nvSpPr>
        <p:spPr>
          <a:xfrm>
            <a:off x="4533900" y="2343150"/>
            <a:ext cx="1390650" cy="666750"/>
          </a:xfrm>
          <a:prstGeom prst="rect">
            <a:avLst/>
          </a:prstGeom>
          <a:noFill/>
          <a:ln w="0">
            <a:noFill/>
          </a:ln>
        </p:spPr>
        <p:txBody>
          <a:bodyPr anchor="ctr">
            <a:normAutofit/>
          </a:bodyPr>
          <a:lstStyle/>
          <a:p>
            <a:pPr algn="ctr">
              <a:defRPr sz="1425" b="1">
                <a:solidFill>
                  <a:srgbClr val="0B1F33"/>
                </a:solidFill>
                <a:latin typeface="Aptos"/>
                <a:ea typeface="Aptos"/>
                <a:cs typeface="Aptos"/>
              </a:defRPr>
            </a:pPr>
            <a:r>
              <a:rPr sz="2000" b="1" dirty="0" err="1">
                <a:solidFill>
                  <a:srgbClr val="0B1F33"/>
                </a:solidFill>
                <a:latin typeface="Aptos"/>
                <a:ea typeface="Aptos"/>
                <a:cs typeface="Aptos"/>
              </a:rPr>
              <a:t>PatchCore</a:t>
            </a:r>
            <a:endParaRPr sz="2000" b="1" dirty="0">
              <a:solidFill>
                <a:srgbClr val="0B1F33"/>
              </a:solidFill>
              <a:latin typeface="Aptos"/>
              <a:ea typeface="Aptos"/>
              <a:cs typeface="Aptos"/>
            </a:endParaRPr>
          </a:p>
        </p:txBody>
      </p:sp>
      <p:sp>
        <p:nvSpPr>
          <p:cNvPr id="13" name="Rectangle 12">
            <a:extLst>
              <a:ext uri="{FF2B5EF4-FFF2-40B4-BE49-F238E27FC236}">
                <a16:creationId xmlns:a16="http://schemas.microsoft.com/office/drawing/2014/main" id="{AC2892A8-45AF-43F9-A7C3-0B70C45068A1}"/>
              </a:ext>
            </a:extLst>
          </p:cNvPr>
          <p:cNvSpPr>
            <a:spLocks noGrp="1"/>
          </p:cNvSpPr>
          <p:nvPr/>
        </p:nvSpPr>
        <p:spPr>
          <a:xfrm>
            <a:off x="6038850" y="2457450"/>
            <a:ext cx="285750" cy="438150"/>
          </a:xfrm>
          <a:prstGeom prst="rect">
            <a:avLst/>
          </a:prstGeom>
          <a:noFill/>
          <a:ln w="0">
            <a:noFill/>
          </a:ln>
        </p:spPr>
        <p:txBody>
          <a:bodyPr anchor="ctr">
            <a:normAutofit fontScale="89216" lnSpcReduction="10000"/>
          </a:bodyPr>
          <a:lstStyle/>
          <a:p>
            <a:pPr algn="ctr">
              <a:defRPr sz="2550" b="1">
                <a:solidFill>
                  <a:srgbClr val="18A999"/>
                </a:solidFill>
                <a:latin typeface="Aptos"/>
                <a:ea typeface="Aptos"/>
                <a:cs typeface="Aptos"/>
              </a:defRPr>
            </a:pPr>
            <a:r>
              <a:rPr sz="2550" b="1">
                <a:solidFill>
                  <a:srgbClr val="18A999"/>
                </a:solidFill>
                <a:latin typeface="Aptos"/>
                <a:ea typeface="Aptos"/>
                <a:cs typeface="Aptos"/>
              </a:rPr>
              <a:t>›</a:t>
            </a:r>
          </a:p>
        </p:txBody>
      </p:sp>
      <p:sp>
        <p:nvSpPr>
          <p:cNvPr id="14" name="Rounded Rectangle 13">
            <a:extLst>
              <a:ext uri="{FF2B5EF4-FFF2-40B4-BE49-F238E27FC236}">
                <a16:creationId xmlns:a16="http://schemas.microsoft.com/office/drawing/2014/main" id="{B54FE030-D029-43F7-94BE-66292103B279}"/>
              </a:ext>
            </a:extLst>
          </p:cNvPr>
          <p:cNvSpPr>
            <a:spLocks noGrp="1"/>
          </p:cNvSpPr>
          <p:nvPr/>
        </p:nvSpPr>
        <p:spPr>
          <a:xfrm>
            <a:off x="6324600" y="2238375"/>
            <a:ext cx="1581150" cy="895350"/>
          </a:xfrm>
          <a:prstGeom prst="roundRect">
            <a:avLst>
              <a:gd name="adj" fmla="val 8511"/>
            </a:avLst>
          </a:prstGeom>
          <a:solidFill>
            <a:srgbClr val="DFF4F2"/>
          </a:solidFill>
          <a:ln w="19050">
            <a:solidFill>
              <a:srgbClr val="A7D8D2"/>
            </a:solidFill>
          </a:ln>
        </p:spPr>
      </p:sp>
      <p:sp>
        <p:nvSpPr>
          <p:cNvPr id="15" name="Rectangle 14">
            <a:extLst>
              <a:ext uri="{FF2B5EF4-FFF2-40B4-BE49-F238E27FC236}">
                <a16:creationId xmlns:a16="http://schemas.microsoft.com/office/drawing/2014/main" id="{EBFDD174-CDC7-494F-A916-5EAE312D572C}"/>
              </a:ext>
            </a:extLst>
          </p:cNvPr>
          <p:cNvSpPr>
            <a:spLocks noGrp="1"/>
          </p:cNvSpPr>
          <p:nvPr/>
        </p:nvSpPr>
        <p:spPr>
          <a:xfrm>
            <a:off x="6124576" y="2352675"/>
            <a:ext cx="1943099" cy="666750"/>
          </a:xfrm>
          <a:prstGeom prst="rect">
            <a:avLst/>
          </a:prstGeom>
          <a:noFill/>
          <a:ln w="0">
            <a:noFill/>
          </a:ln>
        </p:spPr>
        <p:txBody>
          <a:bodyPr anchor="ctr">
            <a:noAutofit/>
          </a:bodyPr>
          <a:lstStyle/>
          <a:p>
            <a:pPr algn="ctr">
              <a:defRPr sz="1425" b="1">
                <a:solidFill>
                  <a:srgbClr val="0B1F33"/>
                </a:solidFill>
                <a:latin typeface="Aptos"/>
                <a:ea typeface="Aptos"/>
                <a:cs typeface="Aptos"/>
              </a:defRPr>
            </a:pPr>
            <a:r>
              <a:rPr sz="2000" b="1" dirty="0" err="1">
                <a:solidFill>
                  <a:srgbClr val="0B1F33"/>
                </a:solidFill>
                <a:latin typeface="Aptos"/>
                <a:ea typeface="Aptos"/>
                <a:cs typeface="Aptos"/>
              </a:rPr>
              <a:t>Ngưỡng</a:t>
            </a:r>
            <a:r>
              <a:rPr sz="2000" b="1" dirty="0">
                <a:solidFill>
                  <a:srgbClr val="0B1F33"/>
                </a:solidFill>
                <a:latin typeface="Aptos"/>
                <a:ea typeface="Aptos"/>
                <a:cs typeface="Aptos"/>
              </a:rPr>
              <a:t> </a:t>
            </a:r>
            <a:r>
              <a:rPr sz="2000" b="1" dirty="0" err="1">
                <a:solidFill>
                  <a:srgbClr val="0B1F33"/>
                </a:solidFill>
                <a:latin typeface="Aptos"/>
                <a:ea typeface="Aptos"/>
                <a:cs typeface="Aptos"/>
              </a:rPr>
              <a:t>theo</a:t>
            </a:r>
            <a:r>
              <a:rPr sz="2000" b="1" dirty="0">
                <a:solidFill>
                  <a:srgbClr val="0B1F33"/>
                </a:solidFill>
                <a:latin typeface="Aptos"/>
                <a:ea typeface="Aptos"/>
                <a:cs typeface="Aptos"/>
              </a:rPr>
              <a:t> foreground</a:t>
            </a:r>
          </a:p>
        </p:txBody>
      </p:sp>
      <p:sp>
        <p:nvSpPr>
          <p:cNvPr id="16" name="Rectangle 15">
            <a:extLst>
              <a:ext uri="{FF2B5EF4-FFF2-40B4-BE49-F238E27FC236}">
                <a16:creationId xmlns:a16="http://schemas.microsoft.com/office/drawing/2014/main" id="{40C7B332-0C6B-41BA-B857-1B63AD42FDB0}"/>
              </a:ext>
            </a:extLst>
          </p:cNvPr>
          <p:cNvSpPr>
            <a:spLocks noGrp="1"/>
          </p:cNvSpPr>
          <p:nvPr/>
        </p:nvSpPr>
        <p:spPr>
          <a:xfrm>
            <a:off x="7924800" y="2457450"/>
            <a:ext cx="285750" cy="438150"/>
          </a:xfrm>
          <a:prstGeom prst="rect">
            <a:avLst/>
          </a:prstGeom>
          <a:noFill/>
          <a:ln w="0">
            <a:noFill/>
          </a:ln>
        </p:spPr>
        <p:txBody>
          <a:bodyPr anchor="ctr">
            <a:normAutofit fontScale="89216" lnSpcReduction="10000"/>
          </a:bodyPr>
          <a:lstStyle/>
          <a:p>
            <a:pPr algn="ctr">
              <a:defRPr sz="2550" b="1">
                <a:solidFill>
                  <a:srgbClr val="18A999"/>
                </a:solidFill>
                <a:latin typeface="Aptos"/>
                <a:ea typeface="Aptos"/>
                <a:cs typeface="Aptos"/>
              </a:defRPr>
            </a:pPr>
            <a:r>
              <a:rPr sz="2550" b="1">
                <a:solidFill>
                  <a:srgbClr val="18A999"/>
                </a:solidFill>
                <a:latin typeface="Aptos"/>
                <a:ea typeface="Aptos"/>
                <a:cs typeface="Aptos"/>
              </a:rPr>
              <a:t>›</a:t>
            </a:r>
          </a:p>
        </p:txBody>
      </p:sp>
      <p:sp>
        <p:nvSpPr>
          <p:cNvPr id="17" name="Rounded Rectangle 16">
            <a:extLst>
              <a:ext uri="{FF2B5EF4-FFF2-40B4-BE49-F238E27FC236}">
                <a16:creationId xmlns:a16="http://schemas.microsoft.com/office/drawing/2014/main" id="{26B0ECEF-3F87-4E6D-9E9B-B4B3DE40CEE6}"/>
              </a:ext>
            </a:extLst>
          </p:cNvPr>
          <p:cNvSpPr>
            <a:spLocks noGrp="1"/>
          </p:cNvSpPr>
          <p:nvPr/>
        </p:nvSpPr>
        <p:spPr>
          <a:xfrm>
            <a:off x="8210550" y="2238375"/>
            <a:ext cx="1581150" cy="895350"/>
          </a:xfrm>
          <a:prstGeom prst="roundRect">
            <a:avLst>
              <a:gd name="adj" fmla="val 8511"/>
            </a:avLst>
          </a:prstGeom>
          <a:solidFill>
            <a:srgbClr val="DFF4F2"/>
          </a:solidFill>
          <a:ln w="19050">
            <a:solidFill>
              <a:srgbClr val="A7D8D2"/>
            </a:solidFill>
          </a:ln>
        </p:spPr>
      </p:sp>
      <p:sp>
        <p:nvSpPr>
          <p:cNvPr id="18" name="Rectangle 17">
            <a:extLst>
              <a:ext uri="{FF2B5EF4-FFF2-40B4-BE49-F238E27FC236}">
                <a16:creationId xmlns:a16="http://schemas.microsoft.com/office/drawing/2014/main" id="{DDC3F65E-B934-4555-AECE-A9B9E521173B}"/>
              </a:ext>
            </a:extLst>
          </p:cNvPr>
          <p:cNvSpPr>
            <a:spLocks noGrp="1"/>
          </p:cNvSpPr>
          <p:nvPr/>
        </p:nvSpPr>
        <p:spPr>
          <a:xfrm>
            <a:off x="8305800" y="2343150"/>
            <a:ext cx="1390650" cy="666750"/>
          </a:xfrm>
          <a:prstGeom prst="rect">
            <a:avLst/>
          </a:prstGeom>
          <a:noFill/>
          <a:ln w="0">
            <a:noFill/>
          </a:ln>
        </p:spPr>
        <p:txBody>
          <a:bodyPr anchor="ctr">
            <a:noAutofit/>
          </a:bodyPr>
          <a:lstStyle/>
          <a:p>
            <a:pPr algn="ctr">
              <a:defRPr sz="1425" b="1">
                <a:solidFill>
                  <a:srgbClr val="0B1F33"/>
                </a:solidFill>
                <a:latin typeface="Aptos"/>
                <a:ea typeface="Aptos"/>
                <a:cs typeface="Aptos"/>
              </a:defRPr>
            </a:pPr>
            <a:r>
              <a:rPr sz="2000" b="1" dirty="0" err="1">
                <a:solidFill>
                  <a:srgbClr val="0B1F33"/>
                </a:solidFill>
                <a:latin typeface="Aptos"/>
                <a:ea typeface="Aptos"/>
                <a:cs typeface="Aptos"/>
              </a:rPr>
              <a:t>Lọc</a:t>
            </a:r>
            <a:r>
              <a:rPr sz="2000" b="1" dirty="0">
                <a:solidFill>
                  <a:srgbClr val="0B1F33"/>
                </a:solidFill>
                <a:latin typeface="Aptos"/>
                <a:ea typeface="Aptos"/>
                <a:cs typeface="Aptos"/>
              </a:rPr>
              <a:t> </a:t>
            </a:r>
            <a:r>
              <a:rPr sz="2000" b="1" dirty="0" err="1">
                <a:solidFill>
                  <a:srgbClr val="0B1F33"/>
                </a:solidFill>
                <a:latin typeface="Aptos"/>
                <a:ea typeface="Aptos"/>
                <a:cs typeface="Aptos"/>
              </a:rPr>
              <a:t>vùng</a:t>
            </a:r>
            <a:r>
              <a:rPr sz="2000" b="1" dirty="0">
                <a:solidFill>
                  <a:srgbClr val="0B1F33"/>
                </a:solidFill>
                <a:latin typeface="Aptos"/>
                <a:ea typeface="Aptos"/>
                <a:cs typeface="Aptos"/>
              </a:rPr>
              <a:t> </a:t>
            </a:r>
            <a:r>
              <a:rPr sz="2000" b="1" dirty="0" err="1">
                <a:solidFill>
                  <a:srgbClr val="0B1F33"/>
                </a:solidFill>
                <a:latin typeface="Aptos"/>
                <a:ea typeface="Aptos"/>
                <a:cs typeface="Aptos"/>
              </a:rPr>
              <a:t>liên</a:t>
            </a:r>
            <a:r>
              <a:rPr sz="2000" b="1" dirty="0">
                <a:solidFill>
                  <a:srgbClr val="0B1F33"/>
                </a:solidFill>
                <a:latin typeface="Aptos"/>
                <a:ea typeface="Aptos"/>
                <a:cs typeface="Aptos"/>
              </a:rPr>
              <a:t> </a:t>
            </a:r>
            <a:r>
              <a:rPr sz="2000" b="1" dirty="0" err="1">
                <a:solidFill>
                  <a:srgbClr val="0B1F33"/>
                </a:solidFill>
                <a:latin typeface="Aptos"/>
                <a:ea typeface="Aptos"/>
                <a:cs typeface="Aptos"/>
              </a:rPr>
              <a:t>thông</a:t>
            </a:r>
            <a:endParaRPr sz="2000" b="1" dirty="0">
              <a:solidFill>
                <a:srgbClr val="0B1F33"/>
              </a:solidFill>
              <a:latin typeface="Aptos"/>
              <a:ea typeface="Aptos"/>
              <a:cs typeface="Aptos"/>
            </a:endParaRPr>
          </a:p>
        </p:txBody>
      </p:sp>
      <p:sp>
        <p:nvSpPr>
          <p:cNvPr id="19" name="Rectangle 18">
            <a:extLst>
              <a:ext uri="{FF2B5EF4-FFF2-40B4-BE49-F238E27FC236}">
                <a16:creationId xmlns:a16="http://schemas.microsoft.com/office/drawing/2014/main" id="{A6CE6863-DD5B-44B5-AA60-0A69E0F06C5E}"/>
              </a:ext>
            </a:extLst>
          </p:cNvPr>
          <p:cNvSpPr>
            <a:spLocks noGrp="1"/>
          </p:cNvSpPr>
          <p:nvPr/>
        </p:nvSpPr>
        <p:spPr>
          <a:xfrm>
            <a:off x="9810750" y="2457450"/>
            <a:ext cx="285750" cy="438150"/>
          </a:xfrm>
          <a:prstGeom prst="rect">
            <a:avLst/>
          </a:prstGeom>
          <a:noFill/>
          <a:ln w="0">
            <a:noFill/>
          </a:ln>
        </p:spPr>
        <p:txBody>
          <a:bodyPr anchor="ctr">
            <a:normAutofit fontScale="89216" lnSpcReduction="10000"/>
          </a:bodyPr>
          <a:lstStyle/>
          <a:p>
            <a:pPr algn="ctr">
              <a:defRPr sz="2550" b="1">
                <a:solidFill>
                  <a:srgbClr val="18A999"/>
                </a:solidFill>
                <a:latin typeface="Aptos"/>
                <a:ea typeface="Aptos"/>
                <a:cs typeface="Aptos"/>
              </a:defRPr>
            </a:pPr>
            <a:r>
              <a:rPr sz="2550" b="1">
                <a:solidFill>
                  <a:srgbClr val="18A999"/>
                </a:solidFill>
                <a:latin typeface="Aptos"/>
                <a:ea typeface="Aptos"/>
                <a:cs typeface="Aptos"/>
              </a:rPr>
              <a:t>›</a:t>
            </a:r>
          </a:p>
        </p:txBody>
      </p:sp>
      <p:sp>
        <p:nvSpPr>
          <p:cNvPr id="20" name="Rounded Rectangle 19">
            <a:extLst>
              <a:ext uri="{FF2B5EF4-FFF2-40B4-BE49-F238E27FC236}">
                <a16:creationId xmlns:a16="http://schemas.microsoft.com/office/drawing/2014/main" id="{34D7E203-A916-4EE8-A34F-A1319A0DC43D}"/>
              </a:ext>
            </a:extLst>
          </p:cNvPr>
          <p:cNvSpPr>
            <a:spLocks noGrp="1"/>
          </p:cNvSpPr>
          <p:nvPr/>
        </p:nvSpPr>
        <p:spPr>
          <a:xfrm>
            <a:off x="10096500" y="2238375"/>
            <a:ext cx="1581150" cy="895350"/>
          </a:xfrm>
          <a:prstGeom prst="roundRect">
            <a:avLst>
              <a:gd name="adj" fmla="val 8511"/>
            </a:avLst>
          </a:prstGeom>
          <a:solidFill>
            <a:srgbClr val="18A999"/>
          </a:solidFill>
          <a:ln w="19050">
            <a:solidFill>
              <a:srgbClr val="18A999"/>
            </a:solidFill>
          </a:ln>
        </p:spPr>
      </p:sp>
      <p:sp>
        <p:nvSpPr>
          <p:cNvPr id="21" name="Rectangle 20">
            <a:extLst>
              <a:ext uri="{FF2B5EF4-FFF2-40B4-BE49-F238E27FC236}">
                <a16:creationId xmlns:a16="http://schemas.microsoft.com/office/drawing/2014/main" id="{ECAC8284-1DA7-49FF-A644-06B761CDD4FC}"/>
              </a:ext>
            </a:extLst>
          </p:cNvPr>
          <p:cNvSpPr>
            <a:spLocks noGrp="1"/>
          </p:cNvSpPr>
          <p:nvPr/>
        </p:nvSpPr>
        <p:spPr>
          <a:xfrm>
            <a:off x="10191750" y="2343150"/>
            <a:ext cx="1390650" cy="666750"/>
          </a:xfrm>
          <a:prstGeom prst="rect">
            <a:avLst/>
          </a:prstGeom>
          <a:noFill/>
          <a:ln w="0">
            <a:noFill/>
          </a:ln>
        </p:spPr>
        <p:txBody>
          <a:bodyPr anchor="ctr">
            <a:noAutofit/>
          </a:bodyPr>
          <a:lstStyle/>
          <a:p>
            <a:pPr algn="ctr">
              <a:defRPr sz="1425" b="1">
                <a:solidFill>
                  <a:srgbClr val="FFFFFF"/>
                </a:solidFill>
                <a:latin typeface="Aptos"/>
                <a:ea typeface="Aptos"/>
                <a:cs typeface="Aptos"/>
              </a:defRPr>
            </a:pPr>
            <a:r>
              <a:rPr sz="2000" b="1" dirty="0" err="1">
                <a:solidFill>
                  <a:srgbClr val="FFFFFF"/>
                </a:solidFill>
                <a:latin typeface="Aptos"/>
                <a:ea typeface="Aptos"/>
                <a:cs typeface="Aptos"/>
              </a:rPr>
              <a:t>Ngưỡng</a:t>
            </a:r>
            <a:r>
              <a:rPr sz="2000" b="1" dirty="0">
                <a:solidFill>
                  <a:srgbClr val="FFFFFF"/>
                </a:solidFill>
                <a:latin typeface="Aptos"/>
                <a:ea typeface="Aptos"/>
                <a:cs typeface="Aptos"/>
              </a:rPr>
              <a:t> </a:t>
            </a:r>
            <a:r>
              <a:rPr sz="2000" b="1" dirty="0" err="1">
                <a:solidFill>
                  <a:srgbClr val="FFFFFF"/>
                </a:solidFill>
                <a:latin typeface="Aptos"/>
                <a:ea typeface="Aptos"/>
                <a:cs typeface="Aptos"/>
              </a:rPr>
              <a:t>thích</a:t>
            </a:r>
            <a:r>
              <a:rPr sz="2000" b="1" dirty="0">
                <a:solidFill>
                  <a:srgbClr val="FFFFFF"/>
                </a:solidFill>
                <a:latin typeface="Aptos"/>
                <a:ea typeface="Aptos"/>
                <a:cs typeface="Aptos"/>
              </a:rPr>
              <a:t> </a:t>
            </a:r>
            <a:r>
              <a:rPr sz="2000" b="1" dirty="0" err="1">
                <a:solidFill>
                  <a:srgbClr val="FFFFFF"/>
                </a:solidFill>
                <a:latin typeface="Aptos"/>
                <a:ea typeface="Aptos"/>
                <a:cs typeface="Aptos"/>
              </a:rPr>
              <a:t>nghi</a:t>
            </a:r>
            <a:endParaRPr sz="2000" b="1" dirty="0">
              <a:solidFill>
                <a:srgbClr val="FFFFFF"/>
              </a:solidFill>
              <a:latin typeface="Aptos"/>
              <a:ea typeface="Aptos"/>
              <a:cs typeface="Aptos"/>
            </a:endParaRPr>
          </a:p>
        </p:txBody>
      </p:sp>
      <p:sp>
        <p:nvSpPr>
          <p:cNvPr id="22" name="Rectangle 21">
            <a:extLst>
              <a:ext uri="{FF2B5EF4-FFF2-40B4-BE49-F238E27FC236}">
                <a16:creationId xmlns:a16="http://schemas.microsoft.com/office/drawing/2014/main" id="{4D532AE2-0D40-4213-8786-52E3B608BA7A}"/>
              </a:ext>
            </a:extLst>
          </p:cNvPr>
          <p:cNvSpPr>
            <a:spLocks noGrp="1"/>
          </p:cNvSpPr>
          <p:nvPr/>
        </p:nvSpPr>
        <p:spPr>
          <a:xfrm>
            <a:off x="704850" y="4000500"/>
            <a:ext cx="3714750" cy="400050"/>
          </a:xfrm>
          <a:prstGeom prst="rect">
            <a:avLst/>
          </a:prstGeom>
          <a:noFill/>
          <a:ln w="0">
            <a:noFill/>
          </a:ln>
        </p:spPr>
        <p:txBody>
          <a:bodyPr anchor="ctr">
            <a:normAutofit/>
          </a:bodyPr>
          <a:lstStyle/>
          <a:p>
            <a:pPr algn="l">
              <a:defRPr sz="1800" b="1">
                <a:solidFill>
                  <a:srgbClr val="0B1F33"/>
                </a:solidFill>
                <a:latin typeface="Aptos"/>
                <a:ea typeface="Aptos"/>
                <a:cs typeface="Aptos"/>
              </a:defRPr>
            </a:pPr>
            <a:r>
              <a:rPr sz="2000" b="1" dirty="0" err="1">
                <a:solidFill>
                  <a:srgbClr val="0B1F33"/>
                </a:solidFill>
                <a:latin typeface="Aptos"/>
                <a:ea typeface="Aptos"/>
                <a:cs typeface="Aptos"/>
              </a:rPr>
              <a:t>Các</a:t>
            </a:r>
            <a:r>
              <a:rPr sz="2000" b="1" dirty="0">
                <a:solidFill>
                  <a:srgbClr val="0B1F33"/>
                </a:solidFill>
                <a:latin typeface="Aptos"/>
                <a:ea typeface="Aptos"/>
                <a:cs typeface="Aptos"/>
              </a:rPr>
              <a:t> </a:t>
            </a:r>
            <a:r>
              <a:rPr sz="2000" b="1" dirty="0" err="1">
                <a:solidFill>
                  <a:srgbClr val="0B1F33"/>
                </a:solidFill>
                <a:latin typeface="Aptos"/>
                <a:ea typeface="Aptos"/>
                <a:cs typeface="Aptos"/>
              </a:rPr>
              <a:t>biến</a:t>
            </a:r>
            <a:r>
              <a:rPr sz="2000" b="1" dirty="0">
                <a:solidFill>
                  <a:srgbClr val="0B1F33"/>
                </a:solidFill>
                <a:latin typeface="Aptos"/>
                <a:ea typeface="Aptos"/>
                <a:cs typeface="Aptos"/>
              </a:rPr>
              <a:t> </a:t>
            </a:r>
            <a:r>
              <a:rPr sz="2000" b="1" dirty="0" err="1">
                <a:solidFill>
                  <a:srgbClr val="0B1F33"/>
                </a:solidFill>
                <a:latin typeface="Aptos"/>
                <a:ea typeface="Aptos"/>
                <a:cs typeface="Aptos"/>
              </a:rPr>
              <a:t>thể</a:t>
            </a:r>
            <a:r>
              <a:rPr sz="2000" b="1" dirty="0">
                <a:solidFill>
                  <a:srgbClr val="0B1F33"/>
                </a:solidFill>
                <a:latin typeface="Aptos"/>
                <a:ea typeface="Aptos"/>
                <a:cs typeface="Aptos"/>
              </a:rPr>
              <a:t> </a:t>
            </a:r>
            <a:r>
              <a:rPr sz="2000" b="1" dirty="0" err="1">
                <a:solidFill>
                  <a:srgbClr val="0B1F33"/>
                </a:solidFill>
                <a:latin typeface="Aptos"/>
                <a:ea typeface="Aptos"/>
                <a:cs typeface="Aptos"/>
              </a:rPr>
              <a:t>được</a:t>
            </a:r>
            <a:r>
              <a:rPr sz="2000" b="1" dirty="0">
                <a:solidFill>
                  <a:srgbClr val="0B1F33"/>
                </a:solidFill>
                <a:latin typeface="Aptos"/>
                <a:ea typeface="Aptos"/>
                <a:cs typeface="Aptos"/>
              </a:rPr>
              <a:t> </a:t>
            </a:r>
            <a:r>
              <a:rPr sz="2000" b="1" dirty="0" err="1">
                <a:solidFill>
                  <a:srgbClr val="0B1F33"/>
                </a:solidFill>
                <a:latin typeface="Aptos"/>
                <a:ea typeface="Aptos"/>
                <a:cs typeface="Aptos"/>
              </a:rPr>
              <a:t>đánh</a:t>
            </a:r>
            <a:r>
              <a:rPr sz="2000" b="1" dirty="0">
                <a:solidFill>
                  <a:srgbClr val="0B1F33"/>
                </a:solidFill>
                <a:latin typeface="Aptos"/>
                <a:ea typeface="Aptos"/>
                <a:cs typeface="Aptos"/>
              </a:rPr>
              <a:t> </a:t>
            </a:r>
            <a:r>
              <a:rPr sz="2000" b="1" dirty="0" err="1">
                <a:solidFill>
                  <a:srgbClr val="0B1F33"/>
                </a:solidFill>
                <a:latin typeface="Aptos"/>
                <a:ea typeface="Aptos"/>
                <a:cs typeface="Aptos"/>
              </a:rPr>
              <a:t>giá</a:t>
            </a:r>
            <a:endParaRPr sz="2000" b="1" dirty="0">
              <a:solidFill>
                <a:srgbClr val="0B1F33"/>
              </a:solidFill>
              <a:latin typeface="Aptos"/>
              <a:ea typeface="Aptos"/>
              <a:cs typeface="Aptos"/>
            </a:endParaRPr>
          </a:p>
        </p:txBody>
      </p:sp>
      <p:sp>
        <p:nvSpPr>
          <p:cNvPr id="23" name="Rectangle 22">
            <a:extLst>
              <a:ext uri="{FF2B5EF4-FFF2-40B4-BE49-F238E27FC236}">
                <a16:creationId xmlns:a16="http://schemas.microsoft.com/office/drawing/2014/main" id="{A93A079F-E8E4-4BAC-B5AD-0D91EF23588A}"/>
              </a:ext>
            </a:extLst>
          </p:cNvPr>
          <p:cNvSpPr>
            <a:spLocks noGrp="1"/>
          </p:cNvSpPr>
          <p:nvPr/>
        </p:nvSpPr>
        <p:spPr>
          <a:xfrm>
            <a:off x="704850" y="4476750"/>
            <a:ext cx="8572500" cy="1104900"/>
          </a:xfrm>
          <a:prstGeom prst="rect">
            <a:avLst/>
          </a:prstGeom>
          <a:noFill/>
          <a:ln w="0">
            <a:noFill/>
          </a:ln>
        </p:spPr>
        <p:txBody>
          <a:bodyPr anchor="ctr">
            <a:normAutofit/>
          </a:bodyPr>
          <a:lstStyle/>
          <a:p>
            <a:pPr algn="l">
              <a:defRPr sz="1650" b="0">
                <a:solidFill>
                  <a:srgbClr val="172B3A"/>
                </a:solidFill>
                <a:latin typeface="Aptos"/>
                <a:ea typeface="Aptos"/>
                <a:cs typeface="Aptos"/>
              </a:defRPr>
            </a:pPr>
            <a:r>
              <a:rPr sz="2000" b="0" dirty="0" err="1">
                <a:solidFill>
                  <a:srgbClr val="172B3A"/>
                </a:solidFill>
                <a:latin typeface="Aptos"/>
                <a:ea typeface="Aptos"/>
                <a:cs typeface="Aptos"/>
              </a:rPr>
              <a:t>Độ</a:t>
            </a:r>
            <a:r>
              <a:rPr sz="2000" b="0" dirty="0">
                <a:solidFill>
                  <a:srgbClr val="172B3A"/>
                </a:solidFill>
                <a:latin typeface="Aptos"/>
                <a:ea typeface="Aptos"/>
                <a:cs typeface="Aptos"/>
              </a:rPr>
              <a:t> </a:t>
            </a:r>
            <a:r>
              <a:rPr sz="2000" b="0" dirty="0" err="1">
                <a:solidFill>
                  <a:srgbClr val="172B3A"/>
                </a:solidFill>
                <a:latin typeface="Aptos"/>
                <a:ea typeface="Aptos"/>
                <a:cs typeface="Aptos"/>
              </a:rPr>
              <a:t>phân</a:t>
            </a:r>
            <a:r>
              <a:rPr sz="2000" b="0" dirty="0">
                <a:solidFill>
                  <a:srgbClr val="172B3A"/>
                </a:solidFill>
                <a:latin typeface="Aptos"/>
                <a:ea typeface="Aptos"/>
                <a:cs typeface="Aptos"/>
              </a:rPr>
              <a:t> </a:t>
            </a:r>
            <a:r>
              <a:rPr sz="2000" b="0" dirty="0" err="1">
                <a:solidFill>
                  <a:srgbClr val="172B3A"/>
                </a:solidFill>
                <a:latin typeface="Aptos"/>
                <a:ea typeface="Aptos"/>
                <a:cs typeface="Aptos"/>
              </a:rPr>
              <a:t>giải</a:t>
            </a:r>
            <a:r>
              <a:rPr sz="2000" b="0" dirty="0">
                <a:solidFill>
                  <a:srgbClr val="172B3A"/>
                </a:solidFill>
                <a:latin typeface="Aptos"/>
                <a:ea typeface="Aptos"/>
                <a:cs typeface="Aptos"/>
              </a:rPr>
              <a:t> 224, 256, 384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512</a:t>
            </a:r>
          </a:p>
          <a:p>
            <a:pPr algn="l">
              <a:defRPr sz="1650" b="0">
                <a:solidFill>
                  <a:srgbClr val="172B3A"/>
                </a:solidFill>
                <a:latin typeface="Aptos"/>
                <a:ea typeface="Aptos"/>
                <a:cs typeface="Aptos"/>
              </a:defRPr>
            </a:pPr>
            <a:r>
              <a:rPr sz="2000" b="0" dirty="0" err="1">
                <a:solidFill>
                  <a:srgbClr val="172B3A"/>
                </a:solidFill>
                <a:latin typeface="Aptos"/>
                <a:ea typeface="Aptos"/>
                <a:cs typeface="Aptos"/>
              </a:rPr>
              <a:t>Tổng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hợp</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đa</a:t>
            </a:r>
            <a:r>
              <a:rPr sz="2000" b="0" dirty="0">
                <a:solidFill>
                  <a:srgbClr val="172B3A"/>
                </a:solidFill>
                <a:latin typeface="Aptos"/>
                <a:ea typeface="Aptos"/>
                <a:cs typeface="Aptos"/>
              </a:rPr>
              <a:t> </a:t>
            </a:r>
            <a:r>
              <a:rPr sz="2000" b="0" dirty="0" err="1">
                <a:solidFill>
                  <a:srgbClr val="172B3A"/>
                </a:solidFill>
                <a:latin typeface="Aptos"/>
                <a:ea typeface="Aptos"/>
                <a:cs typeface="Aptos"/>
              </a:rPr>
              <a:t>tỉ</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lệ</a:t>
            </a:r>
            <a:endParaRPr sz="2000" b="0" dirty="0">
              <a:solidFill>
                <a:srgbClr val="172B3A"/>
              </a:solidFill>
              <a:latin typeface="Aptos"/>
              <a:ea typeface="Aptos"/>
              <a:cs typeface="Aptos"/>
            </a:endParaRPr>
          </a:p>
          <a:p>
            <a:pPr algn="l">
              <a:defRPr sz="1650" b="0">
                <a:solidFill>
                  <a:srgbClr val="172B3A"/>
                </a:solidFill>
                <a:latin typeface="Aptos"/>
                <a:ea typeface="Aptos"/>
                <a:cs typeface="Aptos"/>
              </a:defRPr>
            </a:pPr>
            <a:r>
              <a:rPr sz="2000" b="0" dirty="0">
                <a:solidFill>
                  <a:srgbClr val="172B3A"/>
                </a:solidFill>
                <a:latin typeface="Aptos"/>
                <a:ea typeface="Aptos"/>
                <a:cs typeface="Aptos"/>
              </a:rPr>
              <a:t>Mask </a:t>
            </a:r>
            <a:r>
              <a:rPr sz="2000" b="0" dirty="0" err="1">
                <a:solidFill>
                  <a:srgbClr val="172B3A"/>
                </a:solidFill>
                <a:latin typeface="Aptos"/>
                <a:ea typeface="Aptos"/>
                <a:cs typeface="Aptos"/>
              </a:rPr>
              <a:t>theo</a:t>
            </a:r>
            <a:r>
              <a:rPr sz="2000" b="0" dirty="0">
                <a:solidFill>
                  <a:srgbClr val="172B3A"/>
                </a:solidFill>
                <a:latin typeface="Aptos"/>
                <a:ea typeface="Aptos"/>
                <a:cs typeface="Aptos"/>
              </a:rPr>
              <a:t> </a:t>
            </a:r>
            <a:r>
              <a:rPr sz="2000" b="0" dirty="0" err="1">
                <a:solidFill>
                  <a:srgbClr val="172B3A"/>
                </a:solidFill>
                <a:latin typeface="Aptos"/>
                <a:ea typeface="Aptos"/>
                <a:cs typeface="Aptos"/>
              </a:rPr>
              <a:t>ngưỡng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màu</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mask alpha </a:t>
            </a:r>
            <a:r>
              <a:rPr sz="2000" b="0" dirty="0" err="1">
                <a:solidFill>
                  <a:srgbClr val="172B3A"/>
                </a:solidFill>
                <a:latin typeface="Aptos"/>
                <a:ea typeface="Aptos"/>
                <a:cs typeface="Aptos"/>
              </a:rPr>
              <a:t>thật</a:t>
            </a:r>
            <a:endParaRPr sz="2000" b="0" dirty="0">
              <a:solidFill>
                <a:srgbClr val="172B3A"/>
              </a:solidFill>
              <a:latin typeface="Aptos"/>
              <a:ea typeface="Aptos"/>
              <a:cs typeface="Aptos"/>
            </a:endParaRPr>
          </a:p>
        </p:txBody>
      </p:sp>
      <p:pic>
        <p:nvPicPr>
          <p:cNvPr id="26" name="Picture 25"/>
          <p:cNvPicPr>
            <a:picLocks noChangeAspect="1"/>
          </p:cNvPicPr>
          <p:nvPr/>
        </p:nvPicPr>
        <p:blipFill>
          <a:blip r:embed="rId3"/>
          <a:stretch>
            <a:fillRect/>
          </a:stretch>
        </p:blipFill>
        <p:spPr>
          <a:xfrm>
            <a:off x="628650" y="569595"/>
            <a:ext cx="895350" cy="771525"/>
          </a:xfrm>
          <a:prstGeom prst="rect">
            <a:avLst/>
          </a:prstGeom>
        </p:spPr>
      </p:pic>
    </p:spTree>
    <p:extLst>
      <p:ext uri="{BB962C8B-B14F-4D97-AF65-F5344CB8AC3E}">
        <p14:creationId xmlns:p14="http://schemas.microsoft.com/office/powerpoint/2010/main" val="1258630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525653F-67A2-4457-9B0D-4EC2D08ECBC5}"/>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3D5700ED-2889-4AA0-BA64-48382F2B1FB2}"/>
              </a:ext>
            </a:extLst>
          </p:cNvPr>
          <p:cNvSpPr>
            <a:spLocks noGrp="1"/>
          </p:cNvSpPr>
          <p:nvPr/>
        </p:nvSpPr>
        <p:spPr>
          <a:xfrm>
            <a:off x="1524000" y="361950"/>
            <a:ext cx="975360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Thiết</a:t>
            </a:r>
            <a:r>
              <a:rPr sz="2550" b="1" dirty="0">
                <a:solidFill>
                  <a:srgbClr val="0B1F33"/>
                </a:solidFill>
                <a:latin typeface="Aptos"/>
                <a:ea typeface="Aptos"/>
                <a:cs typeface="Aptos"/>
              </a:rPr>
              <a:t> </a:t>
            </a:r>
            <a:r>
              <a:rPr sz="2550" b="1" dirty="0" err="1">
                <a:solidFill>
                  <a:srgbClr val="0B1F33"/>
                </a:solidFill>
                <a:latin typeface="Aptos"/>
                <a:ea typeface="Aptos"/>
                <a:cs typeface="Aptos"/>
              </a:rPr>
              <a:t>lập</a:t>
            </a:r>
            <a:r>
              <a:rPr sz="2550" b="1" dirty="0">
                <a:solidFill>
                  <a:srgbClr val="0B1F33"/>
                </a:solidFill>
                <a:latin typeface="Aptos"/>
                <a:ea typeface="Aptos"/>
                <a:cs typeface="Aptos"/>
              </a:rPr>
              <a:t> </a:t>
            </a:r>
            <a:r>
              <a:rPr sz="2550" b="1" dirty="0" err="1">
                <a:solidFill>
                  <a:srgbClr val="0B1F33"/>
                </a:solidFill>
                <a:latin typeface="Aptos"/>
                <a:ea typeface="Aptos"/>
                <a:cs typeface="Aptos"/>
              </a:rPr>
              <a:t>thực</a:t>
            </a:r>
            <a:r>
              <a:rPr sz="2550" b="1" dirty="0">
                <a:solidFill>
                  <a:srgbClr val="0B1F33"/>
                </a:solidFill>
                <a:latin typeface="Aptos"/>
                <a:ea typeface="Aptos"/>
                <a:cs typeface="Aptos"/>
              </a:rPr>
              <a:t> </a:t>
            </a:r>
            <a:r>
              <a:rPr sz="2550" b="1" dirty="0" err="1">
                <a:solidFill>
                  <a:srgbClr val="0B1F33"/>
                </a:solidFill>
                <a:latin typeface="Aptos"/>
                <a:ea typeface="Aptos"/>
                <a:cs typeface="Aptos"/>
              </a:rPr>
              <a:t>nghiệm</a:t>
            </a:r>
            <a:endParaRPr sz="2550" b="1" dirty="0">
              <a:solidFill>
                <a:srgbClr val="0B1F33"/>
              </a:solidFill>
              <a:latin typeface="Aptos"/>
              <a:ea typeface="Aptos"/>
              <a:cs typeface="Aptos"/>
            </a:endParaRPr>
          </a:p>
        </p:txBody>
      </p:sp>
      <p:sp>
        <p:nvSpPr>
          <p:cNvPr id="3" name="Rectangle 2">
            <a:extLst>
              <a:ext uri="{FF2B5EF4-FFF2-40B4-BE49-F238E27FC236}">
                <a16:creationId xmlns:a16="http://schemas.microsoft.com/office/drawing/2014/main" id="{41557515-AFEC-4FD7-A791-801D62B6802D}"/>
              </a:ext>
            </a:extLst>
          </p:cNvPr>
          <p:cNvSpPr>
            <a:spLocks noGrp="1"/>
          </p:cNvSpPr>
          <p:nvPr/>
        </p:nvSpPr>
        <p:spPr>
          <a:xfrm>
            <a:off x="1535430" y="872354"/>
            <a:ext cx="8858250" cy="274456"/>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err="1">
                <a:solidFill>
                  <a:srgbClr val="55707F"/>
                </a:solidFill>
                <a:latin typeface="Aptos"/>
                <a:ea typeface="Aptos"/>
                <a:cs typeface="Aptos"/>
              </a:rPr>
              <a:t>Tách</a:t>
            </a:r>
            <a:r>
              <a:rPr sz="2000" b="0" dirty="0">
                <a:solidFill>
                  <a:srgbClr val="55707F"/>
                </a:solidFill>
                <a:latin typeface="Aptos"/>
                <a:ea typeface="Aptos"/>
                <a:cs typeface="Aptos"/>
              </a:rPr>
              <a:t> train </a:t>
            </a:r>
            <a:r>
              <a:rPr sz="2000" b="0" dirty="0" err="1">
                <a:solidFill>
                  <a:srgbClr val="55707F"/>
                </a:solidFill>
                <a:latin typeface="Aptos"/>
                <a:ea typeface="Aptos"/>
                <a:cs typeface="Aptos"/>
              </a:rPr>
              <a:t>và</a:t>
            </a:r>
            <a:r>
              <a:rPr sz="2000" b="0" dirty="0">
                <a:solidFill>
                  <a:srgbClr val="55707F"/>
                </a:solidFill>
                <a:latin typeface="Aptos"/>
                <a:ea typeface="Aptos"/>
                <a:cs typeface="Aptos"/>
              </a:rPr>
              <a:t> calibration </a:t>
            </a:r>
            <a:r>
              <a:rPr sz="2000" b="0" dirty="0" err="1">
                <a:solidFill>
                  <a:srgbClr val="55707F"/>
                </a:solidFill>
                <a:latin typeface="Aptos"/>
                <a:ea typeface="Aptos"/>
                <a:cs typeface="Aptos"/>
              </a:rPr>
              <a:t>chỉ</a:t>
            </a:r>
            <a:r>
              <a:rPr sz="2000" b="0" dirty="0">
                <a:solidFill>
                  <a:srgbClr val="55707F"/>
                </a:solidFill>
                <a:latin typeface="Aptos"/>
                <a:ea typeface="Aptos"/>
                <a:cs typeface="Aptos"/>
              </a:rPr>
              <a:t> </a:t>
            </a:r>
            <a:r>
              <a:rPr sz="2000" b="0" dirty="0" err="1">
                <a:solidFill>
                  <a:srgbClr val="55707F"/>
                </a:solidFill>
                <a:latin typeface="Aptos"/>
                <a:ea typeface="Aptos"/>
                <a:cs typeface="Aptos"/>
              </a:rPr>
              <a:t>từ</a:t>
            </a:r>
            <a:r>
              <a:rPr sz="2000" b="0" dirty="0">
                <a:solidFill>
                  <a:srgbClr val="55707F"/>
                </a:solidFill>
                <a:latin typeface="Aptos"/>
                <a:ea typeface="Aptos"/>
                <a:cs typeface="Aptos"/>
              </a:rPr>
              <a:t> </a:t>
            </a:r>
            <a:r>
              <a:rPr sz="2000" b="0" dirty="0" err="1">
                <a:solidFill>
                  <a:srgbClr val="55707F"/>
                </a:solidFill>
                <a:latin typeface="Aptos"/>
                <a:ea typeface="Aptos"/>
                <a:cs typeface="Aptos"/>
              </a:rPr>
              <a:t>ảnh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thường</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2685E2E9-3ECA-4506-985D-0D6C9BC2499C}"/>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05</a:t>
            </a:r>
          </a:p>
        </p:txBody>
      </p:sp>
      <p:sp>
        <p:nvSpPr>
          <p:cNvPr id="5" name="Rectangle 4">
            <a:extLst>
              <a:ext uri="{FF2B5EF4-FFF2-40B4-BE49-F238E27FC236}">
                <a16:creationId xmlns:a16="http://schemas.microsoft.com/office/drawing/2014/main" id="{96117B24-343A-47FF-A792-743005AA3B81}"/>
              </a:ext>
            </a:extLst>
          </p:cNvPr>
          <p:cNvSpPr>
            <a:spLocks noGrp="1"/>
          </p:cNvSpPr>
          <p:nvPr/>
        </p:nvSpPr>
        <p:spPr>
          <a:xfrm>
            <a:off x="1047750" y="1905000"/>
            <a:ext cx="1809750" cy="857250"/>
          </a:xfrm>
          <a:prstGeom prst="rect">
            <a:avLst/>
          </a:prstGeom>
          <a:noFill/>
          <a:ln w="0">
            <a:noFill/>
          </a:ln>
        </p:spPr>
        <p:txBody>
          <a:bodyPr anchor="ctr">
            <a:normAutofit/>
          </a:bodyPr>
          <a:lstStyle/>
          <a:p>
            <a:pPr algn="ctr">
              <a:defRPr sz="3900" b="1">
                <a:solidFill>
                  <a:srgbClr val="18A999"/>
                </a:solidFill>
                <a:latin typeface="Aptos"/>
                <a:ea typeface="Aptos"/>
                <a:cs typeface="Aptos"/>
              </a:defRPr>
            </a:pPr>
            <a:r>
              <a:rPr sz="3900" b="1">
                <a:solidFill>
                  <a:srgbClr val="18A999"/>
                </a:solidFill>
                <a:latin typeface="Aptos"/>
                <a:ea typeface="Aptos"/>
                <a:cs typeface="Aptos"/>
              </a:rPr>
              <a:t>80</a:t>
            </a:r>
          </a:p>
        </p:txBody>
      </p:sp>
      <p:sp>
        <p:nvSpPr>
          <p:cNvPr id="6" name="Rectangle 5">
            <a:extLst>
              <a:ext uri="{FF2B5EF4-FFF2-40B4-BE49-F238E27FC236}">
                <a16:creationId xmlns:a16="http://schemas.microsoft.com/office/drawing/2014/main" id="{4694CF1D-561E-41BA-8D63-9703A4BCE34D}"/>
              </a:ext>
            </a:extLst>
          </p:cNvPr>
          <p:cNvSpPr>
            <a:spLocks noGrp="1"/>
          </p:cNvSpPr>
          <p:nvPr/>
        </p:nvSpPr>
        <p:spPr>
          <a:xfrm>
            <a:off x="1047750" y="2781300"/>
            <a:ext cx="2000250" cy="381000"/>
          </a:xfrm>
          <a:prstGeom prst="rect">
            <a:avLst/>
          </a:prstGeom>
          <a:noFill/>
          <a:ln w="0">
            <a:noFill/>
          </a:ln>
        </p:spPr>
        <p:txBody>
          <a:bodyPr anchor="ctr">
            <a:noAutofit/>
          </a:bodyPr>
          <a:lstStyle/>
          <a:p>
            <a:pPr algn="ctr">
              <a:defRPr sz="1425" b="0">
                <a:solidFill>
                  <a:srgbClr val="55707F"/>
                </a:solidFill>
                <a:latin typeface="Aptos"/>
                <a:ea typeface="Aptos"/>
                <a:cs typeface="Aptos"/>
              </a:defRPr>
            </a:pPr>
            <a:r>
              <a:rPr sz="2000" b="0" dirty="0" err="1">
                <a:solidFill>
                  <a:srgbClr val="55707F"/>
                </a:solidFill>
                <a:latin typeface="Aptos"/>
                <a:ea typeface="Aptos"/>
                <a:cs typeface="Aptos"/>
              </a:rPr>
              <a:t>ảnh</a:t>
            </a:r>
            <a:r>
              <a:rPr sz="2000" b="0" dirty="0">
                <a:solidFill>
                  <a:srgbClr val="55707F"/>
                </a:solidFill>
                <a:latin typeface="Aptos"/>
                <a:ea typeface="Aptos"/>
                <a:cs typeface="Aptos"/>
              </a:rPr>
              <a:t> train </a:t>
            </a:r>
            <a:r>
              <a:rPr sz="2000" b="0" dirty="0" err="1">
                <a:solidFill>
                  <a:srgbClr val="55707F"/>
                </a:solidFill>
                <a:latin typeface="Aptos"/>
                <a:ea typeface="Aptos"/>
                <a:cs typeface="Aptos"/>
              </a:rPr>
              <a:t>mỗi</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lớp</a:t>
            </a:r>
            <a:endParaRPr sz="2000" b="0" dirty="0">
              <a:solidFill>
                <a:srgbClr val="55707F"/>
              </a:solidFill>
              <a:latin typeface="Aptos"/>
              <a:ea typeface="Aptos"/>
              <a:cs typeface="Aptos"/>
            </a:endParaRPr>
          </a:p>
        </p:txBody>
      </p:sp>
      <p:sp>
        <p:nvSpPr>
          <p:cNvPr id="7" name="Rectangle 6">
            <a:extLst>
              <a:ext uri="{FF2B5EF4-FFF2-40B4-BE49-F238E27FC236}">
                <a16:creationId xmlns:a16="http://schemas.microsoft.com/office/drawing/2014/main" id="{AB470EB7-5619-4836-A9FD-273E5ADF5F05}"/>
              </a:ext>
            </a:extLst>
          </p:cNvPr>
          <p:cNvSpPr>
            <a:spLocks noGrp="1"/>
          </p:cNvSpPr>
          <p:nvPr/>
        </p:nvSpPr>
        <p:spPr>
          <a:xfrm>
            <a:off x="3568279" y="2000250"/>
            <a:ext cx="1809750" cy="857250"/>
          </a:xfrm>
          <a:prstGeom prst="rect">
            <a:avLst/>
          </a:prstGeom>
          <a:noFill/>
          <a:ln w="0">
            <a:noFill/>
          </a:ln>
        </p:spPr>
        <p:txBody>
          <a:bodyPr anchor="ctr">
            <a:normAutofit/>
          </a:bodyPr>
          <a:lstStyle/>
          <a:p>
            <a:pPr algn="ctr">
              <a:defRPr sz="3900" b="1">
                <a:solidFill>
                  <a:srgbClr val="0E5A78"/>
                </a:solidFill>
                <a:latin typeface="Aptos"/>
                <a:ea typeface="Aptos"/>
                <a:cs typeface="Aptos"/>
              </a:defRPr>
            </a:pPr>
            <a:r>
              <a:rPr sz="3900" b="1">
                <a:solidFill>
                  <a:srgbClr val="0E5A78"/>
                </a:solidFill>
                <a:latin typeface="Aptos"/>
                <a:ea typeface="Aptos"/>
                <a:cs typeface="Aptos"/>
              </a:rPr>
              <a:t>20</a:t>
            </a:r>
          </a:p>
        </p:txBody>
      </p:sp>
      <p:sp>
        <p:nvSpPr>
          <p:cNvPr id="8" name="Rectangle 7">
            <a:extLst>
              <a:ext uri="{FF2B5EF4-FFF2-40B4-BE49-F238E27FC236}">
                <a16:creationId xmlns:a16="http://schemas.microsoft.com/office/drawing/2014/main" id="{47F1604B-18D2-4577-83B1-17A6DE004CC4}"/>
              </a:ext>
            </a:extLst>
          </p:cNvPr>
          <p:cNvSpPr>
            <a:spLocks noGrp="1"/>
          </p:cNvSpPr>
          <p:nvPr/>
        </p:nvSpPr>
        <p:spPr>
          <a:xfrm>
            <a:off x="3167095" y="2781300"/>
            <a:ext cx="2700810" cy="381000"/>
          </a:xfrm>
          <a:prstGeom prst="rect">
            <a:avLst/>
          </a:prstGeom>
          <a:noFill/>
          <a:ln w="0">
            <a:noFill/>
          </a:ln>
        </p:spPr>
        <p:txBody>
          <a:bodyPr anchor="ctr">
            <a:noAutofit/>
          </a:bodyPr>
          <a:lstStyle/>
          <a:p>
            <a:pPr algn="ctr">
              <a:defRPr sz="1425" b="0">
                <a:solidFill>
                  <a:srgbClr val="55707F"/>
                </a:solidFill>
                <a:latin typeface="Aptos"/>
                <a:ea typeface="Aptos"/>
                <a:cs typeface="Aptos"/>
              </a:defRPr>
            </a:pPr>
            <a:r>
              <a:rPr sz="2000" b="0" dirty="0" err="1">
                <a:solidFill>
                  <a:srgbClr val="55707F"/>
                </a:solidFill>
                <a:latin typeface="Aptos"/>
                <a:ea typeface="Aptos"/>
                <a:cs typeface="Aptos"/>
              </a:rPr>
              <a:t>ảnh</a:t>
            </a:r>
            <a:r>
              <a:rPr sz="2000" b="0" dirty="0">
                <a:solidFill>
                  <a:srgbClr val="55707F"/>
                </a:solidFill>
                <a:latin typeface="Aptos"/>
                <a:ea typeface="Aptos"/>
                <a:cs typeface="Aptos"/>
              </a:rPr>
              <a:t> calibration </a:t>
            </a:r>
            <a:r>
              <a:rPr sz="2000" b="0" dirty="0" err="1">
                <a:solidFill>
                  <a:srgbClr val="55707F"/>
                </a:solidFill>
                <a:latin typeface="Aptos"/>
                <a:ea typeface="Aptos"/>
                <a:cs typeface="Aptos"/>
              </a:rPr>
              <a:t>mỗi</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lớp</a:t>
            </a:r>
            <a:endParaRPr sz="2000" b="0" dirty="0">
              <a:solidFill>
                <a:srgbClr val="55707F"/>
              </a:solidFill>
              <a:latin typeface="Aptos"/>
              <a:ea typeface="Aptos"/>
              <a:cs typeface="Aptos"/>
            </a:endParaRPr>
          </a:p>
        </p:txBody>
      </p:sp>
      <p:sp>
        <p:nvSpPr>
          <p:cNvPr id="9" name="Rectangle 8">
            <a:extLst>
              <a:ext uri="{FF2B5EF4-FFF2-40B4-BE49-F238E27FC236}">
                <a16:creationId xmlns:a16="http://schemas.microsoft.com/office/drawing/2014/main" id="{CDA8CEC8-9DBF-4E7F-BE4D-9FA2E85EEC7D}"/>
              </a:ext>
            </a:extLst>
          </p:cNvPr>
          <p:cNvSpPr>
            <a:spLocks noGrp="1"/>
          </p:cNvSpPr>
          <p:nvPr/>
        </p:nvSpPr>
        <p:spPr>
          <a:xfrm>
            <a:off x="6701310" y="1952625"/>
            <a:ext cx="1809750" cy="857250"/>
          </a:xfrm>
          <a:prstGeom prst="rect">
            <a:avLst/>
          </a:prstGeom>
          <a:noFill/>
          <a:ln w="0">
            <a:noFill/>
          </a:ln>
        </p:spPr>
        <p:txBody>
          <a:bodyPr anchor="ctr">
            <a:normAutofit/>
          </a:bodyPr>
          <a:lstStyle/>
          <a:p>
            <a:pPr algn="ctr">
              <a:defRPr sz="3900" b="1">
                <a:solidFill>
                  <a:srgbClr val="E3A72F"/>
                </a:solidFill>
                <a:latin typeface="Aptos"/>
                <a:ea typeface="Aptos"/>
                <a:cs typeface="Aptos"/>
              </a:defRPr>
            </a:pPr>
            <a:r>
              <a:rPr sz="3900" b="1" dirty="0">
                <a:solidFill>
                  <a:srgbClr val="E3A72F"/>
                </a:solidFill>
                <a:latin typeface="Aptos"/>
                <a:ea typeface="Aptos"/>
                <a:cs typeface="Aptos"/>
              </a:rPr>
              <a:t>5</a:t>
            </a:r>
          </a:p>
        </p:txBody>
      </p:sp>
      <p:sp>
        <p:nvSpPr>
          <p:cNvPr id="10" name="Rectangle 9">
            <a:extLst>
              <a:ext uri="{FF2B5EF4-FFF2-40B4-BE49-F238E27FC236}">
                <a16:creationId xmlns:a16="http://schemas.microsoft.com/office/drawing/2014/main" id="{EC4AF5CA-18C4-46DE-B67C-78CD2FC27580}"/>
              </a:ext>
            </a:extLst>
          </p:cNvPr>
          <p:cNvSpPr>
            <a:spLocks noGrp="1"/>
          </p:cNvSpPr>
          <p:nvPr/>
        </p:nvSpPr>
        <p:spPr>
          <a:xfrm>
            <a:off x="6813973" y="2781300"/>
            <a:ext cx="1809750" cy="381000"/>
          </a:xfrm>
          <a:prstGeom prst="rect">
            <a:avLst/>
          </a:prstGeom>
          <a:noFill/>
          <a:ln w="0">
            <a:noFill/>
          </a:ln>
        </p:spPr>
        <p:txBody>
          <a:bodyPr anchor="ctr">
            <a:noAutofit/>
          </a:bodyPr>
          <a:lstStyle/>
          <a:p>
            <a:pPr algn="ctr">
              <a:defRPr sz="1425" b="0">
                <a:solidFill>
                  <a:srgbClr val="55707F"/>
                </a:solidFill>
                <a:latin typeface="Aptos"/>
                <a:ea typeface="Aptos"/>
                <a:cs typeface="Aptos"/>
              </a:defRPr>
            </a:pPr>
            <a:r>
              <a:rPr sz="2000" b="0" dirty="0">
                <a:solidFill>
                  <a:srgbClr val="55707F"/>
                </a:solidFill>
                <a:latin typeface="Aptos"/>
                <a:ea typeface="Aptos"/>
                <a:cs typeface="Aptos"/>
              </a:rPr>
              <a:t>random seeds</a:t>
            </a:r>
          </a:p>
        </p:txBody>
      </p:sp>
      <p:sp>
        <p:nvSpPr>
          <p:cNvPr id="11" name="Rectangle 10">
            <a:extLst>
              <a:ext uri="{FF2B5EF4-FFF2-40B4-BE49-F238E27FC236}">
                <a16:creationId xmlns:a16="http://schemas.microsoft.com/office/drawing/2014/main" id="{D429FEA6-67EE-4DEC-8E2B-9D27E8A3DAC8}"/>
              </a:ext>
            </a:extLst>
          </p:cNvPr>
          <p:cNvSpPr>
            <a:spLocks noGrp="1"/>
          </p:cNvSpPr>
          <p:nvPr/>
        </p:nvSpPr>
        <p:spPr>
          <a:xfrm>
            <a:off x="857250" y="4191000"/>
            <a:ext cx="2476500" cy="381000"/>
          </a:xfrm>
          <a:prstGeom prst="rect">
            <a:avLst/>
          </a:prstGeom>
          <a:noFill/>
          <a:ln w="0">
            <a:noFill/>
          </a:ln>
        </p:spPr>
        <p:txBody>
          <a:bodyPr anchor="ctr">
            <a:noAutofit/>
          </a:bodyPr>
          <a:lstStyle/>
          <a:p>
            <a:pPr algn="l">
              <a:defRPr sz="1800" b="1">
                <a:solidFill>
                  <a:srgbClr val="0B1F33"/>
                </a:solidFill>
                <a:latin typeface="Aptos"/>
                <a:ea typeface="Aptos"/>
                <a:cs typeface="Aptos"/>
              </a:defRPr>
            </a:pPr>
            <a:r>
              <a:rPr sz="2000" b="1" dirty="0" err="1">
                <a:solidFill>
                  <a:srgbClr val="0B1F33"/>
                </a:solidFill>
                <a:latin typeface="Aptos"/>
                <a:ea typeface="Aptos"/>
                <a:cs typeface="Aptos"/>
              </a:rPr>
              <a:t>Chỉ</a:t>
            </a:r>
            <a:r>
              <a:rPr sz="2000" b="1" dirty="0">
                <a:solidFill>
                  <a:srgbClr val="0B1F33"/>
                </a:solidFill>
                <a:latin typeface="Aptos"/>
                <a:ea typeface="Aptos"/>
                <a:cs typeface="Aptos"/>
              </a:rPr>
              <a:t> </a:t>
            </a:r>
            <a:r>
              <a:rPr sz="2000" b="1" dirty="0" err="1">
                <a:solidFill>
                  <a:srgbClr val="0B1F33"/>
                </a:solidFill>
                <a:latin typeface="Aptos"/>
                <a:ea typeface="Aptos"/>
                <a:cs typeface="Aptos"/>
              </a:rPr>
              <a:t>số</a:t>
            </a:r>
            <a:r>
              <a:rPr sz="2000" b="1" dirty="0">
                <a:solidFill>
                  <a:srgbClr val="0B1F33"/>
                </a:solidFill>
                <a:latin typeface="Aptos"/>
                <a:ea typeface="Aptos"/>
                <a:cs typeface="Aptos"/>
              </a:rPr>
              <a:t> </a:t>
            </a:r>
            <a:r>
              <a:rPr sz="2000" b="1" dirty="0" err="1">
                <a:solidFill>
                  <a:srgbClr val="0B1F33"/>
                </a:solidFill>
                <a:latin typeface="Aptos"/>
                <a:ea typeface="Aptos"/>
                <a:cs typeface="Aptos"/>
              </a:rPr>
              <a:t>chính</a:t>
            </a:r>
            <a:endParaRPr sz="2000" b="1" dirty="0">
              <a:solidFill>
                <a:srgbClr val="0B1F33"/>
              </a:solidFill>
              <a:latin typeface="Aptos"/>
              <a:ea typeface="Aptos"/>
              <a:cs typeface="Aptos"/>
            </a:endParaRPr>
          </a:p>
        </p:txBody>
      </p:sp>
      <p:sp>
        <p:nvSpPr>
          <p:cNvPr id="12" name="Rectangle 11">
            <a:extLst>
              <a:ext uri="{FF2B5EF4-FFF2-40B4-BE49-F238E27FC236}">
                <a16:creationId xmlns:a16="http://schemas.microsoft.com/office/drawing/2014/main" id="{83DC78D8-3C51-4D0C-AD74-A8366241EAFE}"/>
              </a:ext>
            </a:extLst>
          </p:cNvPr>
          <p:cNvSpPr>
            <a:spLocks noGrp="1"/>
          </p:cNvSpPr>
          <p:nvPr/>
        </p:nvSpPr>
        <p:spPr>
          <a:xfrm>
            <a:off x="857250" y="4629150"/>
            <a:ext cx="7620000" cy="857250"/>
          </a:xfrm>
          <a:prstGeom prst="rect">
            <a:avLst/>
          </a:prstGeom>
          <a:noFill/>
          <a:ln w="0">
            <a:noFill/>
          </a:ln>
        </p:spPr>
        <p:txBody>
          <a:bodyPr anchor="ctr">
            <a:normAutofit/>
          </a:bodyPr>
          <a:lstStyle/>
          <a:p>
            <a:pPr algn="l">
              <a:defRPr sz="1650" b="0">
                <a:solidFill>
                  <a:srgbClr val="172B3A"/>
                </a:solidFill>
                <a:latin typeface="Aptos"/>
                <a:ea typeface="Aptos"/>
                <a:cs typeface="Aptos"/>
              </a:defRPr>
            </a:pPr>
            <a:r>
              <a:rPr sz="2000" b="0" dirty="0">
                <a:solidFill>
                  <a:srgbClr val="172B3A"/>
                </a:solidFill>
                <a:latin typeface="Aptos"/>
                <a:ea typeface="Aptos"/>
                <a:cs typeface="Aptos"/>
              </a:rPr>
              <a:t>Image-level AUROC </a:t>
            </a:r>
            <a:r>
              <a:rPr sz="2000" b="0" dirty="0" err="1">
                <a:solidFill>
                  <a:srgbClr val="172B3A"/>
                </a:solidFill>
                <a:latin typeface="Aptos"/>
                <a:ea typeface="Aptos"/>
                <a:cs typeface="Aptos"/>
              </a:rPr>
              <a:t>cho</a:t>
            </a:r>
            <a:r>
              <a:rPr sz="2000" b="0" dirty="0">
                <a:solidFill>
                  <a:srgbClr val="172B3A"/>
                </a:solidFill>
                <a:latin typeface="Aptos"/>
                <a:ea typeface="Aptos"/>
                <a:cs typeface="Aptos"/>
              </a:rPr>
              <a:t> </a:t>
            </a:r>
            <a:r>
              <a:rPr sz="2000" b="0" dirty="0" err="1">
                <a:solidFill>
                  <a:srgbClr val="172B3A"/>
                </a:solidFill>
                <a:latin typeface="Aptos"/>
                <a:ea typeface="Aptos"/>
                <a:cs typeface="Aptos"/>
              </a:rPr>
              <a:t>phân</a:t>
            </a:r>
            <a:r>
              <a:rPr sz="2000" b="0" dirty="0">
                <a:solidFill>
                  <a:srgbClr val="172B3A"/>
                </a:solidFill>
                <a:latin typeface="Aptos"/>
                <a:ea typeface="Aptos"/>
                <a:cs typeface="Aptos"/>
              </a:rPr>
              <a:t> </a:t>
            </a:r>
            <a:r>
              <a:rPr sz="2000" b="0" dirty="0" err="1">
                <a:solidFill>
                  <a:srgbClr val="172B3A"/>
                </a:solidFill>
                <a:latin typeface="Aptos"/>
                <a:ea typeface="Aptos"/>
                <a:cs typeface="Aptos"/>
              </a:rPr>
              <a:t>loại</a:t>
            </a:r>
            <a:endParaRPr sz="2000" b="0" dirty="0">
              <a:solidFill>
                <a:srgbClr val="172B3A"/>
              </a:solidFill>
              <a:latin typeface="Aptos"/>
              <a:ea typeface="Aptos"/>
              <a:cs typeface="Aptos"/>
            </a:endParaRPr>
          </a:p>
          <a:p>
            <a:pPr algn="l">
              <a:defRPr sz="1650" b="0">
                <a:solidFill>
                  <a:srgbClr val="172B3A"/>
                </a:solidFill>
                <a:latin typeface="Aptos"/>
                <a:ea typeface="Aptos"/>
                <a:cs typeface="Aptos"/>
              </a:defRPr>
            </a:pPr>
            <a:r>
              <a:rPr sz="2000" b="0" dirty="0" err="1">
                <a:solidFill>
                  <a:srgbClr val="172B3A"/>
                </a:solidFill>
                <a:latin typeface="Aptos"/>
                <a:ea typeface="Aptos"/>
                <a:cs typeface="Aptos"/>
              </a:rPr>
              <a:t>IoU</a:t>
            </a:r>
            <a:r>
              <a:rPr sz="2000" b="0" dirty="0">
                <a:solidFill>
                  <a:srgbClr val="172B3A"/>
                </a:solidFill>
                <a:latin typeface="Aptos"/>
                <a:ea typeface="Aptos"/>
                <a:cs typeface="Aptos"/>
              </a:rPr>
              <a:t>, Coverage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Pointing Game </a:t>
            </a:r>
            <a:r>
              <a:rPr sz="2000" b="0" dirty="0" err="1">
                <a:solidFill>
                  <a:srgbClr val="172B3A"/>
                </a:solidFill>
                <a:latin typeface="Aptos"/>
                <a:ea typeface="Aptos"/>
                <a:cs typeface="Aptos"/>
              </a:rPr>
              <a:t>cho</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định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vị</a:t>
            </a:r>
            <a:endParaRPr sz="2000" b="0" dirty="0">
              <a:solidFill>
                <a:srgbClr val="172B3A"/>
              </a:solidFill>
              <a:latin typeface="Aptos"/>
              <a:ea typeface="Aptos"/>
              <a:cs typeface="Aptos"/>
            </a:endParaRPr>
          </a:p>
        </p:txBody>
      </p:sp>
      <p:pic>
        <p:nvPicPr>
          <p:cNvPr id="14" name="Picture 13"/>
          <p:cNvPicPr>
            <a:picLocks noChangeAspect="1"/>
          </p:cNvPicPr>
          <p:nvPr/>
        </p:nvPicPr>
        <p:blipFill>
          <a:blip r:embed="rId3"/>
          <a:stretch>
            <a:fillRect/>
          </a:stretch>
        </p:blipFill>
        <p:spPr>
          <a:xfrm>
            <a:off x="643890" y="420869"/>
            <a:ext cx="895350" cy="771525"/>
          </a:xfrm>
          <a:prstGeom prst="rect">
            <a:avLst/>
          </a:prstGeom>
        </p:spPr>
      </p:pic>
    </p:spTree>
    <p:extLst>
      <p:ext uri="{BB962C8B-B14F-4D97-AF65-F5344CB8AC3E}">
        <p14:creationId xmlns:p14="http://schemas.microsoft.com/office/powerpoint/2010/main" val="161198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F37499-8837-4EA9-9848-CA149F5EE73B}"/>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E5600527-790C-486A-807E-F2A5A502DB4E}"/>
              </a:ext>
            </a:extLst>
          </p:cNvPr>
          <p:cNvSpPr>
            <a:spLocks noGrp="1"/>
          </p:cNvSpPr>
          <p:nvPr/>
        </p:nvSpPr>
        <p:spPr>
          <a:xfrm>
            <a:off x="1478280" y="361950"/>
            <a:ext cx="1000125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PatchCore</a:t>
            </a:r>
            <a:r>
              <a:rPr sz="2550" b="1" dirty="0">
                <a:solidFill>
                  <a:srgbClr val="0B1F33"/>
                </a:solidFill>
                <a:latin typeface="Aptos"/>
                <a:ea typeface="Aptos"/>
                <a:cs typeface="Aptos"/>
              </a:rPr>
              <a:t> </a:t>
            </a:r>
            <a:r>
              <a:rPr sz="2550" b="1" dirty="0" err="1">
                <a:solidFill>
                  <a:srgbClr val="0B1F33"/>
                </a:solidFill>
                <a:latin typeface="Aptos"/>
                <a:ea typeface="Aptos"/>
                <a:cs typeface="Aptos"/>
              </a:rPr>
              <a:t>vượt</a:t>
            </a:r>
            <a:r>
              <a:rPr sz="2550" b="1" dirty="0">
                <a:solidFill>
                  <a:srgbClr val="0B1F33"/>
                </a:solidFill>
                <a:latin typeface="Aptos"/>
                <a:ea typeface="Aptos"/>
                <a:cs typeface="Aptos"/>
              </a:rPr>
              <a:t> </a:t>
            </a:r>
            <a:r>
              <a:rPr sz="2550" b="1" dirty="0" err="1">
                <a:solidFill>
                  <a:srgbClr val="0B1F33"/>
                </a:solidFill>
                <a:latin typeface="Aptos"/>
                <a:ea typeface="Aptos"/>
                <a:cs typeface="Aptos"/>
              </a:rPr>
              <a:t>đường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cơ</a:t>
            </a:r>
            <a:r>
              <a:rPr sz="2550" b="1" dirty="0">
                <a:solidFill>
                  <a:srgbClr val="0B1F33"/>
                </a:solidFill>
                <a:latin typeface="Aptos"/>
                <a:ea typeface="Aptos"/>
                <a:cs typeface="Aptos"/>
              </a:rPr>
              <a:t> </a:t>
            </a:r>
            <a:r>
              <a:rPr sz="2550" b="1" dirty="0" err="1">
                <a:solidFill>
                  <a:srgbClr val="0B1F33"/>
                </a:solidFill>
                <a:latin typeface="Aptos"/>
                <a:ea typeface="Aptos"/>
                <a:cs typeface="Aptos"/>
              </a:rPr>
              <a:t>sở</a:t>
            </a:r>
            <a:r>
              <a:rPr sz="2550" b="1" dirty="0">
                <a:solidFill>
                  <a:srgbClr val="0B1F33"/>
                </a:solidFill>
                <a:latin typeface="Aptos"/>
                <a:ea typeface="Aptos"/>
                <a:cs typeface="Aptos"/>
              </a:rPr>
              <a:t> </a:t>
            </a:r>
            <a:r>
              <a:rPr sz="2550" b="1" dirty="0" err="1">
                <a:solidFill>
                  <a:srgbClr val="0B1F33"/>
                </a:solidFill>
                <a:latin typeface="Aptos"/>
                <a:ea typeface="Aptos"/>
                <a:cs typeface="Aptos"/>
              </a:rPr>
              <a:t>thống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kê</a:t>
            </a:r>
            <a:endParaRPr sz="2550" b="1" dirty="0">
              <a:solidFill>
                <a:srgbClr val="0B1F33"/>
              </a:solidFill>
              <a:latin typeface="Aptos"/>
              <a:ea typeface="Aptos"/>
              <a:cs typeface="Aptos"/>
            </a:endParaRPr>
          </a:p>
        </p:txBody>
      </p:sp>
      <p:sp>
        <p:nvSpPr>
          <p:cNvPr id="4" name="Rectangle 3">
            <a:extLst>
              <a:ext uri="{FF2B5EF4-FFF2-40B4-BE49-F238E27FC236}">
                <a16:creationId xmlns:a16="http://schemas.microsoft.com/office/drawing/2014/main" id="{282F46C7-3F4E-4486-8838-A64091D49093}"/>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06</a:t>
            </a:r>
          </a:p>
        </p:txBody>
      </p:sp>
      <p:graphicFrame>
        <p:nvGraphicFramePr>
          <p:cNvPr id="13" name="Chart"/>
          <p:cNvGraphicFramePr/>
          <p:nvPr/>
        </p:nvGraphicFramePr>
        <p:xfrm>
          <a:off x="857250" y="1714500"/>
          <a:ext cx="7429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C94AD588-5D4C-4D15-99A9-790FCF7AD27F}"/>
              </a:ext>
            </a:extLst>
          </p:cNvPr>
          <p:cNvSpPr>
            <a:spLocks noGrp="1"/>
          </p:cNvSpPr>
          <p:nvPr/>
        </p:nvSpPr>
        <p:spPr>
          <a:xfrm>
            <a:off x="8858250" y="2286000"/>
            <a:ext cx="2381250" cy="704850"/>
          </a:xfrm>
          <a:prstGeom prst="rect">
            <a:avLst/>
          </a:prstGeom>
          <a:noFill/>
          <a:ln w="0">
            <a:noFill/>
          </a:ln>
        </p:spPr>
        <p:txBody>
          <a:bodyPr anchor="ctr">
            <a:normAutofit/>
          </a:bodyPr>
          <a:lstStyle/>
          <a:p>
            <a:pPr algn="ctr">
              <a:defRPr sz="3000" b="1">
                <a:solidFill>
                  <a:srgbClr val="18A999"/>
                </a:solidFill>
                <a:latin typeface="Aptos"/>
                <a:ea typeface="Aptos"/>
                <a:cs typeface="Aptos"/>
              </a:defRPr>
            </a:pPr>
            <a:r>
              <a:rPr sz="3000" b="1" dirty="0">
                <a:solidFill>
                  <a:srgbClr val="18A999"/>
                </a:solidFill>
                <a:latin typeface="Aptos"/>
                <a:ea typeface="Aptos"/>
                <a:cs typeface="Aptos"/>
              </a:rPr>
              <a:t>+9,8 </a:t>
            </a:r>
            <a:r>
              <a:rPr sz="3000" b="1" dirty="0" err="1">
                <a:solidFill>
                  <a:srgbClr val="18A999"/>
                </a:solidFill>
                <a:latin typeface="Aptos"/>
                <a:ea typeface="Aptos"/>
                <a:cs typeface="Aptos"/>
              </a:rPr>
              <a:t>điểm</a:t>
            </a:r>
            <a:endParaRPr sz="3000" b="1" dirty="0">
              <a:solidFill>
                <a:srgbClr val="18A999"/>
              </a:solidFill>
              <a:latin typeface="Aptos"/>
              <a:ea typeface="Aptos"/>
              <a:cs typeface="Aptos"/>
            </a:endParaRPr>
          </a:p>
        </p:txBody>
      </p:sp>
      <p:sp>
        <p:nvSpPr>
          <p:cNvPr id="7" name="Rectangle 6">
            <a:extLst>
              <a:ext uri="{FF2B5EF4-FFF2-40B4-BE49-F238E27FC236}">
                <a16:creationId xmlns:a16="http://schemas.microsoft.com/office/drawing/2014/main" id="{1A44F7EA-6D4C-430A-8142-B230A47FD6D1}"/>
              </a:ext>
            </a:extLst>
          </p:cNvPr>
          <p:cNvSpPr>
            <a:spLocks noGrp="1"/>
          </p:cNvSpPr>
          <p:nvPr/>
        </p:nvSpPr>
        <p:spPr>
          <a:xfrm>
            <a:off x="8858250" y="3048000"/>
            <a:ext cx="2381250" cy="523875"/>
          </a:xfrm>
          <a:prstGeom prst="rect">
            <a:avLst/>
          </a:prstGeom>
          <a:noFill/>
          <a:ln w="0">
            <a:noFill/>
          </a:ln>
        </p:spPr>
        <p:txBody>
          <a:bodyPr anchor="ctr">
            <a:noAutofit/>
          </a:bodyPr>
          <a:lstStyle/>
          <a:p>
            <a:pPr algn="ctr">
              <a:defRPr sz="1350" b="0">
                <a:solidFill>
                  <a:srgbClr val="55707F"/>
                </a:solidFill>
                <a:latin typeface="Aptos"/>
                <a:ea typeface="Aptos"/>
                <a:cs typeface="Aptos"/>
              </a:defRPr>
            </a:pPr>
            <a:r>
              <a:rPr sz="2000" b="0" dirty="0">
                <a:solidFill>
                  <a:srgbClr val="55707F"/>
                </a:solidFill>
                <a:latin typeface="Aptos"/>
                <a:ea typeface="Aptos"/>
                <a:cs typeface="Aptos"/>
              </a:rPr>
              <a:t>so </a:t>
            </a:r>
            <a:r>
              <a:rPr sz="2000" b="0" dirty="0" err="1">
                <a:solidFill>
                  <a:srgbClr val="55707F"/>
                </a:solidFill>
                <a:latin typeface="Aptos"/>
                <a:ea typeface="Aptos"/>
                <a:cs typeface="Aptos"/>
              </a:rPr>
              <a:t>với</a:t>
            </a:r>
            <a:r>
              <a:rPr sz="2000" b="0" dirty="0">
                <a:solidFill>
                  <a:srgbClr val="55707F"/>
                </a:solidFill>
                <a:latin typeface="Aptos"/>
                <a:ea typeface="Aptos"/>
                <a:cs typeface="Aptos"/>
              </a:rPr>
              <a:t> Isolation Forest</a:t>
            </a:r>
          </a:p>
        </p:txBody>
      </p:sp>
      <p:sp>
        <p:nvSpPr>
          <p:cNvPr id="8" name="Rectangle 7">
            <a:extLst>
              <a:ext uri="{FF2B5EF4-FFF2-40B4-BE49-F238E27FC236}">
                <a16:creationId xmlns:a16="http://schemas.microsoft.com/office/drawing/2014/main" id="{EDB518F6-A64D-4621-9A2F-D34894025A7F}"/>
              </a:ext>
            </a:extLst>
          </p:cNvPr>
          <p:cNvSpPr>
            <a:spLocks noGrp="1"/>
          </p:cNvSpPr>
          <p:nvPr/>
        </p:nvSpPr>
        <p:spPr>
          <a:xfrm>
            <a:off x="8572500" y="4191000"/>
            <a:ext cx="2952750" cy="762000"/>
          </a:xfrm>
          <a:prstGeom prst="rect">
            <a:avLst/>
          </a:prstGeom>
          <a:noFill/>
          <a:ln w="0">
            <a:noFill/>
          </a:ln>
        </p:spPr>
        <p:txBody>
          <a:bodyPr anchor="ctr">
            <a:normAutofit/>
          </a:bodyPr>
          <a:lstStyle/>
          <a:p>
            <a:pPr algn="ctr">
              <a:defRPr sz="1500" b="1">
                <a:solidFill>
                  <a:srgbClr val="172B3A"/>
                </a:solidFill>
                <a:latin typeface="Aptos"/>
                <a:ea typeface="Aptos"/>
                <a:cs typeface="Aptos"/>
              </a:defRPr>
            </a:pPr>
            <a:r>
              <a:rPr sz="2000" b="1" dirty="0">
                <a:solidFill>
                  <a:srgbClr val="172B3A"/>
                </a:solidFill>
                <a:latin typeface="Aptos"/>
                <a:ea typeface="Aptos"/>
                <a:cs typeface="Aptos"/>
              </a:rPr>
              <a:t>5/12 </a:t>
            </a:r>
            <a:r>
              <a:rPr sz="2000" b="1" dirty="0" err="1">
                <a:solidFill>
                  <a:srgbClr val="172B3A"/>
                </a:solidFill>
                <a:latin typeface="Aptos"/>
                <a:ea typeface="Aptos"/>
                <a:cs typeface="Aptos"/>
              </a:rPr>
              <a:t>lớp</a:t>
            </a:r>
            <a:r>
              <a:rPr sz="2000" b="1" dirty="0">
                <a:solidFill>
                  <a:srgbClr val="172B3A"/>
                </a:solidFill>
                <a:latin typeface="Aptos"/>
                <a:ea typeface="Aptos"/>
                <a:cs typeface="Aptos"/>
              </a:rPr>
              <a:t> </a:t>
            </a:r>
            <a:r>
              <a:rPr sz="2000" b="1" dirty="0" err="1">
                <a:solidFill>
                  <a:srgbClr val="172B3A"/>
                </a:solidFill>
                <a:latin typeface="Aptos"/>
                <a:ea typeface="Aptos"/>
                <a:cs typeface="Aptos"/>
              </a:rPr>
              <a:t>đạt</a:t>
            </a:r>
            <a:r>
              <a:rPr sz="2000" b="1" dirty="0">
                <a:solidFill>
                  <a:srgbClr val="172B3A"/>
                </a:solidFill>
                <a:latin typeface="Aptos"/>
                <a:ea typeface="Aptos"/>
                <a:cs typeface="Aptos"/>
              </a:rPr>
              <a:t> AUROC 1,000 ở </a:t>
            </a:r>
            <a:r>
              <a:rPr sz="2000" b="1" dirty="0" err="1">
                <a:solidFill>
                  <a:srgbClr val="172B3A"/>
                </a:solidFill>
                <a:latin typeface="Aptos"/>
                <a:ea typeface="Aptos"/>
                <a:cs typeface="Aptos"/>
              </a:rPr>
              <a:t>cấu</a:t>
            </a:r>
            <a:r>
              <a:rPr sz="2000" b="1" dirty="0">
                <a:solidFill>
                  <a:srgbClr val="172B3A"/>
                </a:solidFill>
                <a:latin typeface="Aptos"/>
                <a:ea typeface="Aptos"/>
                <a:cs typeface="Aptos"/>
              </a:rPr>
              <a:t> </a:t>
            </a:r>
            <a:r>
              <a:rPr sz="2000" b="1" dirty="0" err="1">
                <a:solidFill>
                  <a:srgbClr val="172B3A"/>
                </a:solidFill>
                <a:latin typeface="Aptos"/>
                <a:ea typeface="Aptos"/>
                <a:cs typeface="Aptos"/>
              </a:rPr>
              <a:t>hình</a:t>
            </a:r>
            <a:r>
              <a:rPr sz="2000" b="1" dirty="0">
                <a:solidFill>
                  <a:srgbClr val="172B3A"/>
                </a:solidFill>
                <a:latin typeface="Aptos"/>
                <a:ea typeface="Aptos"/>
                <a:cs typeface="Aptos"/>
              </a:rPr>
              <a:t> </a:t>
            </a:r>
            <a:r>
              <a:rPr sz="2000" b="1" dirty="0" err="1">
                <a:solidFill>
                  <a:srgbClr val="172B3A"/>
                </a:solidFill>
                <a:latin typeface="Aptos"/>
                <a:ea typeface="Aptos"/>
                <a:cs typeface="Aptos"/>
              </a:rPr>
              <a:t>cơ</a:t>
            </a:r>
            <a:r>
              <a:rPr sz="2000" b="1" dirty="0">
                <a:solidFill>
                  <a:srgbClr val="172B3A"/>
                </a:solidFill>
                <a:latin typeface="Aptos"/>
                <a:ea typeface="Aptos"/>
                <a:cs typeface="Aptos"/>
              </a:rPr>
              <a:t> </a:t>
            </a:r>
            <a:r>
              <a:rPr sz="2000" b="1" dirty="0" err="1">
                <a:solidFill>
                  <a:srgbClr val="172B3A"/>
                </a:solidFill>
                <a:latin typeface="Aptos"/>
                <a:ea typeface="Aptos"/>
                <a:cs typeface="Aptos"/>
              </a:rPr>
              <a:t>sở</a:t>
            </a:r>
            <a:endParaRPr sz="2000" b="1" dirty="0">
              <a:solidFill>
                <a:srgbClr val="172B3A"/>
              </a:solidFill>
              <a:latin typeface="Aptos"/>
              <a:ea typeface="Aptos"/>
              <a:cs typeface="Aptos"/>
            </a:endParaRPr>
          </a:p>
        </p:txBody>
      </p:sp>
      <p:pic>
        <p:nvPicPr>
          <p:cNvPr id="12" name="Picture 11"/>
          <p:cNvPicPr>
            <a:picLocks noChangeAspect="1"/>
          </p:cNvPicPr>
          <p:nvPr/>
        </p:nvPicPr>
        <p:blipFill>
          <a:blip r:embed="rId4"/>
          <a:stretch>
            <a:fillRect/>
          </a:stretch>
        </p:blipFill>
        <p:spPr>
          <a:xfrm>
            <a:off x="429950" y="436109"/>
            <a:ext cx="1109290" cy="955878"/>
          </a:xfrm>
          <a:prstGeom prst="rect">
            <a:avLst/>
          </a:prstGeom>
        </p:spPr>
      </p:pic>
      <p:sp>
        <p:nvSpPr>
          <p:cNvPr id="14" name="Rectangle 13">
            <a:extLst>
              <a:ext uri="{FF2B5EF4-FFF2-40B4-BE49-F238E27FC236}">
                <a16:creationId xmlns:a16="http://schemas.microsoft.com/office/drawing/2014/main" id="{5FB41C59-EC95-4C2B-AB68-3E24D8A22C96}"/>
              </a:ext>
            </a:extLst>
          </p:cNvPr>
          <p:cNvSpPr>
            <a:spLocks noGrp="1"/>
          </p:cNvSpPr>
          <p:nvPr/>
        </p:nvSpPr>
        <p:spPr>
          <a:xfrm>
            <a:off x="1478280" y="853439"/>
            <a:ext cx="9665970" cy="367393"/>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a:solidFill>
                  <a:srgbClr val="55707F"/>
                </a:solidFill>
                <a:latin typeface="Aptos"/>
                <a:ea typeface="Aptos"/>
                <a:cs typeface="Aptos"/>
              </a:rPr>
              <a:t>AUROC </a:t>
            </a:r>
            <a:r>
              <a:rPr sz="2000" b="0" dirty="0" err="1">
                <a:solidFill>
                  <a:srgbClr val="55707F"/>
                </a:solidFill>
                <a:latin typeface="Aptos"/>
                <a:ea typeface="Aptos"/>
                <a:cs typeface="Aptos"/>
              </a:rPr>
              <a:t>trung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r>
              <a:rPr sz="2000" b="0" dirty="0">
                <a:solidFill>
                  <a:srgbClr val="55707F"/>
                </a:solidFill>
                <a:latin typeface="Aptos"/>
                <a:ea typeface="Aptos"/>
                <a:cs typeface="Aptos"/>
              </a:rPr>
              <a:t> ở </a:t>
            </a:r>
            <a:r>
              <a:rPr sz="2000" b="0" dirty="0" err="1">
                <a:solidFill>
                  <a:srgbClr val="55707F"/>
                </a:solidFill>
                <a:latin typeface="Aptos"/>
                <a:ea typeface="Aptos"/>
                <a:cs typeface="Aptos"/>
              </a:rPr>
              <a:t>cấp</a:t>
            </a:r>
            <a:r>
              <a:rPr sz="2000" b="0" dirty="0">
                <a:solidFill>
                  <a:srgbClr val="55707F"/>
                </a:solidFill>
                <a:latin typeface="Aptos"/>
                <a:ea typeface="Aptos"/>
                <a:cs typeface="Aptos"/>
              </a:rPr>
              <a:t> </a:t>
            </a:r>
            <a:r>
              <a:rPr sz="2000" b="0" dirty="0" err="1">
                <a:solidFill>
                  <a:srgbClr val="55707F"/>
                </a:solidFill>
                <a:latin typeface="Aptos"/>
                <a:ea typeface="Aptos"/>
                <a:cs typeface="Aptos"/>
              </a:rPr>
              <a:t>ảnh</a:t>
            </a:r>
            <a:endParaRPr sz="2000" b="0" dirty="0">
              <a:solidFill>
                <a:srgbClr val="55707F"/>
              </a:solidFill>
              <a:latin typeface="Aptos"/>
              <a:ea typeface="Aptos"/>
              <a:cs typeface="Aptos"/>
            </a:endParaRPr>
          </a:p>
        </p:txBody>
      </p:sp>
    </p:spTree>
    <p:extLst>
      <p:ext uri="{BB962C8B-B14F-4D97-AF65-F5344CB8AC3E}">
        <p14:creationId xmlns:p14="http://schemas.microsoft.com/office/powerpoint/2010/main" val="29846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1BAB2A-3DE9-468F-A3E4-18A6780B6566}"/>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7CD20B0E-E2DB-4CD5-B41A-2A84B5F5040D}"/>
              </a:ext>
            </a:extLst>
          </p:cNvPr>
          <p:cNvSpPr>
            <a:spLocks noGrp="1"/>
          </p:cNvSpPr>
          <p:nvPr/>
        </p:nvSpPr>
        <p:spPr>
          <a:xfrm>
            <a:off x="1463040" y="361950"/>
            <a:ext cx="981456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Cấu</a:t>
            </a:r>
            <a:r>
              <a:rPr sz="2550" b="1" dirty="0">
                <a:solidFill>
                  <a:srgbClr val="0B1F33"/>
                </a:solidFill>
                <a:latin typeface="Aptos"/>
                <a:ea typeface="Aptos"/>
                <a:cs typeface="Aptos"/>
              </a:rPr>
              <a:t> </a:t>
            </a:r>
            <a:r>
              <a:rPr sz="2550" b="1" dirty="0" err="1">
                <a:solidFill>
                  <a:srgbClr val="0B1F33"/>
                </a:solidFill>
                <a:latin typeface="Aptos"/>
                <a:ea typeface="Aptos"/>
                <a:cs typeface="Aptos"/>
              </a:rPr>
              <a:t>hình</a:t>
            </a:r>
            <a:r>
              <a:rPr sz="2550" b="1" dirty="0">
                <a:solidFill>
                  <a:srgbClr val="0B1F33"/>
                </a:solidFill>
                <a:latin typeface="Aptos"/>
                <a:ea typeface="Aptos"/>
                <a:cs typeface="Aptos"/>
              </a:rPr>
              <a:t> </a:t>
            </a:r>
            <a:r>
              <a:rPr sz="2550" b="1" dirty="0" err="1">
                <a:solidFill>
                  <a:srgbClr val="0B1F33"/>
                </a:solidFill>
                <a:latin typeface="Aptos"/>
                <a:ea typeface="Aptos"/>
                <a:cs typeface="Aptos"/>
              </a:rPr>
              <a:t>cuối</a:t>
            </a:r>
            <a:r>
              <a:rPr sz="2550" b="1" dirty="0">
                <a:solidFill>
                  <a:srgbClr val="0B1F33"/>
                </a:solidFill>
                <a:latin typeface="Aptos"/>
                <a:ea typeface="Aptos"/>
                <a:cs typeface="Aptos"/>
              </a:rPr>
              <a:t> </a:t>
            </a:r>
            <a:r>
              <a:rPr sz="2550" b="1" dirty="0" err="1">
                <a:solidFill>
                  <a:srgbClr val="0B1F33"/>
                </a:solidFill>
                <a:latin typeface="Aptos"/>
                <a:ea typeface="Aptos"/>
                <a:cs typeface="Aptos"/>
              </a:rPr>
              <a:t>đạt</a:t>
            </a:r>
            <a:r>
              <a:rPr sz="2550" b="1" dirty="0">
                <a:solidFill>
                  <a:srgbClr val="0B1F33"/>
                </a:solidFill>
                <a:latin typeface="Aptos"/>
                <a:ea typeface="Aptos"/>
                <a:cs typeface="Aptos"/>
              </a:rPr>
              <a:t> AUROC 0,996</a:t>
            </a:r>
          </a:p>
        </p:txBody>
      </p:sp>
      <p:sp>
        <p:nvSpPr>
          <p:cNvPr id="3" name="Rectangle 2">
            <a:extLst>
              <a:ext uri="{FF2B5EF4-FFF2-40B4-BE49-F238E27FC236}">
                <a16:creationId xmlns:a16="http://schemas.microsoft.com/office/drawing/2014/main" id="{4A1A91BB-F650-49C5-B33F-8A6823FBBAFA}"/>
              </a:ext>
            </a:extLst>
          </p:cNvPr>
          <p:cNvSpPr>
            <a:spLocks noGrp="1"/>
          </p:cNvSpPr>
          <p:nvPr/>
        </p:nvSpPr>
        <p:spPr>
          <a:xfrm>
            <a:off x="1478280" y="822960"/>
            <a:ext cx="9342120" cy="320040"/>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err="1">
                <a:solidFill>
                  <a:srgbClr val="55707F"/>
                </a:solidFill>
                <a:latin typeface="Aptos"/>
                <a:ea typeface="Aptos"/>
                <a:cs typeface="Aptos"/>
              </a:rPr>
              <a:t>Ảnh</a:t>
            </a:r>
            <a:r>
              <a:rPr sz="2000" b="0" dirty="0">
                <a:solidFill>
                  <a:srgbClr val="55707F"/>
                </a:solidFill>
                <a:latin typeface="Aptos"/>
                <a:ea typeface="Aptos"/>
                <a:cs typeface="Aptos"/>
              </a:rPr>
              <a:t> 384 × 384, </a:t>
            </a:r>
            <a:r>
              <a:rPr sz="2000" b="0" dirty="0" err="1">
                <a:solidFill>
                  <a:srgbClr val="55707F"/>
                </a:solidFill>
                <a:latin typeface="Aptos"/>
                <a:ea typeface="Aptos"/>
                <a:cs typeface="Aptos"/>
              </a:rPr>
              <a:t>tách</a:t>
            </a:r>
            <a:r>
              <a:rPr sz="2000" b="0" dirty="0">
                <a:solidFill>
                  <a:srgbClr val="55707F"/>
                </a:solidFill>
                <a:latin typeface="Aptos"/>
                <a:ea typeface="Aptos"/>
                <a:cs typeface="Aptos"/>
              </a:rPr>
              <a:t> </a:t>
            </a:r>
            <a:r>
              <a:rPr sz="2000" b="0" dirty="0" err="1">
                <a:solidFill>
                  <a:srgbClr val="55707F"/>
                </a:solidFill>
                <a:latin typeface="Aptos"/>
                <a:ea typeface="Aptos"/>
                <a:cs typeface="Aptos"/>
              </a:rPr>
              <a:t>nền</a:t>
            </a:r>
            <a:r>
              <a:rPr sz="2000" b="0" dirty="0">
                <a:solidFill>
                  <a:srgbClr val="55707F"/>
                </a:solidFill>
                <a:latin typeface="Aptos"/>
                <a:ea typeface="Aptos"/>
                <a:cs typeface="Aptos"/>
              </a:rPr>
              <a:t> </a:t>
            </a:r>
            <a:r>
              <a:rPr sz="2000" b="0" dirty="0" err="1">
                <a:solidFill>
                  <a:srgbClr val="55707F"/>
                </a:solidFill>
                <a:latin typeface="Aptos"/>
                <a:ea typeface="Aptos"/>
                <a:cs typeface="Aptos"/>
              </a:rPr>
              <a:t>và</a:t>
            </a:r>
            <a:r>
              <a:rPr sz="2000" b="0" dirty="0">
                <a:solidFill>
                  <a:srgbClr val="55707F"/>
                </a:solidFill>
                <a:latin typeface="Aptos"/>
                <a:ea typeface="Aptos"/>
                <a:cs typeface="Aptos"/>
              </a:rPr>
              <a:t> </a:t>
            </a:r>
            <a:r>
              <a:rPr sz="2000" b="0" dirty="0" err="1">
                <a:solidFill>
                  <a:srgbClr val="55707F"/>
                </a:solidFill>
                <a:latin typeface="Aptos"/>
                <a:ea typeface="Aptos"/>
                <a:cs typeface="Aptos"/>
              </a:rPr>
              <a:t>giới</a:t>
            </a:r>
            <a:r>
              <a:rPr sz="2000" b="0" dirty="0">
                <a:solidFill>
                  <a:srgbClr val="55707F"/>
                </a:solidFill>
                <a:latin typeface="Aptos"/>
                <a:ea typeface="Aptos"/>
                <a:cs typeface="Aptos"/>
              </a:rPr>
              <a:t> </a:t>
            </a:r>
            <a:r>
              <a:rPr sz="2000" b="0" dirty="0" err="1">
                <a:solidFill>
                  <a:srgbClr val="55707F"/>
                </a:solidFill>
                <a:latin typeface="Aptos"/>
                <a:ea typeface="Aptos"/>
                <a:cs typeface="Aptos"/>
              </a:rPr>
              <a:t>hạn</a:t>
            </a:r>
            <a:r>
              <a:rPr sz="2000" b="0" dirty="0">
                <a:solidFill>
                  <a:srgbClr val="55707F"/>
                </a:solidFill>
                <a:latin typeface="Aptos"/>
                <a:ea typeface="Aptos"/>
                <a:cs typeface="Aptos"/>
              </a:rPr>
              <a:t> </a:t>
            </a:r>
            <a:r>
              <a:rPr sz="2000" b="0" dirty="0" err="1">
                <a:solidFill>
                  <a:srgbClr val="55707F"/>
                </a:solidFill>
                <a:latin typeface="Aptos"/>
                <a:ea typeface="Aptos"/>
                <a:cs typeface="Aptos"/>
              </a:rPr>
              <a:t>ngưỡng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trong</a:t>
            </a:r>
            <a:r>
              <a:rPr sz="2000" b="0" dirty="0">
                <a:solidFill>
                  <a:srgbClr val="55707F"/>
                </a:solidFill>
                <a:latin typeface="Aptos"/>
                <a:ea typeface="Aptos"/>
                <a:cs typeface="Aptos"/>
              </a:rPr>
              <a:t> foreground</a:t>
            </a:r>
          </a:p>
        </p:txBody>
      </p:sp>
      <p:sp>
        <p:nvSpPr>
          <p:cNvPr id="4" name="Rectangle 3">
            <a:extLst>
              <a:ext uri="{FF2B5EF4-FFF2-40B4-BE49-F238E27FC236}">
                <a16:creationId xmlns:a16="http://schemas.microsoft.com/office/drawing/2014/main" id="{08B5FDD1-802B-4716-BFAF-BA7F465057AC}"/>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07</a:t>
            </a:r>
          </a:p>
        </p:txBody>
      </p:sp>
      <p:graphicFrame>
        <p:nvGraphicFramePr>
          <p:cNvPr id="13" name="Chart"/>
          <p:cNvGraphicFramePr/>
          <p:nvPr/>
        </p:nvGraphicFramePr>
        <p:xfrm>
          <a:off x="666750" y="1619250"/>
          <a:ext cx="885825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B46E117F-6B7C-443D-A52D-684B5B631F61}"/>
              </a:ext>
            </a:extLst>
          </p:cNvPr>
          <p:cNvSpPr>
            <a:spLocks noGrp="1"/>
          </p:cNvSpPr>
          <p:nvPr/>
        </p:nvSpPr>
        <p:spPr>
          <a:xfrm>
            <a:off x="9620250" y="2095500"/>
            <a:ext cx="2476500" cy="1047750"/>
          </a:xfrm>
          <a:prstGeom prst="rect">
            <a:avLst/>
          </a:prstGeom>
          <a:noFill/>
          <a:ln w="0">
            <a:noFill/>
          </a:ln>
        </p:spPr>
        <p:txBody>
          <a:bodyPr anchor="ctr">
            <a:normAutofit/>
          </a:bodyPr>
          <a:lstStyle/>
          <a:p>
            <a:pPr algn="ctr">
              <a:defRPr sz="4050" b="1">
                <a:solidFill>
                  <a:srgbClr val="18A999"/>
                </a:solidFill>
                <a:latin typeface="Aptos"/>
                <a:ea typeface="Aptos"/>
                <a:cs typeface="Aptos"/>
              </a:defRPr>
            </a:pPr>
            <a:r>
              <a:rPr sz="4050" b="1" dirty="0">
                <a:solidFill>
                  <a:srgbClr val="18A999"/>
                </a:solidFill>
                <a:latin typeface="Aptos"/>
                <a:ea typeface="Aptos"/>
                <a:cs typeface="Aptos"/>
              </a:rPr>
              <a:t>0,996</a:t>
            </a:r>
          </a:p>
        </p:txBody>
      </p:sp>
      <p:sp>
        <p:nvSpPr>
          <p:cNvPr id="7" name="Rectangle 6">
            <a:extLst>
              <a:ext uri="{FF2B5EF4-FFF2-40B4-BE49-F238E27FC236}">
                <a16:creationId xmlns:a16="http://schemas.microsoft.com/office/drawing/2014/main" id="{49753051-1605-4207-9FBB-BFC133B393DE}"/>
              </a:ext>
            </a:extLst>
          </p:cNvPr>
          <p:cNvSpPr>
            <a:spLocks noGrp="1"/>
          </p:cNvSpPr>
          <p:nvPr/>
        </p:nvSpPr>
        <p:spPr>
          <a:xfrm>
            <a:off x="962025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a:solidFill>
                  <a:srgbClr val="55707F"/>
                </a:solidFill>
                <a:latin typeface="Aptos"/>
                <a:ea typeface="Aptos"/>
                <a:cs typeface="Aptos"/>
              </a:rPr>
              <a:t>AUROC </a:t>
            </a:r>
            <a:r>
              <a:rPr sz="2000" b="0" dirty="0" err="1">
                <a:solidFill>
                  <a:srgbClr val="55707F"/>
                </a:solidFill>
                <a:latin typeface="Aptos"/>
                <a:ea typeface="Aptos"/>
                <a:cs typeface="Aptos"/>
              </a:rPr>
              <a:t>trung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endParaRPr sz="2000" b="0" dirty="0">
              <a:solidFill>
                <a:srgbClr val="55707F"/>
              </a:solidFill>
              <a:latin typeface="Aptos"/>
              <a:ea typeface="Aptos"/>
              <a:cs typeface="Aptos"/>
            </a:endParaRPr>
          </a:p>
        </p:txBody>
      </p:sp>
      <p:sp>
        <p:nvSpPr>
          <p:cNvPr id="8" name="Rectangle 7">
            <a:extLst>
              <a:ext uri="{FF2B5EF4-FFF2-40B4-BE49-F238E27FC236}">
                <a16:creationId xmlns:a16="http://schemas.microsoft.com/office/drawing/2014/main" id="{1B1B665F-21A6-4821-85EA-5F1119596868}"/>
              </a:ext>
            </a:extLst>
          </p:cNvPr>
          <p:cNvSpPr>
            <a:spLocks noGrp="1"/>
          </p:cNvSpPr>
          <p:nvPr/>
        </p:nvSpPr>
        <p:spPr>
          <a:xfrm>
            <a:off x="9620249" y="4095750"/>
            <a:ext cx="2382007" cy="571500"/>
          </a:xfrm>
          <a:prstGeom prst="rect">
            <a:avLst/>
          </a:prstGeom>
          <a:noFill/>
          <a:ln w="0">
            <a:noFill/>
          </a:ln>
        </p:spPr>
        <p:txBody>
          <a:bodyPr anchor="ctr">
            <a:noAutofit/>
          </a:bodyPr>
          <a:lstStyle/>
          <a:p>
            <a:pPr algn="ctr">
              <a:defRPr sz="1500" b="1">
                <a:solidFill>
                  <a:srgbClr val="0B1F33"/>
                </a:solidFill>
                <a:latin typeface="Aptos"/>
                <a:ea typeface="Aptos"/>
                <a:cs typeface="Aptos"/>
              </a:defRPr>
            </a:pPr>
            <a:r>
              <a:rPr sz="2000" b="1" dirty="0" err="1">
                <a:solidFill>
                  <a:srgbClr val="0B1F33"/>
                </a:solidFill>
                <a:latin typeface="Aptos"/>
                <a:ea typeface="Aptos"/>
                <a:cs typeface="Aptos"/>
              </a:rPr>
              <a:t>Tất</a:t>
            </a:r>
            <a:r>
              <a:rPr sz="2000" b="1" dirty="0">
                <a:solidFill>
                  <a:srgbClr val="0B1F33"/>
                </a:solidFill>
                <a:latin typeface="Aptos"/>
                <a:ea typeface="Aptos"/>
                <a:cs typeface="Aptos"/>
              </a:rPr>
              <a:t> </a:t>
            </a:r>
            <a:r>
              <a:rPr sz="2000" b="1" dirty="0" err="1">
                <a:solidFill>
                  <a:srgbClr val="0B1F33"/>
                </a:solidFill>
                <a:latin typeface="Aptos"/>
                <a:ea typeface="Aptos"/>
                <a:cs typeface="Aptos"/>
              </a:rPr>
              <a:t>cả</a:t>
            </a:r>
            <a:r>
              <a:rPr sz="2000" b="1" dirty="0">
                <a:solidFill>
                  <a:srgbClr val="0B1F33"/>
                </a:solidFill>
                <a:latin typeface="Aptos"/>
                <a:ea typeface="Aptos"/>
                <a:cs typeface="Aptos"/>
              </a:rPr>
              <a:t> </a:t>
            </a:r>
            <a:r>
              <a:rPr sz="2000" b="1" dirty="0" err="1">
                <a:solidFill>
                  <a:srgbClr val="0B1F33"/>
                </a:solidFill>
                <a:latin typeface="Aptos"/>
                <a:ea typeface="Aptos"/>
                <a:cs typeface="Aptos"/>
              </a:rPr>
              <a:t>lớp</a:t>
            </a:r>
            <a:r>
              <a:rPr sz="2000" b="1" dirty="0">
                <a:solidFill>
                  <a:srgbClr val="0B1F33"/>
                </a:solidFill>
                <a:latin typeface="Aptos"/>
                <a:ea typeface="Aptos"/>
                <a:cs typeface="Aptos"/>
              </a:rPr>
              <a:t> ≥ 0,983</a:t>
            </a:r>
          </a:p>
        </p:txBody>
      </p:sp>
      <p:pic>
        <p:nvPicPr>
          <p:cNvPr id="11" name="Picture 10"/>
          <p:cNvPicPr>
            <a:picLocks noChangeAspect="1"/>
          </p:cNvPicPr>
          <p:nvPr/>
        </p:nvPicPr>
        <p:blipFill>
          <a:blip r:embed="rId4"/>
          <a:stretch>
            <a:fillRect/>
          </a:stretch>
        </p:blipFill>
        <p:spPr>
          <a:xfrm>
            <a:off x="628650" y="451349"/>
            <a:ext cx="895350" cy="771525"/>
          </a:xfrm>
          <a:prstGeom prst="rect">
            <a:avLst/>
          </a:prstGeom>
        </p:spPr>
      </p:pic>
    </p:spTree>
    <p:extLst>
      <p:ext uri="{BB962C8B-B14F-4D97-AF65-F5344CB8AC3E}">
        <p14:creationId xmlns:p14="http://schemas.microsoft.com/office/powerpoint/2010/main" val="78561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B28A37-DF3A-42FE-A365-B2177A54E2EC}"/>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9BDE2572-C2BC-4519-B46F-30DBD07DB46B}"/>
              </a:ext>
            </a:extLst>
          </p:cNvPr>
          <p:cNvSpPr>
            <a:spLocks noGrp="1"/>
          </p:cNvSpPr>
          <p:nvPr/>
        </p:nvSpPr>
        <p:spPr>
          <a:xfrm>
            <a:off x="1539240" y="361950"/>
            <a:ext cx="973836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a:solidFill>
                  <a:srgbClr val="0B1F33"/>
                </a:solidFill>
                <a:latin typeface="Aptos"/>
                <a:ea typeface="Aptos"/>
                <a:cs typeface="Aptos"/>
              </a:rPr>
              <a:t>Mask </a:t>
            </a:r>
            <a:r>
              <a:rPr sz="2550" b="1" dirty="0" err="1">
                <a:solidFill>
                  <a:srgbClr val="0B1F33"/>
                </a:solidFill>
                <a:latin typeface="Aptos"/>
                <a:ea typeface="Aptos"/>
                <a:cs typeface="Aptos"/>
              </a:rPr>
              <a:t>theo</a:t>
            </a:r>
            <a:r>
              <a:rPr sz="2550" b="1" dirty="0">
                <a:solidFill>
                  <a:srgbClr val="0B1F33"/>
                </a:solidFill>
                <a:latin typeface="Aptos"/>
                <a:ea typeface="Aptos"/>
                <a:cs typeface="Aptos"/>
              </a:rPr>
              <a:t> </a:t>
            </a:r>
            <a:r>
              <a:rPr sz="2550" b="1" dirty="0" err="1">
                <a:solidFill>
                  <a:srgbClr val="0B1F33"/>
                </a:solidFill>
                <a:latin typeface="Aptos"/>
                <a:ea typeface="Aptos"/>
                <a:cs typeface="Aptos"/>
              </a:rPr>
              <a:t>độ</a:t>
            </a:r>
            <a:r>
              <a:rPr sz="2550" b="1" dirty="0">
                <a:solidFill>
                  <a:srgbClr val="0B1F33"/>
                </a:solidFill>
                <a:latin typeface="Aptos"/>
                <a:ea typeface="Aptos"/>
                <a:cs typeface="Aptos"/>
              </a:rPr>
              <a:t> </a:t>
            </a:r>
            <a:r>
              <a:rPr sz="2550" b="1" dirty="0" err="1">
                <a:solidFill>
                  <a:srgbClr val="0B1F33"/>
                </a:solidFill>
                <a:latin typeface="Aptos"/>
                <a:ea typeface="Aptos"/>
                <a:cs typeface="Aptos"/>
              </a:rPr>
              <a:t>sáng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thất</a:t>
            </a:r>
            <a:r>
              <a:rPr sz="2550" b="1" dirty="0">
                <a:solidFill>
                  <a:srgbClr val="0B1F33"/>
                </a:solidFill>
                <a:latin typeface="Aptos"/>
                <a:ea typeface="Aptos"/>
                <a:cs typeface="Aptos"/>
              </a:rPr>
              <a:t> </a:t>
            </a:r>
            <a:r>
              <a:rPr sz="2550" b="1" dirty="0" err="1">
                <a:solidFill>
                  <a:srgbClr val="0B1F33"/>
                </a:solidFill>
                <a:latin typeface="Aptos"/>
                <a:ea typeface="Aptos"/>
                <a:cs typeface="Aptos"/>
              </a:rPr>
              <a:t>bại</a:t>
            </a:r>
            <a:r>
              <a:rPr sz="2550" b="1" dirty="0">
                <a:solidFill>
                  <a:srgbClr val="0B1F33"/>
                </a:solidFill>
                <a:latin typeface="Aptos"/>
                <a:ea typeface="Aptos"/>
                <a:cs typeface="Aptos"/>
              </a:rPr>
              <a:t> </a:t>
            </a:r>
            <a:r>
              <a:rPr sz="2550" b="1" dirty="0" err="1">
                <a:solidFill>
                  <a:srgbClr val="0B1F33"/>
                </a:solidFill>
                <a:latin typeface="Aptos"/>
                <a:ea typeface="Aptos"/>
                <a:cs typeface="Aptos"/>
              </a:rPr>
              <a:t>với</a:t>
            </a:r>
            <a:r>
              <a:rPr sz="2550" b="1" dirty="0">
                <a:solidFill>
                  <a:srgbClr val="0B1F33"/>
                </a:solidFill>
                <a:latin typeface="Aptos"/>
                <a:ea typeface="Aptos"/>
                <a:cs typeface="Aptos"/>
              </a:rPr>
              <a:t> </a:t>
            </a:r>
            <a:r>
              <a:rPr sz="2550" b="1" dirty="0" err="1">
                <a:solidFill>
                  <a:srgbClr val="0B1F33"/>
                </a:solidFill>
                <a:latin typeface="Aptos"/>
                <a:ea typeface="Aptos"/>
                <a:cs typeface="Aptos"/>
              </a:rPr>
              <a:t>vật</a:t>
            </a:r>
            <a:r>
              <a:rPr sz="2550" b="1" dirty="0">
                <a:solidFill>
                  <a:srgbClr val="0B1F33"/>
                </a:solidFill>
                <a:latin typeface="Aptos"/>
                <a:ea typeface="Aptos"/>
                <a:cs typeface="Aptos"/>
              </a:rPr>
              <a:t> </a:t>
            </a:r>
            <a:r>
              <a:rPr sz="2550" b="1" dirty="0" err="1">
                <a:solidFill>
                  <a:srgbClr val="0B1F33"/>
                </a:solidFill>
                <a:latin typeface="Aptos"/>
                <a:ea typeface="Aptos"/>
                <a:cs typeface="Aptos"/>
              </a:rPr>
              <a:t>thể</a:t>
            </a:r>
            <a:r>
              <a:rPr sz="2550" b="1" dirty="0">
                <a:solidFill>
                  <a:srgbClr val="0B1F33"/>
                </a:solidFill>
                <a:latin typeface="Aptos"/>
                <a:ea typeface="Aptos"/>
                <a:cs typeface="Aptos"/>
              </a:rPr>
              <a:t> </a:t>
            </a:r>
            <a:r>
              <a:rPr sz="2550" b="1" dirty="0" err="1">
                <a:solidFill>
                  <a:srgbClr val="0B1F33"/>
                </a:solidFill>
                <a:latin typeface="Aptos"/>
                <a:ea typeface="Aptos"/>
                <a:cs typeface="Aptos"/>
              </a:rPr>
              <a:t>tối</a:t>
            </a:r>
            <a:endParaRPr sz="2550" b="1" dirty="0">
              <a:solidFill>
                <a:srgbClr val="0B1F33"/>
              </a:solidFill>
              <a:latin typeface="Aptos"/>
              <a:ea typeface="Aptos"/>
              <a:cs typeface="Aptos"/>
            </a:endParaRPr>
          </a:p>
        </p:txBody>
      </p:sp>
      <p:sp>
        <p:nvSpPr>
          <p:cNvPr id="3" name="Rectangle 2">
            <a:extLst>
              <a:ext uri="{FF2B5EF4-FFF2-40B4-BE49-F238E27FC236}">
                <a16:creationId xmlns:a16="http://schemas.microsoft.com/office/drawing/2014/main" id="{DD516A87-218B-4F24-BAF3-FC74A718681E}"/>
              </a:ext>
            </a:extLst>
          </p:cNvPr>
          <p:cNvSpPr>
            <a:spLocks noGrp="1"/>
          </p:cNvSpPr>
          <p:nvPr/>
        </p:nvSpPr>
        <p:spPr>
          <a:xfrm>
            <a:off x="1539240" y="838200"/>
            <a:ext cx="9757410" cy="323850"/>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a:solidFill>
                  <a:srgbClr val="55707F"/>
                </a:solidFill>
                <a:latin typeface="Aptos"/>
                <a:ea typeface="Aptos"/>
                <a:cs typeface="Aptos"/>
              </a:rPr>
              <a:t>Sai </a:t>
            </a:r>
            <a:r>
              <a:rPr sz="2000" b="0" dirty="0" err="1">
                <a:solidFill>
                  <a:srgbClr val="55707F"/>
                </a:solidFill>
                <a:latin typeface="Aptos"/>
                <a:ea typeface="Aptos"/>
                <a:cs typeface="Aptos"/>
              </a:rPr>
              <a:t>số</a:t>
            </a:r>
            <a:r>
              <a:rPr sz="2000" b="0" dirty="0">
                <a:solidFill>
                  <a:srgbClr val="55707F"/>
                </a:solidFill>
                <a:latin typeface="Aptos"/>
                <a:ea typeface="Aptos"/>
                <a:cs typeface="Aptos"/>
              </a:rPr>
              <a:t> </a:t>
            </a:r>
            <a:r>
              <a:rPr sz="2000" b="0" dirty="0" err="1">
                <a:solidFill>
                  <a:srgbClr val="55707F"/>
                </a:solidFill>
                <a:latin typeface="Aptos"/>
                <a:ea typeface="Aptos"/>
                <a:cs typeface="Aptos"/>
              </a:rPr>
              <a:t>chỉ</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lộ</a:t>
            </a:r>
            <a:r>
              <a:rPr sz="2000" b="0" dirty="0">
                <a:solidFill>
                  <a:srgbClr val="55707F"/>
                </a:solidFill>
                <a:latin typeface="Aptos"/>
                <a:ea typeface="Aptos"/>
                <a:cs typeface="Aptos"/>
              </a:rPr>
              <a:t> </a:t>
            </a:r>
            <a:r>
              <a:rPr sz="2000" b="0" dirty="0" err="1">
                <a:solidFill>
                  <a:srgbClr val="55707F"/>
                </a:solidFill>
                <a:latin typeface="Aptos"/>
                <a:ea typeface="Aptos"/>
                <a:cs typeface="Aptos"/>
              </a:rPr>
              <a:t>rõ</a:t>
            </a:r>
            <a:r>
              <a:rPr sz="2000" b="0" dirty="0">
                <a:solidFill>
                  <a:srgbClr val="55707F"/>
                </a:solidFill>
                <a:latin typeface="Aptos"/>
                <a:ea typeface="Aptos"/>
                <a:cs typeface="Aptos"/>
              </a:rPr>
              <a:t> </a:t>
            </a:r>
            <a:r>
              <a:rPr sz="2000" b="0" dirty="0" err="1">
                <a:solidFill>
                  <a:srgbClr val="55707F"/>
                </a:solidFill>
                <a:latin typeface="Aptos"/>
                <a:ea typeface="Aptos"/>
                <a:cs typeface="Aptos"/>
              </a:rPr>
              <a:t>khi</a:t>
            </a:r>
            <a:r>
              <a:rPr sz="2000" b="0" dirty="0">
                <a:solidFill>
                  <a:srgbClr val="55707F"/>
                </a:solidFill>
                <a:latin typeface="Aptos"/>
                <a:ea typeface="Aptos"/>
                <a:cs typeface="Aptos"/>
              </a:rPr>
              <a:t> </a:t>
            </a:r>
            <a:r>
              <a:rPr sz="2000" b="0" dirty="0" err="1">
                <a:solidFill>
                  <a:srgbClr val="55707F"/>
                </a:solidFill>
                <a:latin typeface="Aptos"/>
                <a:ea typeface="Aptos"/>
                <a:cs typeface="Aptos"/>
              </a:rPr>
              <a:t>quét</a:t>
            </a:r>
            <a:r>
              <a:rPr sz="2000" b="0" dirty="0">
                <a:solidFill>
                  <a:srgbClr val="55707F"/>
                </a:solidFill>
                <a:latin typeface="Aptos"/>
                <a:ea typeface="Aptos"/>
                <a:cs typeface="Aptos"/>
              </a:rPr>
              <a:t> </a:t>
            </a:r>
            <a:r>
              <a:rPr sz="2000" b="0" dirty="0" err="1">
                <a:solidFill>
                  <a:srgbClr val="55707F"/>
                </a:solidFill>
                <a:latin typeface="Aptos"/>
                <a:ea typeface="Aptos"/>
                <a:cs typeface="Aptos"/>
              </a:rPr>
              <a:t>định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lượng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trên</a:t>
            </a:r>
            <a:r>
              <a:rPr sz="2000" b="0" dirty="0">
                <a:solidFill>
                  <a:srgbClr val="55707F"/>
                </a:solidFill>
                <a:latin typeface="Aptos"/>
                <a:ea typeface="Aptos"/>
                <a:cs typeface="Aptos"/>
              </a:rPr>
              <a:t> </a:t>
            </a:r>
            <a:r>
              <a:rPr sz="2000" b="0" dirty="0" err="1">
                <a:solidFill>
                  <a:srgbClr val="55707F"/>
                </a:solidFill>
                <a:latin typeface="Aptos"/>
                <a:ea typeface="Aptos"/>
                <a:cs typeface="Aptos"/>
              </a:rPr>
              <a:t>toàn</a:t>
            </a:r>
            <a:r>
              <a:rPr sz="2000" b="0" dirty="0">
                <a:solidFill>
                  <a:srgbClr val="55707F"/>
                </a:solidFill>
                <a:latin typeface="Aptos"/>
                <a:ea typeface="Aptos"/>
                <a:cs typeface="Aptos"/>
              </a:rPr>
              <a:t> </a:t>
            </a:r>
            <a:r>
              <a:rPr sz="2000" b="0" dirty="0" err="1">
                <a:solidFill>
                  <a:srgbClr val="55707F"/>
                </a:solidFill>
                <a:latin typeface="Aptos"/>
                <a:ea typeface="Aptos"/>
                <a:cs typeface="Aptos"/>
              </a:rPr>
              <a:t>bộ</a:t>
            </a:r>
            <a:r>
              <a:rPr sz="2000" b="0" dirty="0">
                <a:solidFill>
                  <a:srgbClr val="55707F"/>
                </a:solidFill>
                <a:latin typeface="Aptos"/>
                <a:ea typeface="Aptos"/>
                <a:cs typeface="Aptos"/>
              </a:rPr>
              <a:t> 12 </a:t>
            </a:r>
            <a:r>
              <a:rPr sz="2000" b="0" dirty="0" err="1">
                <a:solidFill>
                  <a:srgbClr val="55707F"/>
                </a:solidFill>
                <a:latin typeface="Aptos"/>
                <a:ea typeface="Aptos"/>
                <a:cs typeface="Aptos"/>
              </a:rPr>
              <a:t>lớp</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9A22C9D6-AFB7-49B7-9687-3534E206961E}"/>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08</a:t>
            </a:r>
          </a:p>
        </p:txBody>
      </p:sp>
      <p:graphicFrame>
        <p:nvGraphicFramePr>
          <p:cNvPr id="13" name="Chart"/>
          <p:cNvGraphicFramePr/>
          <p:nvPr>
            <p:extLst>
              <p:ext uri="{D42A27DB-BD31-4B8C-83A1-F6EECF244321}">
                <p14:modId xmlns:p14="http://schemas.microsoft.com/office/powerpoint/2010/main" val="3561631220"/>
              </p:ext>
            </p:extLst>
          </p:nvPr>
        </p:nvGraphicFramePr>
        <p:xfrm>
          <a:off x="666750" y="1666875"/>
          <a:ext cx="723900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85047EE4-C29F-47C0-8423-9A4F0334857A}"/>
              </a:ext>
            </a:extLst>
          </p:cNvPr>
          <p:cNvSpPr>
            <a:spLocks noGrp="1"/>
          </p:cNvSpPr>
          <p:nvPr/>
        </p:nvSpPr>
        <p:spPr>
          <a:xfrm>
            <a:off x="8572500" y="2095500"/>
            <a:ext cx="2667000" cy="762000"/>
          </a:xfrm>
          <a:prstGeom prst="rect">
            <a:avLst/>
          </a:prstGeom>
          <a:noFill/>
          <a:ln w="0">
            <a:noFill/>
          </a:ln>
        </p:spPr>
        <p:txBody>
          <a:bodyPr anchor="ctr">
            <a:normAutofit/>
          </a:bodyPr>
          <a:lstStyle/>
          <a:p>
            <a:pPr algn="ctr">
              <a:defRPr sz="3150" b="1">
                <a:solidFill>
                  <a:srgbClr val="D95757"/>
                </a:solidFill>
                <a:latin typeface="Aptos"/>
                <a:ea typeface="Aptos"/>
                <a:cs typeface="Aptos"/>
              </a:defRPr>
            </a:pPr>
            <a:r>
              <a:rPr sz="3150" b="1">
                <a:solidFill>
                  <a:srgbClr val="D95757"/>
                </a:solidFill>
                <a:latin typeface="Aptos"/>
                <a:ea typeface="Aptos"/>
                <a:cs typeface="Aptos"/>
              </a:rPr>
              <a:t>r = −0,938</a:t>
            </a:r>
          </a:p>
        </p:txBody>
      </p:sp>
      <p:sp>
        <p:nvSpPr>
          <p:cNvPr id="7" name="Rectangle 6">
            <a:extLst>
              <a:ext uri="{FF2B5EF4-FFF2-40B4-BE49-F238E27FC236}">
                <a16:creationId xmlns:a16="http://schemas.microsoft.com/office/drawing/2014/main" id="{C9B407B5-C57C-45B0-A70E-F3A1CE632309}"/>
              </a:ext>
            </a:extLst>
          </p:cNvPr>
          <p:cNvSpPr>
            <a:spLocks noGrp="1"/>
          </p:cNvSpPr>
          <p:nvPr/>
        </p:nvSpPr>
        <p:spPr>
          <a:xfrm>
            <a:off x="8572500" y="2905125"/>
            <a:ext cx="2667000" cy="571500"/>
          </a:xfrm>
          <a:prstGeom prst="rect">
            <a:avLst/>
          </a:prstGeom>
          <a:noFill/>
          <a:ln w="0">
            <a:noFill/>
          </a:ln>
        </p:spPr>
        <p:txBody>
          <a:bodyPr anchor="ctr">
            <a:noAutofit/>
          </a:bodyPr>
          <a:lstStyle/>
          <a:p>
            <a:pPr algn="ctr">
              <a:defRPr sz="1350" b="0">
                <a:solidFill>
                  <a:srgbClr val="55707F"/>
                </a:solidFill>
                <a:latin typeface="Aptos"/>
                <a:ea typeface="Aptos"/>
                <a:cs typeface="Aptos"/>
              </a:defRPr>
            </a:pPr>
            <a:r>
              <a:rPr sz="2000" b="0" dirty="0" err="1">
                <a:solidFill>
                  <a:srgbClr val="55707F"/>
                </a:solidFill>
                <a:latin typeface="Aptos"/>
                <a:ea typeface="Aptos"/>
                <a:cs typeface="Aptos"/>
              </a:rPr>
              <a:t>tương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quan</a:t>
            </a:r>
            <a:r>
              <a:rPr sz="2000" b="0" dirty="0">
                <a:solidFill>
                  <a:srgbClr val="55707F"/>
                </a:solidFill>
                <a:latin typeface="Aptos"/>
                <a:ea typeface="Aptos"/>
                <a:cs typeface="Aptos"/>
              </a:rPr>
              <a:t> </a:t>
            </a:r>
            <a:r>
              <a:rPr sz="2000" b="0" dirty="0" err="1">
                <a:solidFill>
                  <a:srgbClr val="55707F"/>
                </a:solidFill>
                <a:latin typeface="Aptos"/>
                <a:ea typeface="Aptos"/>
                <a:cs typeface="Aptos"/>
              </a:rPr>
              <a:t>với</a:t>
            </a:r>
            <a:r>
              <a:rPr sz="2000" b="0" dirty="0">
                <a:solidFill>
                  <a:srgbClr val="55707F"/>
                </a:solidFill>
                <a:latin typeface="Aptos"/>
                <a:ea typeface="Aptos"/>
                <a:cs typeface="Aptos"/>
              </a:rPr>
              <a:t> </a:t>
            </a:r>
            <a:r>
              <a:rPr sz="2000" b="0" dirty="0" err="1">
                <a:solidFill>
                  <a:srgbClr val="55707F"/>
                </a:solidFill>
                <a:latin typeface="Aptos"/>
                <a:ea typeface="Aptos"/>
                <a:cs typeface="Aptos"/>
              </a:rPr>
              <a:t>độ</a:t>
            </a:r>
            <a:r>
              <a:rPr sz="2000" b="0" dirty="0">
                <a:solidFill>
                  <a:srgbClr val="55707F"/>
                </a:solidFill>
                <a:latin typeface="Aptos"/>
                <a:ea typeface="Aptos"/>
                <a:cs typeface="Aptos"/>
              </a:rPr>
              <a:t> </a:t>
            </a:r>
            <a:r>
              <a:rPr sz="2000" b="0" dirty="0" err="1">
                <a:solidFill>
                  <a:srgbClr val="55707F"/>
                </a:solidFill>
                <a:latin typeface="Aptos"/>
                <a:ea typeface="Aptos"/>
                <a:cs typeface="Aptos"/>
              </a:rPr>
              <a:t>sáng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vật</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thể</a:t>
            </a:r>
            <a:endParaRPr sz="2000" b="0" dirty="0">
              <a:solidFill>
                <a:srgbClr val="55707F"/>
              </a:solidFill>
              <a:latin typeface="Aptos"/>
              <a:ea typeface="Aptos"/>
              <a:cs typeface="Aptos"/>
            </a:endParaRPr>
          </a:p>
        </p:txBody>
      </p:sp>
      <p:sp>
        <p:nvSpPr>
          <p:cNvPr id="8" name="Rectangle 7">
            <a:extLst>
              <a:ext uri="{FF2B5EF4-FFF2-40B4-BE49-F238E27FC236}">
                <a16:creationId xmlns:a16="http://schemas.microsoft.com/office/drawing/2014/main" id="{43530950-CAC5-4543-9DA3-837B3BF81EA5}"/>
              </a:ext>
            </a:extLst>
          </p:cNvPr>
          <p:cNvSpPr>
            <a:spLocks noGrp="1"/>
          </p:cNvSpPr>
          <p:nvPr/>
        </p:nvSpPr>
        <p:spPr>
          <a:xfrm>
            <a:off x="8382000" y="4238625"/>
            <a:ext cx="3048000" cy="952500"/>
          </a:xfrm>
          <a:prstGeom prst="rect">
            <a:avLst/>
          </a:prstGeom>
          <a:noFill/>
          <a:ln w="0">
            <a:noFill/>
          </a:ln>
        </p:spPr>
        <p:txBody>
          <a:bodyPr anchor="ctr">
            <a:noAutofit/>
          </a:bodyPr>
          <a:lstStyle/>
          <a:p>
            <a:pPr algn="ctr">
              <a:defRPr sz="1500" b="1">
                <a:solidFill>
                  <a:srgbClr val="0B1F33"/>
                </a:solidFill>
                <a:latin typeface="Aptos"/>
                <a:ea typeface="Aptos"/>
                <a:cs typeface="Aptos"/>
              </a:defRPr>
            </a:pPr>
            <a:r>
              <a:rPr sz="2000" b="1" dirty="0" err="1">
                <a:solidFill>
                  <a:srgbClr val="0B1F33"/>
                </a:solidFill>
                <a:latin typeface="Aptos"/>
                <a:ea typeface="Aptos"/>
                <a:cs typeface="Aptos"/>
              </a:rPr>
              <a:t>Khắc</a:t>
            </a:r>
            <a:r>
              <a:rPr sz="2000" b="1" dirty="0">
                <a:solidFill>
                  <a:srgbClr val="0B1F33"/>
                </a:solidFill>
                <a:latin typeface="Aptos"/>
                <a:ea typeface="Aptos"/>
                <a:cs typeface="Aptos"/>
              </a:rPr>
              <a:t> </a:t>
            </a:r>
            <a:r>
              <a:rPr sz="2000" b="1" dirty="0" err="1">
                <a:solidFill>
                  <a:srgbClr val="0B1F33"/>
                </a:solidFill>
                <a:latin typeface="Aptos"/>
                <a:ea typeface="Aptos"/>
                <a:cs typeface="Aptos"/>
              </a:rPr>
              <a:t>phục</a:t>
            </a:r>
            <a:r>
              <a:rPr sz="2000" b="1" dirty="0">
                <a:solidFill>
                  <a:srgbClr val="0B1F33"/>
                </a:solidFill>
                <a:latin typeface="Aptos"/>
                <a:ea typeface="Aptos"/>
                <a:cs typeface="Aptos"/>
              </a:rPr>
              <a:t>: </a:t>
            </a:r>
            <a:r>
              <a:rPr sz="2000" b="1" dirty="0" err="1">
                <a:solidFill>
                  <a:srgbClr val="0B1F33"/>
                </a:solidFill>
                <a:latin typeface="Aptos"/>
                <a:ea typeface="Aptos"/>
                <a:cs typeface="Aptos"/>
              </a:rPr>
              <a:t>dùng</a:t>
            </a:r>
            <a:r>
              <a:rPr sz="2000" b="1" dirty="0">
                <a:solidFill>
                  <a:srgbClr val="0B1F33"/>
                </a:solidFill>
                <a:latin typeface="Aptos"/>
                <a:ea typeface="Aptos"/>
                <a:cs typeface="Aptos"/>
              </a:rPr>
              <a:t> </a:t>
            </a:r>
            <a:r>
              <a:rPr sz="2000" b="1" dirty="0" err="1">
                <a:solidFill>
                  <a:srgbClr val="0B1F33"/>
                </a:solidFill>
                <a:latin typeface="Aptos"/>
                <a:ea typeface="Aptos"/>
                <a:cs typeface="Aptos"/>
              </a:rPr>
              <a:t>trực</a:t>
            </a:r>
            <a:r>
              <a:rPr sz="2000" b="1" dirty="0">
                <a:solidFill>
                  <a:srgbClr val="0B1F33"/>
                </a:solidFill>
                <a:latin typeface="Aptos"/>
                <a:ea typeface="Aptos"/>
                <a:cs typeface="Aptos"/>
              </a:rPr>
              <a:t> </a:t>
            </a:r>
            <a:r>
              <a:rPr sz="2000" b="1" dirty="0" err="1">
                <a:solidFill>
                  <a:srgbClr val="0B1F33"/>
                </a:solidFill>
                <a:latin typeface="Aptos"/>
                <a:ea typeface="Aptos"/>
                <a:cs typeface="Aptos"/>
              </a:rPr>
              <a:t>tiếp</a:t>
            </a:r>
            <a:r>
              <a:rPr sz="2000" b="1" dirty="0">
                <a:solidFill>
                  <a:srgbClr val="0B1F33"/>
                </a:solidFill>
                <a:latin typeface="Aptos"/>
                <a:ea typeface="Aptos"/>
                <a:cs typeface="Aptos"/>
              </a:rPr>
              <a:t> alpha mask </a:t>
            </a:r>
            <a:r>
              <a:rPr sz="2000" b="1" dirty="0" err="1">
                <a:solidFill>
                  <a:srgbClr val="0B1F33"/>
                </a:solidFill>
                <a:latin typeface="Aptos"/>
                <a:ea typeface="Aptos"/>
                <a:cs typeface="Aptos"/>
              </a:rPr>
              <a:t>từ</a:t>
            </a:r>
            <a:r>
              <a:rPr sz="2000" b="1" dirty="0">
                <a:solidFill>
                  <a:srgbClr val="0B1F33"/>
                </a:solidFill>
                <a:latin typeface="Aptos"/>
                <a:ea typeface="Aptos"/>
                <a:cs typeface="Aptos"/>
              </a:rPr>
              <a:t> </a:t>
            </a:r>
            <a:r>
              <a:rPr sz="2000" b="1" dirty="0" err="1">
                <a:solidFill>
                  <a:srgbClr val="0B1F33"/>
                </a:solidFill>
                <a:latin typeface="Aptos"/>
                <a:ea typeface="Aptos"/>
                <a:cs typeface="Aptos"/>
              </a:rPr>
              <a:t>mô</a:t>
            </a:r>
            <a:r>
              <a:rPr sz="2000" b="1" dirty="0">
                <a:solidFill>
                  <a:srgbClr val="0B1F33"/>
                </a:solidFill>
                <a:latin typeface="Aptos"/>
                <a:ea typeface="Aptos"/>
                <a:cs typeface="Aptos"/>
              </a:rPr>
              <a:t> </a:t>
            </a:r>
            <a:r>
              <a:rPr sz="2000" b="1" dirty="0" err="1">
                <a:solidFill>
                  <a:srgbClr val="0B1F33"/>
                </a:solidFill>
                <a:latin typeface="Aptos"/>
                <a:ea typeface="Aptos"/>
                <a:cs typeface="Aptos"/>
              </a:rPr>
              <a:t>hình</a:t>
            </a:r>
            <a:r>
              <a:rPr sz="2000" b="1" dirty="0">
                <a:solidFill>
                  <a:srgbClr val="0B1F33"/>
                </a:solidFill>
                <a:latin typeface="Aptos"/>
                <a:ea typeface="Aptos"/>
                <a:cs typeface="Aptos"/>
              </a:rPr>
              <a:t> </a:t>
            </a:r>
            <a:r>
              <a:rPr sz="2000" b="1" dirty="0" err="1">
                <a:solidFill>
                  <a:srgbClr val="0B1F33"/>
                </a:solidFill>
                <a:latin typeface="Aptos"/>
                <a:ea typeface="Aptos"/>
                <a:cs typeface="Aptos"/>
              </a:rPr>
              <a:t>tách</a:t>
            </a:r>
            <a:r>
              <a:rPr sz="2000" b="1" dirty="0">
                <a:solidFill>
                  <a:srgbClr val="0B1F33"/>
                </a:solidFill>
                <a:latin typeface="Aptos"/>
                <a:ea typeface="Aptos"/>
                <a:cs typeface="Aptos"/>
              </a:rPr>
              <a:t> </a:t>
            </a:r>
            <a:r>
              <a:rPr sz="2000" b="1" dirty="0" err="1">
                <a:solidFill>
                  <a:srgbClr val="0B1F33"/>
                </a:solidFill>
                <a:latin typeface="Aptos"/>
                <a:ea typeface="Aptos"/>
                <a:cs typeface="Aptos"/>
              </a:rPr>
              <a:t>nền</a:t>
            </a:r>
            <a:endParaRPr sz="2000" b="1" dirty="0">
              <a:solidFill>
                <a:srgbClr val="0B1F33"/>
              </a:solidFill>
              <a:latin typeface="Aptos"/>
              <a:ea typeface="Aptos"/>
              <a:cs typeface="Aptos"/>
            </a:endParaRPr>
          </a:p>
        </p:txBody>
      </p:sp>
      <p:pic>
        <p:nvPicPr>
          <p:cNvPr id="10" name="Picture 9"/>
          <p:cNvPicPr>
            <a:picLocks noChangeAspect="1"/>
          </p:cNvPicPr>
          <p:nvPr/>
        </p:nvPicPr>
        <p:blipFill>
          <a:blip r:embed="rId4"/>
          <a:stretch>
            <a:fillRect/>
          </a:stretch>
        </p:blipFill>
        <p:spPr>
          <a:xfrm>
            <a:off x="704850" y="466589"/>
            <a:ext cx="895350" cy="771525"/>
          </a:xfrm>
          <a:prstGeom prst="rect">
            <a:avLst/>
          </a:prstGeom>
        </p:spPr>
      </p:pic>
    </p:spTree>
    <p:extLst>
      <p:ext uri="{BB962C8B-B14F-4D97-AF65-F5344CB8AC3E}">
        <p14:creationId xmlns:p14="http://schemas.microsoft.com/office/powerpoint/2010/main" val="1495878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8A07C5D-4ED2-4D1C-B103-C07B46641972}"/>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2614AF89-2DB5-4967-9992-F45DCA3D1990}"/>
              </a:ext>
            </a:extLst>
          </p:cNvPr>
          <p:cNvSpPr>
            <a:spLocks noGrp="1"/>
          </p:cNvSpPr>
          <p:nvPr/>
        </p:nvSpPr>
        <p:spPr>
          <a:xfrm>
            <a:off x="1402080" y="361950"/>
            <a:ext cx="987552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Ngưỡng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thích</a:t>
            </a:r>
            <a:r>
              <a:rPr sz="2550" b="1" dirty="0">
                <a:solidFill>
                  <a:srgbClr val="0B1F33"/>
                </a:solidFill>
                <a:latin typeface="Aptos"/>
                <a:ea typeface="Aptos"/>
                <a:cs typeface="Aptos"/>
              </a:rPr>
              <a:t> </a:t>
            </a:r>
            <a:r>
              <a:rPr sz="2550" b="1" dirty="0" err="1">
                <a:solidFill>
                  <a:srgbClr val="0B1F33"/>
                </a:solidFill>
                <a:latin typeface="Aptos"/>
                <a:ea typeface="Aptos"/>
                <a:cs typeface="Aptos"/>
              </a:rPr>
              <a:t>nghi</a:t>
            </a:r>
            <a:r>
              <a:rPr sz="2550" b="1" dirty="0">
                <a:solidFill>
                  <a:srgbClr val="0B1F33"/>
                </a:solidFill>
                <a:latin typeface="Aptos"/>
                <a:ea typeface="Aptos"/>
                <a:cs typeface="Aptos"/>
              </a:rPr>
              <a:t> </a:t>
            </a:r>
            <a:r>
              <a:rPr sz="2550" b="1" dirty="0" err="1">
                <a:solidFill>
                  <a:srgbClr val="0B1F33"/>
                </a:solidFill>
                <a:latin typeface="Aptos"/>
                <a:ea typeface="Aptos"/>
                <a:cs typeface="Aptos"/>
              </a:rPr>
              <a:t>giảm</a:t>
            </a:r>
            <a:r>
              <a:rPr sz="2550" b="1" dirty="0">
                <a:solidFill>
                  <a:srgbClr val="0B1F33"/>
                </a:solidFill>
                <a:latin typeface="Aptos"/>
                <a:ea typeface="Aptos"/>
                <a:cs typeface="Aptos"/>
              </a:rPr>
              <a:t> 66% </a:t>
            </a:r>
            <a:r>
              <a:rPr sz="2550" b="1" dirty="0" err="1">
                <a:solidFill>
                  <a:srgbClr val="0B1F33"/>
                </a:solidFill>
                <a:latin typeface="Aptos"/>
                <a:ea typeface="Aptos"/>
                <a:cs typeface="Aptos"/>
              </a:rPr>
              <a:t>vùng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dương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tính</a:t>
            </a:r>
            <a:r>
              <a:rPr sz="2550" b="1" dirty="0">
                <a:solidFill>
                  <a:srgbClr val="0B1F33"/>
                </a:solidFill>
                <a:latin typeface="Aptos"/>
                <a:ea typeface="Aptos"/>
                <a:cs typeface="Aptos"/>
              </a:rPr>
              <a:t> </a:t>
            </a:r>
            <a:r>
              <a:rPr sz="2550" b="1" dirty="0" err="1">
                <a:solidFill>
                  <a:srgbClr val="0B1F33"/>
                </a:solidFill>
                <a:latin typeface="Aptos"/>
                <a:ea typeface="Aptos"/>
                <a:cs typeface="Aptos"/>
              </a:rPr>
              <a:t>giả</a:t>
            </a:r>
            <a:endParaRPr sz="2550" b="1" dirty="0">
              <a:solidFill>
                <a:srgbClr val="0B1F33"/>
              </a:solidFill>
              <a:latin typeface="Aptos"/>
              <a:ea typeface="Aptos"/>
              <a:cs typeface="Aptos"/>
            </a:endParaRPr>
          </a:p>
        </p:txBody>
      </p:sp>
      <p:sp>
        <p:nvSpPr>
          <p:cNvPr id="4" name="Rectangle 3">
            <a:extLst>
              <a:ext uri="{FF2B5EF4-FFF2-40B4-BE49-F238E27FC236}">
                <a16:creationId xmlns:a16="http://schemas.microsoft.com/office/drawing/2014/main" id="{BDF42B4C-53BB-4964-8A2A-9706634A04C2}"/>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09</a:t>
            </a:r>
          </a:p>
        </p:txBody>
      </p:sp>
      <p:graphicFrame>
        <p:nvGraphicFramePr>
          <p:cNvPr id="13" name="Chart"/>
          <p:cNvGraphicFramePr/>
          <p:nvPr/>
        </p:nvGraphicFramePr>
        <p:xfrm>
          <a:off x="1143000" y="1762125"/>
          <a:ext cx="6191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E2F1664C-3AA1-46DA-893E-98221D708CBF}"/>
              </a:ext>
            </a:extLst>
          </p:cNvPr>
          <p:cNvSpPr>
            <a:spLocks noGrp="1"/>
          </p:cNvSpPr>
          <p:nvPr/>
        </p:nvSpPr>
        <p:spPr>
          <a:xfrm>
            <a:off x="8096250" y="2000250"/>
            <a:ext cx="2667000" cy="952500"/>
          </a:xfrm>
          <a:prstGeom prst="rect">
            <a:avLst/>
          </a:prstGeom>
          <a:noFill/>
          <a:ln w="0">
            <a:noFill/>
          </a:ln>
        </p:spPr>
        <p:txBody>
          <a:bodyPr anchor="ctr">
            <a:normAutofit/>
          </a:bodyPr>
          <a:lstStyle/>
          <a:p>
            <a:pPr algn="ctr">
              <a:defRPr sz="4500" b="1">
                <a:solidFill>
                  <a:srgbClr val="18A999"/>
                </a:solidFill>
                <a:latin typeface="Aptos"/>
                <a:ea typeface="Aptos"/>
                <a:cs typeface="Aptos"/>
              </a:defRPr>
            </a:pPr>
            <a:r>
              <a:rPr sz="4500" b="1">
                <a:solidFill>
                  <a:srgbClr val="18A999"/>
                </a:solidFill>
                <a:latin typeface="Aptos"/>
                <a:ea typeface="Aptos"/>
                <a:cs typeface="Aptos"/>
              </a:rPr>
              <a:t>66%</a:t>
            </a:r>
          </a:p>
        </p:txBody>
      </p:sp>
      <p:sp>
        <p:nvSpPr>
          <p:cNvPr id="7" name="Rectangle 6">
            <a:extLst>
              <a:ext uri="{FF2B5EF4-FFF2-40B4-BE49-F238E27FC236}">
                <a16:creationId xmlns:a16="http://schemas.microsoft.com/office/drawing/2014/main" id="{BC68BFB9-7423-4BCD-A611-B03E70BCF0CF}"/>
              </a:ext>
            </a:extLst>
          </p:cNvPr>
          <p:cNvSpPr>
            <a:spLocks noGrp="1"/>
          </p:cNvSpPr>
          <p:nvPr/>
        </p:nvSpPr>
        <p:spPr>
          <a:xfrm>
            <a:off x="7905750" y="3048000"/>
            <a:ext cx="3048000" cy="533400"/>
          </a:xfrm>
          <a:prstGeom prst="rect">
            <a:avLst/>
          </a:prstGeom>
          <a:noFill/>
          <a:ln w="0">
            <a:noFill/>
          </a:ln>
        </p:spPr>
        <p:txBody>
          <a:bodyPr anchor="ctr">
            <a:normAutofit/>
          </a:bodyPr>
          <a:lstStyle/>
          <a:p>
            <a:pPr algn="ctr">
              <a:defRPr sz="1500" b="0">
                <a:solidFill>
                  <a:srgbClr val="55707F"/>
                </a:solidFill>
                <a:latin typeface="Aptos"/>
                <a:ea typeface="Aptos"/>
                <a:cs typeface="Aptos"/>
              </a:defRPr>
            </a:pPr>
            <a:r>
              <a:rPr sz="2000" b="0" dirty="0" err="1">
                <a:solidFill>
                  <a:srgbClr val="55707F"/>
                </a:solidFill>
                <a:latin typeface="Aptos"/>
                <a:ea typeface="Aptos"/>
                <a:cs typeface="Aptos"/>
              </a:rPr>
              <a:t>giảm</a:t>
            </a:r>
            <a:r>
              <a:rPr sz="2000" b="0" dirty="0">
                <a:solidFill>
                  <a:srgbClr val="55707F"/>
                </a:solidFill>
                <a:latin typeface="Aptos"/>
                <a:ea typeface="Aptos"/>
                <a:cs typeface="Aptos"/>
              </a:rPr>
              <a:t> </a:t>
            </a:r>
            <a:r>
              <a:rPr sz="2000" b="0" dirty="0" err="1">
                <a:solidFill>
                  <a:srgbClr val="55707F"/>
                </a:solidFill>
                <a:latin typeface="Aptos"/>
                <a:ea typeface="Aptos"/>
                <a:cs typeface="Aptos"/>
              </a:rPr>
              <a:t>diện</a:t>
            </a:r>
            <a:r>
              <a:rPr sz="2000" b="0" dirty="0">
                <a:solidFill>
                  <a:srgbClr val="55707F"/>
                </a:solidFill>
                <a:latin typeface="Aptos"/>
                <a:ea typeface="Aptos"/>
                <a:cs typeface="Aptos"/>
              </a:rPr>
              <a:t> </a:t>
            </a:r>
            <a:r>
              <a:rPr sz="2000" b="0" dirty="0" err="1">
                <a:solidFill>
                  <a:srgbClr val="55707F"/>
                </a:solidFill>
                <a:latin typeface="Aptos"/>
                <a:ea typeface="Aptos"/>
                <a:cs typeface="Aptos"/>
              </a:rPr>
              <a:t>tích</a:t>
            </a:r>
            <a:r>
              <a:rPr sz="2000" b="0" dirty="0">
                <a:solidFill>
                  <a:srgbClr val="55707F"/>
                </a:solidFill>
                <a:latin typeface="Aptos"/>
                <a:ea typeface="Aptos"/>
                <a:cs typeface="Aptos"/>
              </a:rPr>
              <a:t> false positive</a:t>
            </a:r>
          </a:p>
        </p:txBody>
      </p:sp>
      <p:sp>
        <p:nvSpPr>
          <p:cNvPr id="8" name="Rectangle 7">
            <a:extLst>
              <a:ext uri="{FF2B5EF4-FFF2-40B4-BE49-F238E27FC236}">
                <a16:creationId xmlns:a16="http://schemas.microsoft.com/office/drawing/2014/main" id="{B59D9712-FF32-4362-BB22-5C45FF72AACA}"/>
              </a:ext>
            </a:extLst>
          </p:cNvPr>
          <p:cNvSpPr>
            <a:spLocks noGrp="1"/>
          </p:cNvSpPr>
          <p:nvPr/>
        </p:nvSpPr>
        <p:spPr>
          <a:xfrm>
            <a:off x="7905750" y="4238625"/>
            <a:ext cx="3048000" cy="666750"/>
          </a:xfrm>
          <a:prstGeom prst="rect">
            <a:avLst/>
          </a:prstGeom>
          <a:noFill/>
          <a:ln w="0">
            <a:noFill/>
          </a:ln>
        </p:spPr>
        <p:txBody>
          <a:bodyPr anchor="ctr">
            <a:noAutofit/>
          </a:bodyPr>
          <a:lstStyle/>
          <a:p>
            <a:pPr algn="ctr">
              <a:defRPr sz="1575" b="1">
                <a:solidFill>
                  <a:srgbClr val="0B1F33"/>
                </a:solidFill>
                <a:latin typeface="Aptos"/>
                <a:ea typeface="Aptos"/>
                <a:cs typeface="Aptos"/>
              </a:defRPr>
            </a:pPr>
            <a:r>
              <a:rPr sz="2000" b="1" dirty="0" err="1">
                <a:solidFill>
                  <a:srgbClr val="0B1F33"/>
                </a:solidFill>
                <a:latin typeface="Aptos"/>
                <a:ea typeface="Aptos"/>
                <a:cs typeface="Aptos"/>
              </a:rPr>
              <a:t>Không</a:t>
            </a:r>
            <a:r>
              <a:rPr sz="2000" b="1" dirty="0">
                <a:solidFill>
                  <a:srgbClr val="0B1F33"/>
                </a:solidFill>
                <a:latin typeface="Aptos"/>
                <a:ea typeface="Aptos"/>
                <a:cs typeface="Aptos"/>
              </a:rPr>
              <a:t> </a:t>
            </a:r>
            <a:r>
              <a:rPr sz="2000" b="1" dirty="0" err="1">
                <a:solidFill>
                  <a:srgbClr val="0B1F33"/>
                </a:solidFill>
                <a:latin typeface="Aptos"/>
                <a:ea typeface="Aptos"/>
                <a:cs typeface="Aptos"/>
              </a:rPr>
              <a:t>làm</a:t>
            </a:r>
            <a:r>
              <a:rPr sz="2000" b="1" dirty="0">
                <a:solidFill>
                  <a:srgbClr val="0B1F33"/>
                </a:solidFill>
                <a:latin typeface="Aptos"/>
                <a:ea typeface="Aptos"/>
                <a:cs typeface="Aptos"/>
              </a:rPr>
              <a:t> </a:t>
            </a:r>
            <a:r>
              <a:rPr sz="2000" b="1" dirty="0" err="1">
                <a:solidFill>
                  <a:srgbClr val="0B1F33"/>
                </a:solidFill>
                <a:latin typeface="Aptos"/>
                <a:ea typeface="Aptos"/>
                <a:cs typeface="Aptos"/>
              </a:rPr>
              <a:t>thay</a:t>
            </a:r>
            <a:r>
              <a:rPr sz="2000" b="1" dirty="0">
                <a:solidFill>
                  <a:srgbClr val="0B1F33"/>
                </a:solidFill>
                <a:latin typeface="Aptos"/>
                <a:ea typeface="Aptos"/>
                <a:cs typeface="Aptos"/>
              </a:rPr>
              <a:t> </a:t>
            </a:r>
            <a:r>
              <a:rPr sz="2000" b="1" dirty="0" err="1">
                <a:solidFill>
                  <a:srgbClr val="0B1F33"/>
                </a:solidFill>
                <a:latin typeface="Aptos"/>
                <a:ea typeface="Aptos"/>
                <a:cs typeface="Aptos"/>
              </a:rPr>
              <a:t>đổi</a:t>
            </a:r>
            <a:r>
              <a:rPr sz="2000" b="1" dirty="0">
                <a:solidFill>
                  <a:srgbClr val="0B1F33"/>
                </a:solidFill>
                <a:latin typeface="Aptos"/>
                <a:ea typeface="Aptos"/>
                <a:cs typeface="Aptos"/>
              </a:rPr>
              <a:t> AUROC </a:t>
            </a:r>
            <a:r>
              <a:rPr sz="2000" b="1" dirty="0" err="1">
                <a:solidFill>
                  <a:srgbClr val="0B1F33"/>
                </a:solidFill>
                <a:latin typeface="Aptos"/>
                <a:ea typeface="Aptos"/>
                <a:cs typeface="Aptos"/>
              </a:rPr>
              <a:t>phân</a:t>
            </a:r>
            <a:r>
              <a:rPr sz="2000" b="1" dirty="0">
                <a:solidFill>
                  <a:srgbClr val="0B1F33"/>
                </a:solidFill>
                <a:latin typeface="Aptos"/>
                <a:ea typeface="Aptos"/>
                <a:cs typeface="Aptos"/>
              </a:rPr>
              <a:t> </a:t>
            </a:r>
            <a:r>
              <a:rPr sz="2000" b="1" dirty="0" err="1">
                <a:solidFill>
                  <a:srgbClr val="0B1F33"/>
                </a:solidFill>
                <a:latin typeface="Aptos"/>
                <a:ea typeface="Aptos"/>
                <a:cs typeface="Aptos"/>
              </a:rPr>
              <a:t>loại</a:t>
            </a:r>
            <a:endParaRPr sz="2000" b="1" dirty="0">
              <a:solidFill>
                <a:srgbClr val="0B1F33"/>
              </a:solidFill>
              <a:latin typeface="Aptos"/>
              <a:ea typeface="Aptos"/>
              <a:cs typeface="Aptos"/>
            </a:endParaRPr>
          </a:p>
        </p:txBody>
      </p:sp>
      <p:pic>
        <p:nvPicPr>
          <p:cNvPr id="10" name="Picture 9"/>
          <p:cNvPicPr>
            <a:picLocks noChangeAspect="1"/>
          </p:cNvPicPr>
          <p:nvPr/>
        </p:nvPicPr>
        <p:blipFill>
          <a:blip r:embed="rId4"/>
          <a:stretch>
            <a:fillRect/>
          </a:stretch>
        </p:blipFill>
        <p:spPr>
          <a:xfrm>
            <a:off x="628650" y="451349"/>
            <a:ext cx="895350" cy="771525"/>
          </a:xfrm>
          <a:prstGeom prst="rect">
            <a:avLst/>
          </a:prstGeom>
        </p:spPr>
      </p:pic>
      <p:sp>
        <p:nvSpPr>
          <p:cNvPr id="11" name="Rectangle 10">
            <a:extLst>
              <a:ext uri="{FF2B5EF4-FFF2-40B4-BE49-F238E27FC236}">
                <a16:creationId xmlns:a16="http://schemas.microsoft.com/office/drawing/2014/main" id="{F992FDB2-A464-4709-B4C3-53657C08BA25}"/>
              </a:ext>
            </a:extLst>
          </p:cNvPr>
          <p:cNvSpPr>
            <a:spLocks noGrp="1"/>
          </p:cNvSpPr>
          <p:nvPr/>
        </p:nvSpPr>
        <p:spPr>
          <a:xfrm>
            <a:off x="1432560" y="838200"/>
            <a:ext cx="9894570" cy="323850"/>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err="1">
                <a:solidFill>
                  <a:srgbClr val="55707F"/>
                </a:solidFill>
                <a:latin typeface="Aptos"/>
                <a:ea typeface="Aptos"/>
                <a:cs typeface="Aptos"/>
              </a:rPr>
              <a:t>Hiệu</a:t>
            </a:r>
            <a:r>
              <a:rPr sz="2000" b="0" dirty="0">
                <a:solidFill>
                  <a:srgbClr val="55707F"/>
                </a:solidFill>
                <a:latin typeface="Aptos"/>
                <a:ea typeface="Aptos"/>
                <a:cs typeface="Aptos"/>
              </a:rPr>
              <a:t> </a:t>
            </a:r>
            <a:r>
              <a:rPr sz="2000" b="0" dirty="0" err="1">
                <a:solidFill>
                  <a:srgbClr val="55707F"/>
                </a:solidFill>
                <a:latin typeface="Aptos"/>
                <a:ea typeface="Aptos"/>
                <a:cs typeface="Aptos"/>
              </a:rPr>
              <a:t>chuẩn</a:t>
            </a:r>
            <a:r>
              <a:rPr sz="2000" b="0" dirty="0">
                <a:solidFill>
                  <a:srgbClr val="55707F"/>
                </a:solidFill>
                <a:latin typeface="Aptos"/>
                <a:ea typeface="Aptos"/>
                <a:cs typeface="Aptos"/>
              </a:rPr>
              <a:t> </a:t>
            </a:r>
            <a:r>
              <a:rPr sz="2000" b="0" dirty="0" err="1">
                <a:solidFill>
                  <a:srgbClr val="55707F"/>
                </a:solidFill>
                <a:latin typeface="Aptos"/>
                <a:ea typeface="Aptos"/>
                <a:cs typeface="Aptos"/>
              </a:rPr>
              <a:t>riêng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theo</a:t>
            </a:r>
            <a:r>
              <a:rPr sz="2000" b="0" dirty="0">
                <a:solidFill>
                  <a:srgbClr val="55707F"/>
                </a:solidFill>
                <a:latin typeface="Aptos"/>
                <a:ea typeface="Aptos"/>
                <a:cs typeface="Aptos"/>
              </a:rPr>
              <a:t> </a:t>
            </a:r>
            <a:r>
              <a:rPr sz="2000" b="0" dirty="0" err="1">
                <a:solidFill>
                  <a:srgbClr val="55707F"/>
                </a:solidFill>
                <a:latin typeface="Aptos"/>
                <a:ea typeface="Aptos"/>
                <a:cs typeface="Aptos"/>
              </a:rPr>
              <a:t>từng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lớp</a:t>
            </a:r>
            <a:r>
              <a:rPr sz="2000" b="0" dirty="0">
                <a:solidFill>
                  <a:srgbClr val="55707F"/>
                </a:solidFill>
                <a:latin typeface="Aptos"/>
                <a:ea typeface="Aptos"/>
                <a:cs typeface="Aptos"/>
              </a:rPr>
              <a:t> </a:t>
            </a:r>
            <a:r>
              <a:rPr sz="2000" b="0" dirty="0" err="1">
                <a:solidFill>
                  <a:srgbClr val="55707F"/>
                </a:solidFill>
                <a:latin typeface="Aptos"/>
                <a:ea typeface="Aptos"/>
                <a:cs typeface="Aptos"/>
              </a:rPr>
              <a:t>bằng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ảnh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thường</a:t>
            </a:r>
            <a:endParaRPr sz="2000" b="0" dirty="0">
              <a:solidFill>
                <a:srgbClr val="55707F"/>
              </a:solidFill>
              <a:latin typeface="Aptos"/>
              <a:ea typeface="Aptos"/>
              <a:cs typeface="Aptos"/>
            </a:endParaRPr>
          </a:p>
        </p:txBody>
      </p:sp>
    </p:spTree>
    <p:extLst>
      <p:ext uri="{BB962C8B-B14F-4D97-AF65-F5344CB8AC3E}">
        <p14:creationId xmlns:p14="http://schemas.microsoft.com/office/powerpoint/2010/main" val="48720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E802B66-E5CC-4A59-8F2B-45739DC09262}"/>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02E48393-B31B-435E-BE25-3B9D88E01EB4}"/>
              </a:ext>
            </a:extLst>
          </p:cNvPr>
          <p:cNvSpPr>
            <a:spLocks noGrp="1"/>
          </p:cNvSpPr>
          <p:nvPr/>
        </p:nvSpPr>
        <p:spPr>
          <a:xfrm>
            <a:off x="1524000" y="361950"/>
            <a:ext cx="975360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Đa</a:t>
            </a:r>
            <a:r>
              <a:rPr sz="2550" b="1" dirty="0">
                <a:solidFill>
                  <a:srgbClr val="0B1F33"/>
                </a:solidFill>
                <a:latin typeface="Aptos"/>
                <a:ea typeface="Aptos"/>
                <a:cs typeface="Aptos"/>
              </a:rPr>
              <a:t> </a:t>
            </a:r>
            <a:r>
              <a:rPr sz="2550" b="1" dirty="0" err="1">
                <a:solidFill>
                  <a:srgbClr val="0B1F33"/>
                </a:solidFill>
                <a:latin typeface="Aptos"/>
                <a:ea typeface="Aptos"/>
                <a:cs typeface="Aptos"/>
              </a:rPr>
              <a:t>tỉ</a:t>
            </a:r>
            <a:r>
              <a:rPr sz="2550" b="1" dirty="0">
                <a:solidFill>
                  <a:srgbClr val="0B1F33"/>
                </a:solidFill>
                <a:latin typeface="Aptos"/>
                <a:ea typeface="Aptos"/>
                <a:cs typeface="Aptos"/>
              </a:rPr>
              <a:t> </a:t>
            </a:r>
            <a:r>
              <a:rPr sz="2550" b="1" dirty="0" err="1">
                <a:solidFill>
                  <a:srgbClr val="0B1F33"/>
                </a:solidFill>
                <a:latin typeface="Aptos"/>
                <a:ea typeface="Aptos"/>
                <a:cs typeface="Aptos"/>
              </a:rPr>
              <a:t>lệ</a:t>
            </a:r>
            <a:r>
              <a:rPr sz="2550" b="1" dirty="0">
                <a:solidFill>
                  <a:srgbClr val="0B1F33"/>
                </a:solidFill>
                <a:latin typeface="Aptos"/>
                <a:ea typeface="Aptos"/>
                <a:cs typeface="Aptos"/>
              </a:rPr>
              <a:t> </a:t>
            </a:r>
            <a:r>
              <a:rPr sz="2550" b="1" dirty="0" err="1">
                <a:solidFill>
                  <a:srgbClr val="0B1F33"/>
                </a:solidFill>
                <a:latin typeface="Aptos"/>
                <a:ea typeface="Aptos"/>
                <a:cs typeface="Aptos"/>
              </a:rPr>
              <a:t>không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cải</a:t>
            </a:r>
            <a:r>
              <a:rPr sz="2550" b="1" dirty="0">
                <a:solidFill>
                  <a:srgbClr val="0B1F33"/>
                </a:solidFill>
                <a:latin typeface="Aptos"/>
                <a:ea typeface="Aptos"/>
                <a:cs typeface="Aptos"/>
              </a:rPr>
              <a:t> </a:t>
            </a:r>
            <a:r>
              <a:rPr sz="2550" b="1" dirty="0" err="1">
                <a:solidFill>
                  <a:srgbClr val="0B1F33"/>
                </a:solidFill>
                <a:latin typeface="Aptos"/>
                <a:ea typeface="Aptos"/>
                <a:cs typeface="Aptos"/>
              </a:rPr>
              <a:t>thiện</a:t>
            </a:r>
            <a:r>
              <a:rPr sz="2550" b="1" dirty="0">
                <a:solidFill>
                  <a:srgbClr val="0B1F33"/>
                </a:solidFill>
                <a:latin typeface="Aptos"/>
                <a:ea typeface="Aptos"/>
                <a:cs typeface="Aptos"/>
              </a:rPr>
              <a:t> AUROC</a:t>
            </a:r>
          </a:p>
        </p:txBody>
      </p:sp>
      <p:sp>
        <p:nvSpPr>
          <p:cNvPr id="3" name="Rectangle 2">
            <a:extLst>
              <a:ext uri="{FF2B5EF4-FFF2-40B4-BE49-F238E27FC236}">
                <a16:creationId xmlns:a16="http://schemas.microsoft.com/office/drawing/2014/main" id="{441F47D6-6989-4543-8D52-4F032ABFEA82}"/>
              </a:ext>
            </a:extLst>
          </p:cNvPr>
          <p:cNvSpPr>
            <a:spLocks noGrp="1"/>
          </p:cNvSpPr>
          <p:nvPr/>
        </p:nvSpPr>
        <p:spPr>
          <a:xfrm>
            <a:off x="1554480" y="845820"/>
            <a:ext cx="9879330" cy="323850"/>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a:solidFill>
                  <a:srgbClr val="55707F"/>
                </a:solidFill>
                <a:latin typeface="Aptos"/>
                <a:ea typeface="Aptos"/>
                <a:cs typeface="Aptos"/>
              </a:rPr>
              <a:t>Ba </a:t>
            </a:r>
            <a:r>
              <a:rPr sz="2000" b="0" dirty="0" err="1">
                <a:solidFill>
                  <a:srgbClr val="55707F"/>
                </a:solidFill>
                <a:latin typeface="Aptos"/>
                <a:ea typeface="Aptos"/>
                <a:cs typeface="Aptos"/>
              </a:rPr>
              <a:t>độ</a:t>
            </a:r>
            <a:r>
              <a:rPr sz="2000" b="0" dirty="0">
                <a:solidFill>
                  <a:srgbClr val="55707F"/>
                </a:solidFill>
                <a:latin typeface="Aptos"/>
                <a:ea typeface="Aptos"/>
                <a:cs typeface="Aptos"/>
              </a:rPr>
              <a:t> </a:t>
            </a:r>
            <a:r>
              <a:rPr sz="2000" b="0" dirty="0" err="1">
                <a:solidFill>
                  <a:srgbClr val="55707F"/>
                </a:solidFill>
                <a:latin typeface="Aptos"/>
                <a:ea typeface="Aptos"/>
                <a:cs typeface="Aptos"/>
              </a:rPr>
              <a:t>phân</a:t>
            </a:r>
            <a:r>
              <a:rPr sz="2000" b="0" dirty="0">
                <a:solidFill>
                  <a:srgbClr val="55707F"/>
                </a:solidFill>
                <a:latin typeface="Aptos"/>
                <a:ea typeface="Aptos"/>
                <a:cs typeface="Aptos"/>
              </a:rPr>
              <a:t> </a:t>
            </a:r>
            <a:r>
              <a:rPr sz="2000" b="0" dirty="0" err="1">
                <a:solidFill>
                  <a:srgbClr val="55707F"/>
                </a:solidFill>
                <a:latin typeface="Aptos"/>
                <a:ea typeface="Aptos"/>
                <a:cs typeface="Aptos"/>
              </a:rPr>
              <a:t>giải</a:t>
            </a:r>
            <a:r>
              <a:rPr sz="2000" b="0" dirty="0">
                <a:solidFill>
                  <a:srgbClr val="55707F"/>
                </a:solidFill>
                <a:latin typeface="Aptos"/>
                <a:ea typeface="Aptos"/>
                <a:cs typeface="Aptos"/>
              </a:rPr>
              <a:t> </a:t>
            </a:r>
            <a:r>
              <a:rPr sz="2000" b="0" dirty="0" err="1">
                <a:solidFill>
                  <a:srgbClr val="55707F"/>
                </a:solidFill>
                <a:latin typeface="Aptos"/>
                <a:ea typeface="Aptos"/>
                <a:cs typeface="Aptos"/>
              </a:rPr>
              <a:t>làm</a:t>
            </a:r>
            <a:r>
              <a:rPr sz="2000" b="0" dirty="0">
                <a:solidFill>
                  <a:srgbClr val="55707F"/>
                </a:solidFill>
                <a:latin typeface="Aptos"/>
                <a:ea typeface="Aptos"/>
                <a:cs typeface="Aptos"/>
              </a:rPr>
              <a:t> chi </a:t>
            </a:r>
            <a:r>
              <a:rPr sz="2000" b="0" dirty="0" err="1">
                <a:solidFill>
                  <a:srgbClr val="55707F"/>
                </a:solidFill>
                <a:latin typeface="Aptos"/>
                <a:ea typeface="Aptos"/>
                <a:cs typeface="Aptos"/>
              </a:rPr>
              <a:t>phí</a:t>
            </a:r>
            <a:r>
              <a:rPr sz="2000" b="0" dirty="0">
                <a:solidFill>
                  <a:srgbClr val="55707F"/>
                </a:solidFill>
                <a:latin typeface="Aptos"/>
                <a:ea typeface="Aptos"/>
                <a:cs typeface="Aptos"/>
              </a:rPr>
              <a:t> </a:t>
            </a:r>
            <a:r>
              <a:rPr sz="2000" b="0" dirty="0" err="1">
                <a:solidFill>
                  <a:srgbClr val="55707F"/>
                </a:solidFill>
                <a:latin typeface="Aptos"/>
                <a:ea typeface="Aptos"/>
                <a:cs typeface="Aptos"/>
              </a:rPr>
              <a:t>suy</a:t>
            </a:r>
            <a:r>
              <a:rPr sz="2000" b="0" dirty="0">
                <a:solidFill>
                  <a:srgbClr val="55707F"/>
                </a:solidFill>
                <a:latin typeface="Aptos"/>
                <a:ea typeface="Aptos"/>
                <a:cs typeface="Aptos"/>
              </a:rPr>
              <a:t> </a:t>
            </a:r>
            <a:r>
              <a:rPr sz="2000" b="0" dirty="0" err="1">
                <a:solidFill>
                  <a:srgbClr val="55707F"/>
                </a:solidFill>
                <a:latin typeface="Aptos"/>
                <a:ea typeface="Aptos"/>
                <a:cs typeface="Aptos"/>
              </a:rPr>
              <a:t>luận</a:t>
            </a:r>
            <a:r>
              <a:rPr sz="2000" b="0" dirty="0">
                <a:solidFill>
                  <a:srgbClr val="55707F"/>
                </a:solidFill>
                <a:latin typeface="Aptos"/>
                <a:ea typeface="Aptos"/>
                <a:cs typeface="Aptos"/>
              </a:rPr>
              <a:t> </a:t>
            </a:r>
            <a:r>
              <a:rPr sz="2000" b="0" dirty="0" err="1">
                <a:solidFill>
                  <a:srgbClr val="55707F"/>
                </a:solidFill>
                <a:latin typeface="Aptos"/>
                <a:ea typeface="Aptos"/>
                <a:cs typeface="Aptos"/>
              </a:rPr>
              <a:t>tăng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khoảng</a:t>
            </a:r>
            <a:r>
              <a:rPr sz="2000" b="0" dirty="0">
                <a:solidFill>
                  <a:srgbClr val="55707F"/>
                </a:solidFill>
                <a:latin typeface="Aptos"/>
                <a:ea typeface="Aptos"/>
                <a:cs typeface="Aptos"/>
              </a:rPr>
              <a:t> 3 </a:t>
            </a:r>
            <a:r>
              <a:rPr sz="2000" b="0" dirty="0" err="1">
                <a:solidFill>
                  <a:srgbClr val="55707F"/>
                </a:solidFill>
                <a:latin typeface="Aptos"/>
                <a:ea typeface="Aptos"/>
                <a:cs typeface="Aptos"/>
              </a:rPr>
              <a:t>lần</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60831EA9-690F-4F3E-9D14-7F5DCB611008}"/>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10</a:t>
            </a:r>
          </a:p>
        </p:txBody>
      </p:sp>
      <p:sp>
        <p:nvSpPr>
          <p:cNvPr id="5" name="Rectangle 4">
            <a:extLst>
              <a:ext uri="{FF2B5EF4-FFF2-40B4-BE49-F238E27FC236}">
                <a16:creationId xmlns:a16="http://schemas.microsoft.com/office/drawing/2014/main" id="{752FA1B0-E32D-4C2B-B66D-433E4F3CA1D1}"/>
              </a:ext>
            </a:extLst>
          </p:cNvPr>
          <p:cNvSpPr>
            <a:spLocks noGrp="1"/>
          </p:cNvSpPr>
          <p:nvPr/>
        </p:nvSpPr>
        <p:spPr>
          <a:xfrm>
            <a:off x="1524000" y="2095500"/>
            <a:ext cx="2476500" cy="1047750"/>
          </a:xfrm>
          <a:prstGeom prst="rect">
            <a:avLst/>
          </a:prstGeom>
          <a:noFill/>
          <a:ln w="0">
            <a:noFill/>
          </a:ln>
        </p:spPr>
        <p:txBody>
          <a:bodyPr anchor="ctr">
            <a:normAutofit/>
          </a:bodyPr>
          <a:lstStyle/>
          <a:p>
            <a:pPr algn="ctr">
              <a:defRPr sz="4050" b="1">
                <a:solidFill>
                  <a:srgbClr val="0E5A78"/>
                </a:solidFill>
                <a:latin typeface="Aptos"/>
                <a:ea typeface="Aptos"/>
                <a:cs typeface="Aptos"/>
              </a:defRPr>
            </a:pPr>
            <a:r>
              <a:rPr sz="4050" b="1">
                <a:solidFill>
                  <a:srgbClr val="0E5A78"/>
                </a:solidFill>
                <a:latin typeface="Aptos"/>
                <a:ea typeface="Aptos"/>
                <a:cs typeface="Aptos"/>
              </a:rPr>
              <a:t>0,9964</a:t>
            </a:r>
          </a:p>
        </p:txBody>
      </p:sp>
      <p:sp>
        <p:nvSpPr>
          <p:cNvPr id="6" name="Rectangle 5">
            <a:extLst>
              <a:ext uri="{FF2B5EF4-FFF2-40B4-BE49-F238E27FC236}">
                <a16:creationId xmlns:a16="http://schemas.microsoft.com/office/drawing/2014/main" id="{D88AD9C5-4D4B-4375-8346-539E7B02B6DB}"/>
              </a:ext>
            </a:extLst>
          </p:cNvPr>
          <p:cNvSpPr>
            <a:spLocks noGrp="1"/>
          </p:cNvSpPr>
          <p:nvPr/>
        </p:nvSpPr>
        <p:spPr>
          <a:xfrm>
            <a:off x="152400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err="1">
                <a:solidFill>
                  <a:srgbClr val="55707F"/>
                </a:solidFill>
                <a:latin typeface="Aptos"/>
                <a:ea typeface="Aptos"/>
                <a:cs typeface="Aptos"/>
              </a:rPr>
              <a:t>một</a:t>
            </a:r>
            <a:r>
              <a:rPr sz="2000" b="0" dirty="0">
                <a:solidFill>
                  <a:srgbClr val="55707F"/>
                </a:solidFill>
                <a:latin typeface="Aptos"/>
                <a:ea typeface="Aptos"/>
                <a:cs typeface="Aptos"/>
              </a:rPr>
              <a:t> </a:t>
            </a:r>
            <a:r>
              <a:rPr sz="2000" b="0" dirty="0" err="1">
                <a:solidFill>
                  <a:srgbClr val="55707F"/>
                </a:solidFill>
                <a:latin typeface="Aptos"/>
                <a:ea typeface="Aptos"/>
                <a:cs typeface="Aptos"/>
              </a:rPr>
              <a:t>tỉ</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lệ</a:t>
            </a:r>
            <a:r>
              <a:rPr sz="2000" b="0" dirty="0">
                <a:solidFill>
                  <a:srgbClr val="55707F"/>
                </a:solidFill>
                <a:latin typeface="Aptos"/>
                <a:ea typeface="Aptos"/>
                <a:cs typeface="Aptos"/>
              </a:rPr>
              <a:t> 384 × 384</a:t>
            </a:r>
          </a:p>
        </p:txBody>
      </p:sp>
      <p:sp>
        <p:nvSpPr>
          <p:cNvPr id="7" name="Rectangle 6">
            <a:extLst>
              <a:ext uri="{FF2B5EF4-FFF2-40B4-BE49-F238E27FC236}">
                <a16:creationId xmlns:a16="http://schemas.microsoft.com/office/drawing/2014/main" id="{5E24E68D-19E7-4507-8851-B44BB538C0CD}"/>
              </a:ext>
            </a:extLst>
          </p:cNvPr>
          <p:cNvSpPr>
            <a:spLocks noGrp="1"/>
          </p:cNvSpPr>
          <p:nvPr/>
        </p:nvSpPr>
        <p:spPr>
          <a:xfrm>
            <a:off x="5048250" y="2095500"/>
            <a:ext cx="2476500" cy="1047750"/>
          </a:xfrm>
          <a:prstGeom prst="rect">
            <a:avLst/>
          </a:prstGeom>
          <a:noFill/>
          <a:ln w="0">
            <a:noFill/>
          </a:ln>
        </p:spPr>
        <p:txBody>
          <a:bodyPr anchor="ctr">
            <a:normAutofit/>
          </a:bodyPr>
          <a:lstStyle/>
          <a:p>
            <a:pPr algn="ctr">
              <a:defRPr sz="4050" b="1">
                <a:solidFill>
                  <a:srgbClr val="18A999"/>
                </a:solidFill>
                <a:latin typeface="Aptos"/>
                <a:ea typeface="Aptos"/>
                <a:cs typeface="Aptos"/>
              </a:defRPr>
            </a:pPr>
            <a:r>
              <a:rPr sz="4050" b="1">
                <a:solidFill>
                  <a:srgbClr val="18A999"/>
                </a:solidFill>
                <a:latin typeface="Aptos"/>
                <a:ea typeface="Aptos"/>
                <a:cs typeface="Aptos"/>
              </a:rPr>
              <a:t>0,9958</a:t>
            </a:r>
          </a:p>
        </p:txBody>
      </p:sp>
      <p:sp>
        <p:nvSpPr>
          <p:cNvPr id="8" name="Rectangle 7">
            <a:extLst>
              <a:ext uri="{FF2B5EF4-FFF2-40B4-BE49-F238E27FC236}">
                <a16:creationId xmlns:a16="http://schemas.microsoft.com/office/drawing/2014/main" id="{A56F9692-03E5-4A59-9D35-661F54E237F2}"/>
              </a:ext>
            </a:extLst>
          </p:cNvPr>
          <p:cNvSpPr>
            <a:spLocks noGrp="1"/>
          </p:cNvSpPr>
          <p:nvPr/>
        </p:nvSpPr>
        <p:spPr>
          <a:xfrm>
            <a:off x="504825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err="1">
                <a:solidFill>
                  <a:srgbClr val="55707F"/>
                </a:solidFill>
                <a:latin typeface="Aptos"/>
                <a:ea typeface="Aptos"/>
                <a:cs typeface="Aptos"/>
              </a:rPr>
              <a:t>tổng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hợp</a:t>
            </a:r>
            <a:r>
              <a:rPr sz="2000" b="0" dirty="0">
                <a:solidFill>
                  <a:srgbClr val="55707F"/>
                </a:solidFill>
                <a:latin typeface="Aptos"/>
                <a:ea typeface="Aptos"/>
                <a:cs typeface="Aptos"/>
              </a:rPr>
              <a:t> 256/384/512</a:t>
            </a:r>
          </a:p>
        </p:txBody>
      </p:sp>
      <p:sp>
        <p:nvSpPr>
          <p:cNvPr id="9" name="Rectangle 8">
            <a:extLst>
              <a:ext uri="{FF2B5EF4-FFF2-40B4-BE49-F238E27FC236}">
                <a16:creationId xmlns:a16="http://schemas.microsoft.com/office/drawing/2014/main" id="{8135A456-8CB8-4120-8EFF-0986580B2533}"/>
              </a:ext>
            </a:extLst>
          </p:cNvPr>
          <p:cNvSpPr>
            <a:spLocks noGrp="1"/>
          </p:cNvSpPr>
          <p:nvPr/>
        </p:nvSpPr>
        <p:spPr>
          <a:xfrm>
            <a:off x="8572500" y="2095500"/>
            <a:ext cx="2476500" cy="1047750"/>
          </a:xfrm>
          <a:prstGeom prst="rect">
            <a:avLst/>
          </a:prstGeom>
          <a:noFill/>
          <a:ln w="0">
            <a:noFill/>
          </a:ln>
        </p:spPr>
        <p:txBody>
          <a:bodyPr anchor="ctr">
            <a:normAutofit/>
          </a:bodyPr>
          <a:lstStyle/>
          <a:p>
            <a:pPr algn="ctr">
              <a:defRPr sz="4050" b="1">
                <a:solidFill>
                  <a:srgbClr val="E3A72F"/>
                </a:solidFill>
                <a:latin typeface="Aptos"/>
                <a:ea typeface="Aptos"/>
                <a:cs typeface="Aptos"/>
              </a:defRPr>
            </a:pPr>
            <a:r>
              <a:rPr sz="4050" b="1">
                <a:solidFill>
                  <a:srgbClr val="E3A72F"/>
                </a:solidFill>
                <a:latin typeface="Aptos"/>
                <a:ea typeface="Aptos"/>
                <a:cs typeface="Aptos"/>
              </a:rPr>
              <a:t>≈3×</a:t>
            </a:r>
          </a:p>
        </p:txBody>
      </p:sp>
      <p:sp>
        <p:nvSpPr>
          <p:cNvPr id="10" name="Rectangle 9">
            <a:extLst>
              <a:ext uri="{FF2B5EF4-FFF2-40B4-BE49-F238E27FC236}">
                <a16:creationId xmlns:a16="http://schemas.microsoft.com/office/drawing/2014/main" id="{DE616F1A-E8C2-4775-997E-AF6505589D86}"/>
              </a:ext>
            </a:extLst>
          </p:cNvPr>
          <p:cNvSpPr>
            <a:spLocks noGrp="1"/>
          </p:cNvSpPr>
          <p:nvPr/>
        </p:nvSpPr>
        <p:spPr>
          <a:xfrm>
            <a:off x="857250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a:solidFill>
                  <a:srgbClr val="55707F"/>
                </a:solidFill>
                <a:latin typeface="Aptos"/>
                <a:ea typeface="Aptos"/>
                <a:cs typeface="Aptos"/>
              </a:rPr>
              <a:t>chi </a:t>
            </a:r>
            <a:r>
              <a:rPr sz="2000" b="0" dirty="0" err="1">
                <a:solidFill>
                  <a:srgbClr val="55707F"/>
                </a:solidFill>
                <a:latin typeface="Aptos"/>
                <a:ea typeface="Aptos"/>
                <a:cs typeface="Aptos"/>
              </a:rPr>
              <a:t>phí</a:t>
            </a:r>
            <a:r>
              <a:rPr sz="2000" b="0" dirty="0">
                <a:solidFill>
                  <a:srgbClr val="55707F"/>
                </a:solidFill>
                <a:latin typeface="Aptos"/>
                <a:ea typeface="Aptos"/>
                <a:cs typeface="Aptos"/>
              </a:rPr>
              <a:t> </a:t>
            </a:r>
            <a:r>
              <a:rPr sz="2000" b="0" dirty="0" err="1">
                <a:solidFill>
                  <a:srgbClr val="55707F"/>
                </a:solidFill>
                <a:latin typeface="Aptos"/>
                <a:ea typeface="Aptos"/>
                <a:cs typeface="Aptos"/>
              </a:rPr>
              <a:t>suy</a:t>
            </a:r>
            <a:r>
              <a:rPr sz="2000" b="0" dirty="0">
                <a:solidFill>
                  <a:srgbClr val="55707F"/>
                </a:solidFill>
                <a:latin typeface="Aptos"/>
                <a:ea typeface="Aptos"/>
                <a:cs typeface="Aptos"/>
              </a:rPr>
              <a:t> </a:t>
            </a:r>
            <a:r>
              <a:rPr sz="2000" b="0" dirty="0" err="1">
                <a:solidFill>
                  <a:srgbClr val="55707F"/>
                </a:solidFill>
                <a:latin typeface="Aptos"/>
                <a:ea typeface="Aptos"/>
                <a:cs typeface="Aptos"/>
              </a:rPr>
              <a:t>luận</a:t>
            </a:r>
            <a:endParaRPr sz="2000" b="0" dirty="0">
              <a:solidFill>
                <a:srgbClr val="55707F"/>
              </a:solidFill>
              <a:latin typeface="Aptos"/>
              <a:ea typeface="Aptos"/>
              <a:cs typeface="Aptos"/>
            </a:endParaRPr>
          </a:p>
        </p:txBody>
      </p:sp>
      <p:sp>
        <p:nvSpPr>
          <p:cNvPr id="11" name="Rectangle 10">
            <a:extLst>
              <a:ext uri="{FF2B5EF4-FFF2-40B4-BE49-F238E27FC236}">
                <a16:creationId xmlns:a16="http://schemas.microsoft.com/office/drawing/2014/main" id="{C182EDB7-A272-47D2-9805-4E9086750F12}"/>
              </a:ext>
            </a:extLst>
          </p:cNvPr>
          <p:cNvSpPr>
            <a:spLocks noGrp="1"/>
          </p:cNvSpPr>
          <p:nvPr/>
        </p:nvSpPr>
        <p:spPr>
          <a:xfrm>
            <a:off x="1619250" y="4429125"/>
            <a:ext cx="8953500" cy="857250"/>
          </a:xfrm>
          <a:prstGeom prst="rect">
            <a:avLst/>
          </a:prstGeom>
          <a:noFill/>
          <a:ln w="0">
            <a:noFill/>
          </a:ln>
        </p:spPr>
        <p:txBody>
          <a:bodyPr anchor="ctr">
            <a:normAutofit/>
          </a:bodyPr>
          <a:lstStyle/>
          <a:p>
            <a:pPr algn="ctr">
              <a:defRPr sz="1725" b="0">
                <a:solidFill>
                  <a:srgbClr val="172B3A"/>
                </a:solidFill>
                <a:latin typeface="Aptos"/>
                <a:ea typeface="Aptos"/>
                <a:cs typeface="Aptos"/>
              </a:defRPr>
            </a:pPr>
            <a:r>
              <a:rPr sz="2000" b="0" dirty="0" err="1">
                <a:solidFill>
                  <a:srgbClr val="172B3A"/>
                </a:solidFill>
                <a:latin typeface="Aptos"/>
                <a:ea typeface="Aptos"/>
                <a:cs typeface="Aptos"/>
              </a:rPr>
              <a:t>Phép</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lấy</a:t>
            </a:r>
            <a:r>
              <a:rPr sz="2000" b="0" dirty="0">
                <a:solidFill>
                  <a:srgbClr val="172B3A"/>
                </a:solidFill>
                <a:latin typeface="Aptos"/>
                <a:ea typeface="Aptos"/>
                <a:cs typeface="Aptos"/>
              </a:rPr>
              <a:t> </a:t>
            </a:r>
            <a:r>
              <a:rPr sz="2000" b="0" dirty="0" err="1">
                <a:solidFill>
                  <a:srgbClr val="172B3A"/>
                </a:solidFill>
                <a:latin typeface="Aptos"/>
                <a:ea typeface="Aptos"/>
                <a:cs typeface="Aptos"/>
              </a:rPr>
              <a:t>cực</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đại</a:t>
            </a:r>
            <a:r>
              <a:rPr sz="2000" b="0" dirty="0">
                <a:solidFill>
                  <a:srgbClr val="172B3A"/>
                </a:solidFill>
                <a:latin typeface="Aptos"/>
                <a:ea typeface="Aptos"/>
                <a:cs typeface="Aptos"/>
              </a:rPr>
              <a:t> </a:t>
            </a:r>
            <a:r>
              <a:rPr sz="2000" b="0" dirty="0" err="1">
                <a:solidFill>
                  <a:srgbClr val="172B3A"/>
                </a:solidFill>
                <a:latin typeface="Aptos"/>
                <a:ea typeface="Aptos"/>
                <a:cs typeface="Aptos"/>
              </a:rPr>
              <a:t>có</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thể</a:t>
            </a:r>
            <a:r>
              <a:rPr sz="2000" b="0" dirty="0">
                <a:solidFill>
                  <a:srgbClr val="172B3A"/>
                </a:solidFill>
                <a:latin typeface="Aptos"/>
                <a:ea typeface="Aptos"/>
                <a:cs typeface="Aptos"/>
              </a:rPr>
              <a:t> </a:t>
            </a:r>
            <a:r>
              <a:rPr sz="2000" b="0" dirty="0" err="1">
                <a:solidFill>
                  <a:srgbClr val="172B3A"/>
                </a:solidFill>
                <a:latin typeface="Aptos"/>
                <a:ea typeface="Aptos"/>
                <a:cs typeface="Aptos"/>
              </a:rPr>
              <a:t>giữ</a:t>
            </a:r>
            <a:r>
              <a:rPr sz="2000" b="0" dirty="0">
                <a:solidFill>
                  <a:srgbClr val="172B3A"/>
                </a:solidFill>
                <a:latin typeface="Aptos"/>
                <a:ea typeface="Aptos"/>
                <a:cs typeface="Aptos"/>
              </a:rPr>
              <a:t> </a:t>
            </a:r>
            <a:r>
              <a:rPr sz="2000" b="0" dirty="0" err="1">
                <a:solidFill>
                  <a:srgbClr val="172B3A"/>
                </a:solidFill>
                <a:latin typeface="Aptos"/>
                <a:ea typeface="Aptos"/>
                <a:cs typeface="Aptos"/>
              </a:rPr>
              <a:t>cả</a:t>
            </a:r>
            <a:r>
              <a:rPr sz="2000" b="0" dirty="0">
                <a:solidFill>
                  <a:srgbClr val="172B3A"/>
                </a:solidFill>
                <a:latin typeface="Aptos"/>
                <a:ea typeface="Aptos"/>
                <a:cs typeface="Aptos"/>
              </a:rPr>
              <a:t> </a:t>
            </a:r>
            <a:r>
              <a:rPr sz="2000" b="0" dirty="0" err="1">
                <a:solidFill>
                  <a:srgbClr val="172B3A"/>
                </a:solidFill>
                <a:latin typeface="Aptos"/>
                <a:ea typeface="Aptos"/>
                <a:cs typeface="Aptos"/>
              </a:rPr>
              <a:t>tín</a:t>
            </a:r>
            <a:r>
              <a:rPr sz="2000" b="0" dirty="0">
                <a:solidFill>
                  <a:srgbClr val="172B3A"/>
                </a:solidFill>
                <a:latin typeface="Aptos"/>
                <a:ea typeface="Aptos"/>
                <a:cs typeface="Aptos"/>
              </a:rPr>
              <a:t> </a:t>
            </a:r>
            <a:r>
              <a:rPr sz="2000" b="0" dirty="0" err="1">
                <a:solidFill>
                  <a:srgbClr val="172B3A"/>
                </a:solidFill>
                <a:latin typeface="Aptos"/>
                <a:ea typeface="Aptos"/>
                <a:cs typeface="Aptos"/>
              </a:rPr>
              <a:t>hiệu</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lỗi</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thật</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đỉnh</a:t>
            </a:r>
            <a:r>
              <a:rPr sz="2000" b="0" dirty="0">
                <a:solidFill>
                  <a:srgbClr val="172B3A"/>
                </a:solidFill>
                <a:latin typeface="Aptos"/>
                <a:ea typeface="Aptos"/>
                <a:cs typeface="Aptos"/>
              </a:rPr>
              <a:t> false positive </a:t>
            </a:r>
            <a:r>
              <a:rPr sz="2000" b="0" dirty="0" err="1">
                <a:solidFill>
                  <a:srgbClr val="172B3A"/>
                </a:solidFill>
                <a:latin typeface="Aptos"/>
                <a:ea typeface="Aptos"/>
                <a:cs typeface="Aptos"/>
              </a:rPr>
              <a:t>theo</a:t>
            </a:r>
            <a:r>
              <a:rPr sz="2000" b="0" dirty="0">
                <a:solidFill>
                  <a:srgbClr val="172B3A"/>
                </a:solidFill>
                <a:latin typeface="Aptos"/>
                <a:ea typeface="Aptos"/>
                <a:cs typeface="Aptos"/>
              </a:rPr>
              <a:t> </a:t>
            </a:r>
            <a:r>
              <a:rPr sz="2000" b="0" dirty="0" err="1">
                <a:solidFill>
                  <a:srgbClr val="172B3A"/>
                </a:solidFill>
                <a:latin typeface="Aptos"/>
                <a:ea typeface="Aptos"/>
                <a:cs typeface="Aptos"/>
              </a:rPr>
              <a:t>từng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tỉ</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lệ</a:t>
            </a:r>
            <a:r>
              <a:rPr sz="2000" b="0" dirty="0">
                <a:solidFill>
                  <a:srgbClr val="172B3A"/>
                </a:solidFill>
                <a:latin typeface="Aptos"/>
                <a:ea typeface="Aptos"/>
                <a:cs typeface="Aptos"/>
              </a:rPr>
              <a:t>.</a:t>
            </a:r>
          </a:p>
        </p:txBody>
      </p:sp>
      <p:pic>
        <p:nvPicPr>
          <p:cNvPr id="13" name="Picture 12"/>
          <p:cNvPicPr>
            <a:picLocks noChangeAspect="1"/>
          </p:cNvPicPr>
          <p:nvPr/>
        </p:nvPicPr>
        <p:blipFill>
          <a:blip r:embed="rId3"/>
          <a:stretch>
            <a:fillRect/>
          </a:stretch>
        </p:blipFill>
        <p:spPr>
          <a:xfrm>
            <a:off x="674370" y="451349"/>
            <a:ext cx="895350" cy="771525"/>
          </a:xfrm>
          <a:prstGeom prst="rect">
            <a:avLst/>
          </a:prstGeom>
        </p:spPr>
      </p:pic>
    </p:spTree>
    <p:extLst>
      <p:ext uri="{BB962C8B-B14F-4D97-AF65-F5344CB8AC3E}">
        <p14:creationId xmlns:p14="http://schemas.microsoft.com/office/powerpoint/2010/main" val="691320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B29847-E908-4739-9E80-85CE00C93C72}"/>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FEC86816-31F0-48B2-B643-A72D88F80064}"/>
              </a:ext>
            </a:extLst>
          </p:cNvPr>
          <p:cNvSpPr>
            <a:spLocks noGrp="1"/>
          </p:cNvSpPr>
          <p:nvPr/>
        </p:nvSpPr>
        <p:spPr>
          <a:xfrm>
            <a:off x="1428750" y="361950"/>
            <a:ext cx="984885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Định</a:t>
            </a:r>
            <a:r>
              <a:rPr sz="2550" b="1" dirty="0">
                <a:solidFill>
                  <a:srgbClr val="0B1F33"/>
                </a:solidFill>
                <a:latin typeface="Aptos"/>
                <a:ea typeface="Aptos"/>
                <a:cs typeface="Aptos"/>
              </a:rPr>
              <a:t> </a:t>
            </a:r>
            <a:r>
              <a:rPr sz="2550" b="1" dirty="0" err="1">
                <a:solidFill>
                  <a:srgbClr val="0B1F33"/>
                </a:solidFill>
                <a:latin typeface="Aptos"/>
                <a:ea typeface="Aptos"/>
                <a:cs typeface="Aptos"/>
              </a:rPr>
              <a:t>vị</a:t>
            </a:r>
            <a:r>
              <a:rPr sz="2550" b="1" dirty="0">
                <a:solidFill>
                  <a:srgbClr val="0B1F33"/>
                </a:solidFill>
                <a:latin typeface="Aptos"/>
                <a:ea typeface="Aptos"/>
                <a:cs typeface="Aptos"/>
              </a:rPr>
              <a:t> </a:t>
            </a:r>
            <a:r>
              <a:rPr sz="2550" b="1" dirty="0" err="1">
                <a:solidFill>
                  <a:srgbClr val="0B1F33"/>
                </a:solidFill>
                <a:latin typeface="Aptos"/>
                <a:ea typeface="Aptos"/>
                <a:cs typeface="Aptos"/>
              </a:rPr>
              <a:t>đúng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khu</a:t>
            </a:r>
            <a:r>
              <a:rPr sz="2550" b="1" dirty="0">
                <a:solidFill>
                  <a:srgbClr val="0B1F33"/>
                </a:solidFill>
                <a:latin typeface="Aptos"/>
                <a:ea typeface="Aptos"/>
                <a:cs typeface="Aptos"/>
              </a:rPr>
              <a:t> </a:t>
            </a:r>
            <a:r>
              <a:rPr sz="2550" b="1" dirty="0" err="1">
                <a:solidFill>
                  <a:srgbClr val="0B1F33"/>
                </a:solidFill>
                <a:latin typeface="Aptos"/>
                <a:ea typeface="Aptos"/>
                <a:cs typeface="Aptos"/>
              </a:rPr>
              <a:t>vực</a:t>
            </a:r>
            <a:r>
              <a:rPr sz="2550" b="1" dirty="0">
                <a:solidFill>
                  <a:srgbClr val="0B1F33"/>
                </a:solidFill>
                <a:latin typeface="Aptos"/>
                <a:ea typeface="Aptos"/>
                <a:cs typeface="Aptos"/>
              </a:rPr>
              <a:t> </a:t>
            </a:r>
            <a:r>
              <a:rPr sz="2550" b="1" dirty="0" err="1">
                <a:solidFill>
                  <a:srgbClr val="0B1F33"/>
                </a:solidFill>
                <a:latin typeface="Aptos"/>
                <a:ea typeface="Aptos"/>
                <a:cs typeface="Aptos"/>
              </a:rPr>
              <a:t>nhưng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biên</a:t>
            </a:r>
            <a:r>
              <a:rPr sz="2550" b="1" dirty="0">
                <a:solidFill>
                  <a:srgbClr val="0B1F33"/>
                </a:solidFill>
                <a:latin typeface="Aptos"/>
                <a:ea typeface="Aptos"/>
                <a:cs typeface="Aptos"/>
              </a:rPr>
              <a:t> </a:t>
            </a:r>
            <a:r>
              <a:rPr sz="2550" b="1" dirty="0" err="1">
                <a:solidFill>
                  <a:srgbClr val="0B1F33"/>
                </a:solidFill>
                <a:latin typeface="Aptos"/>
                <a:ea typeface="Aptos"/>
                <a:cs typeface="Aptos"/>
              </a:rPr>
              <a:t>chưa</a:t>
            </a:r>
            <a:r>
              <a:rPr sz="2550" b="1" dirty="0">
                <a:solidFill>
                  <a:srgbClr val="0B1F33"/>
                </a:solidFill>
                <a:latin typeface="Aptos"/>
                <a:ea typeface="Aptos"/>
                <a:cs typeface="Aptos"/>
              </a:rPr>
              <a:t> </a:t>
            </a:r>
            <a:r>
              <a:rPr sz="2550" b="1" dirty="0" err="1">
                <a:solidFill>
                  <a:srgbClr val="0B1F33"/>
                </a:solidFill>
                <a:latin typeface="Aptos"/>
                <a:ea typeface="Aptos"/>
                <a:cs typeface="Aptos"/>
              </a:rPr>
              <a:t>chính</a:t>
            </a:r>
            <a:r>
              <a:rPr sz="2550" b="1" dirty="0">
                <a:solidFill>
                  <a:srgbClr val="0B1F33"/>
                </a:solidFill>
                <a:latin typeface="Aptos"/>
                <a:ea typeface="Aptos"/>
                <a:cs typeface="Aptos"/>
              </a:rPr>
              <a:t> </a:t>
            </a:r>
            <a:r>
              <a:rPr sz="2550" b="1" dirty="0" err="1">
                <a:solidFill>
                  <a:srgbClr val="0B1F33"/>
                </a:solidFill>
                <a:latin typeface="Aptos"/>
                <a:ea typeface="Aptos"/>
                <a:cs typeface="Aptos"/>
              </a:rPr>
              <a:t>xác</a:t>
            </a:r>
            <a:endParaRPr sz="2550" b="1" dirty="0">
              <a:solidFill>
                <a:srgbClr val="0B1F33"/>
              </a:solidFill>
              <a:latin typeface="Aptos"/>
              <a:ea typeface="Aptos"/>
              <a:cs typeface="Aptos"/>
            </a:endParaRPr>
          </a:p>
        </p:txBody>
      </p:sp>
      <p:sp>
        <p:nvSpPr>
          <p:cNvPr id="3" name="Rectangle 2">
            <a:extLst>
              <a:ext uri="{FF2B5EF4-FFF2-40B4-BE49-F238E27FC236}">
                <a16:creationId xmlns:a16="http://schemas.microsoft.com/office/drawing/2014/main" id="{8CEE4CF4-0AF2-48E7-AB06-2E6693EFDDD6}"/>
              </a:ext>
            </a:extLst>
          </p:cNvPr>
          <p:cNvSpPr>
            <a:spLocks noGrp="1"/>
          </p:cNvSpPr>
          <p:nvPr/>
        </p:nvSpPr>
        <p:spPr>
          <a:xfrm>
            <a:off x="1428750" y="853440"/>
            <a:ext cx="9867900" cy="323850"/>
          </a:xfrm>
          <a:prstGeom prst="rect">
            <a:avLst/>
          </a:prstGeom>
          <a:noFill/>
          <a:ln w="0">
            <a:noFill/>
          </a:ln>
        </p:spPr>
        <p:txBody>
          <a:bodyPr anchor="ctr">
            <a:noAutofit/>
          </a:bodyPr>
          <a:lstStyle/>
          <a:p>
            <a:pPr algn="l">
              <a:defRPr sz="1200" b="0">
                <a:solidFill>
                  <a:srgbClr val="55707F"/>
                </a:solidFill>
                <a:latin typeface="Aptos"/>
                <a:ea typeface="Aptos"/>
                <a:cs typeface="Aptos"/>
              </a:defRPr>
            </a:pPr>
            <a:r>
              <a:rPr sz="2000" b="0" dirty="0" err="1">
                <a:solidFill>
                  <a:srgbClr val="55707F"/>
                </a:solidFill>
                <a:latin typeface="Aptos"/>
                <a:ea typeface="Aptos"/>
                <a:cs typeface="Aptos"/>
              </a:rPr>
              <a:t>Đánh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giá</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trên</a:t>
            </a:r>
            <a:r>
              <a:rPr sz="2000" b="0" dirty="0">
                <a:solidFill>
                  <a:srgbClr val="55707F"/>
                </a:solidFill>
                <a:latin typeface="Aptos"/>
                <a:ea typeface="Aptos"/>
                <a:cs typeface="Aptos"/>
              </a:rPr>
              <a:t> 192 </a:t>
            </a:r>
            <a:r>
              <a:rPr sz="2000" b="0" dirty="0" err="1">
                <a:solidFill>
                  <a:srgbClr val="55707F"/>
                </a:solidFill>
                <a:latin typeface="Aptos"/>
                <a:ea typeface="Aptos"/>
                <a:cs typeface="Aptos"/>
              </a:rPr>
              <a:t>ảnh</a:t>
            </a:r>
            <a:r>
              <a:rPr sz="2000" b="0" dirty="0">
                <a:solidFill>
                  <a:srgbClr val="55707F"/>
                </a:solidFill>
                <a:latin typeface="Aptos"/>
                <a:ea typeface="Aptos"/>
                <a:cs typeface="Aptos"/>
              </a:rPr>
              <a:t> </a:t>
            </a:r>
            <a:r>
              <a:rPr sz="2000" b="0" dirty="0" err="1">
                <a:solidFill>
                  <a:srgbClr val="55707F"/>
                </a:solidFill>
                <a:latin typeface="Aptos"/>
                <a:ea typeface="Aptos"/>
                <a:cs typeface="Aptos"/>
              </a:rPr>
              <a:t>lỗi</a:t>
            </a:r>
            <a:r>
              <a:rPr sz="2000" b="0" dirty="0">
                <a:solidFill>
                  <a:srgbClr val="55707F"/>
                </a:solidFill>
                <a:latin typeface="Aptos"/>
                <a:ea typeface="Aptos"/>
                <a:cs typeface="Aptos"/>
              </a:rPr>
              <a:t> </a:t>
            </a:r>
            <a:r>
              <a:rPr sz="2000" b="0" dirty="0" err="1">
                <a:solidFill>
                  <a:srgbClr val="55707F"/>
                </a:solidFill>
                <a:latin typeface="Aptos"/>
                <a:ea typeface="Aptos"/>
                <a:cs typeface="Aptos"/>
              </a:rPr>
              <a:t>có</a:t>
            </a:r>
            <a:r>
              <a:rPr sz="2000" b="0" dirty="0">
                <a:solidFill>
                  <a:srgbClr val="55707F"/>
                </a:solidFill>
                <a:latin typeface="Aptos"/>
                <a:ea typeface="Aptos"/>
                <a:cs typeface="Aptos"/>
              </a:rPr>
              <a:t> </a:t>
            </a:r>
            <a:r>
              <a:rPr sz="2000" b="0" dirty="0" err="1">
                <a:solidFill>
                  <a:srgbClr val="55707F"/>
                </a:solidFill>
                <a:latin typeface="Aptos"/>
                <a:ea typeface="Aptos"/>
                <a:cs typeface="Aptos"/>
              </a:rPr>
              <a:t>mặt</a:t>
            </a:r>
            <a:r>
              <a:rPr sz="2000" b="0" dirty="0">
                <a:solidFill>
                  <a:srgbClr val="55707F"/>
                </a:solidFill>
                <a:latin typeface="Aptos"/>
                <a:ea typeface="Aptos"/>
                <a:cs typeface="Aptos"/>
              </a:rPr>
              <a:t> </a:t>
            </a:r>
            <a:r>
              <a:rPr sz="2000" b="0" dirty="0" err="1">
                <a:solidFill>
                  <a:srgbClr val="55707F"/>
                </a:solidFill>
                <a:latin typeface="Aptos"/>
                <a:ea typeface="Aptos"/>
                <a:cs typeface="Aptos"/>
              </a:rPr>
              <a:t>nạ</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thủ</a:t>
            </a:r>
            <a:r>
              <a:rPr sz="2000" b="0" dirty="0">
                <a:solidFill>
                  <a:srgbClr val="55707F"/>
                </a:solidFill>
                <a:latin typeface="Aptos"/>
                <a:ea typeface="Aptos"/>
                <a:cs typeface="Aptos"/>
              </a:rPr>
              <a:t> </a:t>
            </a:r>
            <a:r>
              <a:rPr sz="2000" b="0" dirty="0" err="1">
                <a:solidFill>
                  <a:srgbClr val="55707F"/>
                </a:solidFill>
                <a:latin typeface="Aptos"/>
                <a:ea typeface="Aptos"/>
                <a:cs typeface="Aptos"/>
              </a:rPr>
              <a:t>công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thô</a:t>
            </a:r>
            <a:endParaRPr sz="2000" b="0" dirty="0">
              <a:solidFill>
                <a:srgbClr val="55707F"/>
              </a:solidFill>
              <a:latin typeface="Aptos"/>
              <a:ea typeface="Aptos"/>
              <a:cs typeface="Aptos"/>
            </a:endParaRPr>
          </a:p>
        </p:txBody>
      </p:sp>
      <p:sp>
        <p:nvSpPr>
          <p:cNvPr id="4" name="Rectangle 3">
            <a:extLst>
              <a:ext uri="{FF2B5EF4-FFF2-40B4-BE49-F238E27FC236}">
                <a16:creationId xmlns:a16="http://schemas.microsoft.com/office/drawing/2014/main" id="{AFD754C0-AE86-4704-86E9-E3B9701F8C64}"/>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11</a:t>
            </a:r>
          </a:p>
        </p:txBody>
      </p:sp>
      <p:sp>
        <p:nvSpPr>
          <p:cNvPr id="5" name="Rectangle 4">
            <a:extLst>
              <a:ext uri="{FF2B5EF4-FFF2-40B4-BE49-F238E27FC236}">
                <a16:creationId xmlns:a16="http://schemas.microsoft.com/office/drawing/2014/main" id="{4F329A01-0F3D-4AD8-8661-E8DC022E5FD4}"/>
              </a:ext>
            </a:extLst>
          </p:cNvPr>
          <p:cNvSpPr>
            <a:spLocks noGrp="1"/>
          </p:cNvSpPr>
          <p:nvPr/>
        </p:nvSpPr>
        <p:spPr>
          <a:xfrm>
            <a:off x="1428750" y="2095500"/>
            <a:ext cx="2476500" cy="1047750"/>
          </a:xfrm>
          <a:prstGeom prst="rect">
            <a:avLst/>
          </a:prstGeom>
          <a:noFill/>
          <a:ln w="0">
            <a:noFill/>
          </a:ln>
        </p:spPr>
        <p:txBody>
          <a:bodyPr anchor="ctr">
            <a:normAutofit/>
          </a:bodyPr>
          <a:lstStyle/>
          <a:p>
            <a:pPr algn="ctr">
              <a:defRPr sz="4050" b="1">
                <a:solidFill>
                  <a:srgbClr val="D95757"/>
                </a:solidFill>
                <a:latin typeface="Aptos"/>
                <a:ea typeface="Aptos"/>
                <a:cs typeface="Aptos"/>
              </a:defRPr>
            </a:pPr>
            <a:r>
              <a:rPr sz="4050" b="1">
                <a:solidFill>
                  <a:srgbClr val="D95757"/>
                </a:solidFill>
                <a:latin typeface="Aptos"/>
                <a:ea typeface="Aptos"/>
                <a:cs typeface="Aptos"/>
              </a:rPr>
              <a:t>0,220</a:t>
            </a:r>
          </a:p>
        </p:txBody>
      </p:sp>
      <p:sp>
        <p:nvSpPr>
          <p:cNvPr id="6" name="Rectangle 5">
            <a:extLst>
              <a:ext uri="{FF2B5EF4-FFF2-40B4-BE49-F238E27FC236}">
                <a16:creationId xmlns:a16="http://schemas.microsoft.com/office/drawing/2014/main" id="{7904DD27-C633-470B-9EBE-FB454875CB23}"/>
              </a:ext>
            </a:extLst>
          </p:cNvPr>
          <p:cNvSpPr>
            <a:spLocks noGrp="1"/>
          </p:cNvSpPr>
          <p:nvPr/>
        </p:nvSpPr>
        <p:spPr>
          <a:xfrm>
            <a:off x="142875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err="1">
                <a:solidFill>
                  <a:srgbClr val="55707F"/>
                </a:solidFill>
                <a:latin typeface="Aptos"/>
                <a:ea typeface="Aptos"/>
                <a:cs typeface="Aptos"/>
              </a:rPr>
              <a:t>IoU</a:t>
            </a:r>
            <a:r>
              <a:rPr sz="2000" b="0" dirty="0">
                <a:solidFill>
                  <a:srgbClr val="55707F"/>
                </a:solidFill>
                <a:latin typeface="Aptos"/>
                <a:ea typeface="Aptos"/>
                <a:cs typeface="Aptos"/>
              </a:rPr>
              <a:t> </a:t>
            </a:r>
            <a:r>
              <a:rPr sz="2000" b="0" dirty="0" err="1">
                <a:solidFill>
                  <a:srgbClr val="55707F"/>
                </a:solidFill>
                <a:latin typeface="Aptos"/>
                <a:ea typeface="Aptos"/>
                <a:cs typeface="Aptos"/>
              </a:rPr>
              <a:t>trung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endParaRPr sz="2000" b="0" dirty="0">
              <a:solidFill>
                <a:srgbClr val="55707F"/>
              </a:solidFill>
              <a:latin typeface="Aptos"/>
              <a:ea typeface="Aptos"/>
              <a:cs typeface="Aptos"/>
            </a:endParaRPr>
          </a:p>
        </p:txBody>
      </p:sp>
      <p:sp>
        <p:nvSpPr>
          <p:cNvPr id="7" name="Rectangle 6">
            <a:extLst>
              <a:ext uri="{FF2B5EF4-FFF2-40B4-BE49-F238E27FC236}">
                <a16:creationId xmlns:a16="http://schemas.microsoft.com/office/drawing/2014/main" id="{C704246D-CC27-441F-8707-1D45028CF4C6}"/>
              </a:ext>
            </a:extLst>
          </p:cNvPr>
          <p:cNvSpPr>
            <a:spLocks noGrp="1"/>
          </p:cNvSpPr>
          <p:nvPr/>
        </p:nvSpPr>
        <p:spPr>
          <a:xfrm>
            <a:off x="4857750" y="2095500"/>
            <a:ext cx="2476500" cy="1047750"/>
          </a:xfrm>
          <a:prstGeom prst="rect">
            <a:avLst/>
          </a:prstGeom>
          <a:noFill/>
          <a:ln w="0">
            <a:noFill/>
          </a:ln>
        </p:spPr>
        <p:txBody>
          <a:bodyPr anchor="ctr">
            <a:normAutofit/>
          </a:bodyPr>
          <a:lstStyle/>
          <a:p>
            <a:pPr algn="ctr">
              <a:defRPr sz="4050" b="1">
                <a:solidFill>
                  <a:srgbClr val="E3A72F"/>
                </a:solidFill>
                <a:latin typeface="Aptos"/>
                <a:ea typeface="Aptos"/>
                <a:cs typeface="Aptos"/>
              </a:defRPr>
            </a:pPr>
            <a:r>
              <a:rPr sz="4050" b="1">
                <a:solidFill>
                  <a:srgbClr val="E3A72F"/>
                </a:solidFill>
                <a:latin typeface="Aptos"/>
                <a:ea typeface="Aptos"/>
                <a:cs typeface="Aptos"/>
              </a:rPr>
              <a:t>0,313</a:t>
            </a:r>
          </a:p>
        </p:txBody>
      </p:sp>
      <p:sp>
        <p:nvSpPr>
          <p:cNvPr id="8" name="Rectangle 7">
            <a:extLst>
              <a:ext uri="{FF2B5EF4-FFF2-40B4-BE49-F238E27FC236}">
                <a16:creationId xmlns:a16="http://schemas.microsoft.com/office/drawing/2014/main" id="{616F55B0-34A5-46E6-A203-0A32FDC66E05}"/>
              </a:ext>
            </a:extLst>
          </p:cNvPr>
          <p:cNvSpPr>
            <a:spLocks noGrp="1"/>
          </p:cNvSpPr>
          <p:nvPr/>
        </p:nvSpPr>
        <p:spPr>
          <a:xfrm>
            <a:off x="485775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a:solidFill>
                  <a:srgbClr val="55707F"/>
                </a:solidFill>
                <a:latin typeface="Aptos"/>
                <a:ea typeface="Aptos"/>
                <a:cs typeface="Aptos"/>
              </a:rPr>
              <a:t>Coverage </a:t>
            </a:r>
            <a:r>
              <a:rPr sz="2000" b="0" dirty="0" err="1">
                <a:solidFill>
                  <a:srgbClr val="55707F"/>
                </a:solidFill>
                <a:latin typeface="Aptos"/>
                <a:ea typeface="Aptos"/>
                <a:cs typeface="Aptos"/>
              </a:rPr>
              <a:t>trung</a:t>
            </a:r>
            <a:r>
              <a:rPr sz="2000" b="0" dirty="0">
                <a:solidFill>
                  <a:srgbClr val="55707F"/>
                </a:solidFill>
                <a:latin typeface="Aptos"/>
                <a:ea typeface="Aptos"/>
                <a:cs typeface="Aptos"/>
              </a:rPr>
              <a:t> </a:t>
            </a:r>
            <a:r>
              <a:rPr sz="2000" b="0" dirty="0" err="1">
                <a:solidFill>
                  <a:srgbClr val="55707F"/>
                </a:solidFill>
                <a:latin typeface="Aptos"/>
                <a:ea typeface="Aptos"/>
                <a:cs typeface="Aptos"/>
              </a:rPr>
              <a:t>bình</a:t>
            </a:r>
            <a:endParaRPr sz="2000" b="0" dirty="0">
              <a:solidFill>
                <a:srgbClr val="55707F"/>
              </a:solidFill>
              <a:latin typeface="Aptos"/>
              <a:ea typeface="Aptos"/>
              <a:cs typeface="Aptos"/>
            </a:endParaRPr>
          </a:p>
        </p:txBody>
      </p:sp>
      <p:sp>
        <p:nvSpPr>
          <p:cNvPr id="9" name="Rectangle 8">
            <a:extLst>
              <a:ext uri="{FF2B5EF4-FFF2-40B4-BE49-F238E27FC236}">
                <a16:creationId xmlns:a16="http://schemas.microsoft.com/office/drawing/2014/main" id="{4E3030AD-E1E0-410D-A4EC-42F55325F755}"/>
              </a:ext>
            </a:extLst>
          </p:cNvPr>
          <p:cNvSpPr>
            <a:spLocks noGrp="1"/>
          </p:cNvSpPr>
          <p:nvPr/>
        </p:nvSpPr>
        <p:spPr>
          <a:xfrm>
            <a:off x="8286750" y="2095500"/>
            <a:ext cx="2476500" cy="1047750"/>
          </a:xfrm>
          <a:prstGeom prst="rect">
            <a:avLst/>
          </a:prstGeom>
          <a:noFill/>
          <a:ln w="0">
            <a:noFill/>
          </a:ln>
        </p:spPr>
        <p:txBody>
          <a:bodyPr anchor="ctr">
            <a:normAutofit/>
          </a:bodyPr>
          <a:lstStyle/>
          <a:p>
            <a:pPr algn="ctr">
              <a:defRPr sz="4050" b="1">
                <a:solidFill>
                  <a:srgbClr val="18A999"/>
                </a:solidFill>
                <a:latin typeface="Aptos"/>
                <a:ea typeface="Aptos"/>
                <a:cs typeface="Aptos"/>
              </a:defRPr>
            </a:pPr>
            <a:r>
              <a:rPr sz="4050" b="1">
                <a:solidFill>
                  <a:srgbClr val="18A999"/>
                </a:solidFill>
                <a:latin typeface="Aptos"/>
                <a:ea typeface="Aptos"/>
                <a:cs typeface="Aptos"/>
              </a:rPr>
              <a:t>0,875</a:t>
            </a:r>
          </a:p>
        </p:txBody>
      </p:sp>
      <p:sp>
        <p:nvSpPr>
          <p:cNvPr id="10" name="Rectangle 9">
            <a:extLst>
              <a:ext uri="{FF2B5EF4-FFF2-40B4-BE49-F238E27FC236}">
                <a16:creationId xmlns:a16="http://schemas.microsoft.com/office/drawing/2014/main" id="{675B7D0B-9C88-49B8-8B0C-9C778EBACFDD}"/>
              </a:ext>
            </a:extLst>
          </p:cNvPr>
          <p:cNvSpPr>
            <a:spLocks noGrp="1"/>
          </p:cNvSpPr>
          <p:nvPr/>
        </p:nvSpPr>
        <p:spPr>
          <a:xfrm>
            <a:off x="8286750" y="3105150"/>
            <a:ext cx="2476500" cy="762000"/>
          </a:xfrm>
          <a:prstGeom prst="rect">
            <a:avLst/>
          </a:prstGeom>
          <a:noFill/>
          <a:ln w="0">
            <a:noFill/>
          </a:ln>
        </p:spPr>
        <p:txBody>
          <a:bodyPr anchor="ctr">
            <a:normAutofit/>
          </a:bodyPr>
          <a:lstStyle/>
          <a:p>
            <a:pPr algn="ctr">
              <a:defRPr sz="1425" b="0">
                <a:solidFill>
                  <a:srgbClr val="55707F"/>
                </a:solidFill>
                <a:latin typeface="Aptos"/>
                <a:ea typeface="Aptos"/>
                <a:cs typeface="Aptos"/>
              </a:defRPr>
            </a:pPr>
            <a:r>
              <a:rPr sz="2000" b="0" dirty="0">
                <a:solidFill>
                  <a:srgbClr val="55707F"/>
                </a:solidFill>
                <a:latin typeface="Aptos"/>
                <a:ea typeface="Aptos"/>
                <a:cs typeface="Aptos"/>
              </a:rPr>
              <a:t>Pointing Game</a:t>
            </a:r>
          </a:p>
        </p:txBody>
      </p:sp>
      <p:sp>
        <p:nvSpPr>
          <p:cNvPr id="11" name="Rectangle 10">
            <a:extLst>
              <a:ext uri="{FF2B5EF4-FFF2-40B4-BE49-F238E27FC236}">
                <a16:creationId xmlns:a16="http://schemas.microsoft.com/office/drawing/2014/main" id="{47FACFF3-FA38-4026-9663-779BBFC69DDA}"/>
              </a:ext>
            </a:extLst>
          </p:cNvPr>
          <p:cNvSpPr>
            <a:spLocks noGrp="1"/>
          </p:cNvSpPr>
          <p:nvPr/>
        </p:nvSpPr>
        <p:spPr>
          <a:xfrm>
            <a:off x="1428750" y="4476750"/>
            <a:ext cx="9334500" cy="952500"/>
          </a:xfrm>
          <a:prstGeom prst="rect">
            <a:avLst/>
          </a:prstGeom>
          <a:noFill/>
          <a:ln w="0">
            <a:noFill/>
          </a:ln>
        </p:spPr>
        <p:txBody>
          <a:bodyPr anchor="ctr">
            <a:normAutofit/>
          </a:bodyPr>
          <a:lstStyle/>
          <a:p>
            <a:pPr algn="ctr">
              <a:defRPr sz="1725" b="0">
                <a:solidFill>
                  <a:srgbClr val="172B3A"/>
                </a:solidFill>
                <a:latin typeface="Aptos"/>
                <a:ea typeface="Aptos"/>
                <a:cs typeface="Aptos"/>
              </a:defRPr>
            </a:pPr>
            <a:r>
              <a:rPr sz="2000" b="0" dirty="0" err="1">
                <a:solidFill>
                  <a:srgbClr val="172B3A"/>
                </a:solidFill>
                <a:latin typeface="Aptos"/>
                <a:ea typeface="Aptos"/>
                <a:cs typeface="Aptos"/>
              </a:rPr>
              <a:t>Điểm</a:t>
            </a:r>
            <a:r>
              <a:rPr sz="2000" b="0" dirty="0">
                <a:solidFill>
                  <a:srgbClr val="172B3A"/>
                </a:solidFill>
                <a:latin typeface="Aptos"/>
                <a:ea typeface="Aptos"/>
                <a:cs typeface="Aptos"/>
              </a:rPr>
              <a:t> </a:t>
            </a:r>
            <a:r>
              <a:rPr sz="2000" b="0" dirty="0" err="1">
                <a:solidFill>
                  <a:srgbClr val="172B3A"/>
                </a:solidFill>
                <a:latin typeface="Aptos"/>
                <a:ea typeface="Aptos"/>
                <a:cs typeface="Aptos"/>
              </a:rPr>
              <a:t>có</a:t>
            </a:r>
            <a:r>
              <a:rPr sz="2000" b="0" dirty="0">
                <a:solidFill>
                  <a:srgbClr val="172B3A"/>
                </a:solidFill>
                <a:latin typeface="Aptos"/>
                <a:ea typeface="Aptos"/>
                <a:cs typeface="Aptos"/>
              </a:rPr>
              <a:t> anomaly score </a:t>
            </a:r>
            <a:r>
              <a:rPr sz="2000" b="0" dirty="0" err="1">
                <a:solidFill>
                  <a:srgbClr val="172B3A"/>
                </a:solidFill>
                <a:latin typeface="Aptos"/>
                <a:ea typeface="Aptos"/>
                <a:cs typeface="Aptos"/>
              </a:rPr>
              <a:t>cao</a:t>
            </a:r>
            <a:r>
              <a:rPr sz="2000" b="0" dirty="0">
                <a:solidFill>
                  <a:srgbClr val="172B3A"/>
                </a:solidFill>
                <a:latin typeface="Aptos"/>
                <a:ea typeface="Aptos"/>
                <a:cs typeface="Aptos"/>
              </a:rPr>
              <a:t> </a:t>
            </a:r>
            <a:r>
              <a:rPr sz="2000" b="0" dirty="0" err="1">
                <a:solidFill>
                  <a:srgbClr val="172B3A"/>
                </a:solidFill>
                <a:latin typeface="Aptos"/>
                <a:ea typeface="Aptos"/>
                <a:cs typeface="Aptos"/>
              </a:rPr>
              <a:t>nhất</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thường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nằm</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đúng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trong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vùng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lỗi</a:t>
            </a:r>
            <a:r>
              <a:rPr sz="2000" b="0" dirty="0">
                <a:solidFill>
                  <a:srgbClr val="172B3A"/>
                </a:solidFill>
                <a:latin typeface="Aptos"/>
                <a:ea typeface="Aptos"/>
                <a:cs typeface="Aptos"/>
              </a:rPr>
              <a:t>, </a:t>
            </a:r>
            <a:r>
              <a:rPr sz="2000" b="0" dirty="0" err="1">
                <a:solidFill>
                  <a:srgbClr val="172B3A"/>
                </a:solidFill>
                <a:latin typeface="Aptos"/>
                <a:ea typeface="Aptos"/>
                <a:cs typeface="Aptos"/>
              </a:rPr>
              <a:t>dù</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vùng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dự</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đoán</a:t>
            </a:r>
            <a:r>
              <a:rPr sz="2000" b="0" dirty="0">
                <a:solidFill>
                  <a:srgbClr val="172B3A"/>
                </a:solidFill>
                <a:latin typeface="Aptos"/>
                <a:ea typeface="Aptos"/>
                <a:cs typeface="Aptos"/>
              </a:rPr>
              <a:t> </a:t>
            </a:r>
            <a:r>
              <a:rPr sz="2000" b="0" dirty="0" err="1">
                <a:solidFill>
                  <a:srgbClr val="172B3A"/>
                </a:solidFill>
                <a:latin typeface="Aptos"/>
                <a:ea typeface="Aptos"/>
                <a:cs typeface="Aptos"/>
              </a:rPr>
              <a:t>chưa</a:t>
            </a:r>
            <a:r>
              <a:rPr sz="2000" b="0" dirty="0">
                <a:solidFill>
                  <a:srgbClr val="172B3A"/>
                </a:solidFill>
                <a:latin typeface="Aptos"/>
                <a:ea typeface="Aptos"/>
                <a:cs typeface="Aptos"/>
              </a:rPr>
              <a:t> </a:t>
            </a:r>
            <a:r>
              <a:rPr sz="2000" b="0" dirty="0" err="1">
                <a:solidFill>
                  <a:srgbClr val="172B3A"/>
                </a:solidFill>
                <a:latin typeface="Aptos"/>
                <a:ea typeface="Aptos"/>
                <a:cs typeface="Aptos"/>
              </a:rPr>
              <a:t>khớp</a:t>
            </a:r>
            <a:r>
              <a:rPr sz="2000" b="0" dirty="0">
                <a:solidFill>
                  <a:srgbClr val="172B3A"/>
                </a:solidFill>
                <a:latin typeface="Aptos"/>
                <a:ea typeface="Aptos"/>
                <a:cs typeface="Aptos"/>
              </a:rPr>
              <a:t> </a:t>
            </a:r>
            <a:r>
              <a:rPr sz="2000" b="0" dirty="0" err="1">
                <a:solidFill>
                  <a:srgbClr val="172B3A"/>
                </a:solidFill>
                <a:latin typeface="Aptos"/>
                <a:ea typeface="Aptos"/>
                <a:cs typeface="Aptos"/>
              </a:rPr>
              <a:t>chặt</a:t>
            </a:r>
            <a:r>
              <a:rPr sz="2000" b="0" dirty="0">
                <a:solidFill>
                  <a:srgbClr val="172B3A"/>
                </a:solidFill>
                <a:latin typeface="Aptos"/>
                <a:ea typeface="Aptos"/>
                <a:cs typeface="Aptos"/>
              </a:rPr>
              <a:t> </a:t>
            </a:r>
            <a:r>
              <a:rPr sz="2000" b="0" dirty="0" err="1">
                <a:solidFill>
                  <a:srgbClr val="172B3A"/>
                </a:solidFill>
                <a:latin typeface="Aptos"/>
                <a:ea typeface="Aptos"/>
                <a:cs typeface="Aptos"/>
              </a:rPr>
              <a:t>với</a:t>
            </a:r>
            <a:r>
              <a:rPr sz="2000" b="0" dirty="0">
                <a:solidFill>
                  <a:srgbClr val="172B3A"/>
                </a:solidFill>
                <a:latin typeface="Aptos"/>
                <a:ea typeface="Aptos"/>
                <a:cs typeface="Aptos"/>
              </a:rPr>
              <a:t> </a:t>
            </a:r>
            <a:r>
              <a:rPr sz="2000" b="0" dirty="0" err="1">
                <a:solidFill>
                  <a:srgbClr val="172B3A"/>
                </a:solidFill>
                <a:latin typeface="Aptos"/>
                <a:ea typeface="Aptos"/>
                <a:cs typeface="Aptos"/>
              </a:rPr>
              <a:t>biên</a:t>
            </a:r>
            <a:r>
              <a:rPr sz="2000" b="0" dirty="0">
                <a:solidFill>
                  <a:srgbClr val="172B3A"/>
                </a:solidFill>
                <a:latin typeface="Aptos"/>
                <a:ea typeface="Aptos"/>
                <a:cs typeface="Aptos"/>
              </a:rPr>
              <a:t> </a:t>
            </a:r>
            <a:r>
              <a:rPr sz="2000" b="0" dirty="0" err="1">
                <a:solidFill>
                  <a:srgbClr val="172B3A"/>
                </a:solidFill>
                <a:latin typeface="Aptos"/>
                <a:ea typeface="Aptos"/>
                <a:cs typeface="Aptos"/>
              </a:rPr>
              <a:t>chú</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thích</a:t>
            </a:r>
            <a:r>
              <a:rPr sz="2000" b="0" dirty="0">
                <a:solidFill>
                  <a:srgbClr val="172B3A"/>
                </a:solidFill>
                <a:latin typeface="Aptos"/>
                <a:ea typeface="Aptos"/>
                <a:cs typeface="Aptos"/>
              </a:rPr>
              <a:t>.</a:t>
            </a:r>
          </a:p>
        </p:txBody>
      </p:sp>
      <p:pic>
        <p:nvPicPr>
          <p:cNvPr id="13" name="Picture 12"/>
          <p:cNvPicPr>
            <a:picLocks noChangeAspect="1"/>
          </p:cNvPicPr>
          <p:nvPr/>
        </p:nvPicPr>
        <p:blipFill>
          <a:blip r:embed="rId3"/>
          <a:stretch>
            <a:fillRect/>
          </a:stretch>
        </p:blipFill>
        <p:spPr>
          <a:xfrm>
            <a:off x="628650" y="451349"/>
            <a:ext cx="895350" cy="771525"/>
          </a:xfrm>
          <a:prstGeom prst="rect">
            <a:avLst/>
          </a:prstGeom>
        </p:spPr>
      </p:pic>
    </p:spTree>
    <p:extLst>
      <p:ext uri="{BB962C8B-B14F-4D97-AF65-F5344CB8AC3E}">
        <p14:creationId xmlns:p14="http://schemas.microsoft.com/office/powerpoint/2010/main" val="1297027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F620116-47E9-419A-90FC-23A728EA58D2}"/>
              </a:ext>
            </a:extLst>
          </p:cNvPr>
          <p:cNvSpPr>
            <a:spLocks noGrp="1"/>
          </p:cNvSpPr>
          <p:nvPr/>
        </p:nvSpPr>
        <p:spPr>
          <a:xfrm>
            <a:off x="0" y="0"/>
            <a:ext cx="12192000" cy="133350"/>
          </a:xfrm>
          <a:prstGeom prst="rect">
            <a:avLst/>
          </a:prstGeom>
          <a:solidFill>
            <a:srgbClr val="18A999"/>
          </a:solidFill>
          <a:ln w="0">
            <a:noFill/>
          </a:ln>
        </p:spPr>
      </p:sp>
      <p:sp>
        <p:nvSpPr>
          <p:cNvPr id="2" name="Rectangle 1">
            <a:extLst>
              <a:ext uri="{FF2B5EF4-FFF2-40B4-BE49-F238E27FC236}">
                <a16:creationId xmlns:a16="http://schemas.microsoft.com/office/drawing/2014/main" id="{D6A096E4-D51C-46D0-A2F4-CC6985F456DC}"/>
              </a:ext>
            </a:extLst>
          </p:cNvPr>
          <p:cNvSpPr>
            <a:spLocks noGrp="1"/>
          </p:cNvSpPr>
          <p:nvPr/>
        </p:nvSpPr>
        <p:spPr>
          <a:xfrm>
            <a:off x="1539240" y="361950"/>
            <a:ext cx="9738360" cy="552450"/>
          </a:xfrm>
          <a:prstGeom prst="rect">
            <a:avLst/>
          </a:prstGeom>
          <a:noFill/>
          <a:ln w="0">
            <a:noFill/>
          </a:ln>
        </p:spPr>
        <p:txBody>
          <a:bodyPr anchor="ctr">
            <a:normAutofit/>
          </a:bodyPr>
          <a:lstStyle/>
          <a:p>
            <a:pPr algn="l">
              <a:defRPr sz="2550" b="1">
                <a:solidFill>
                  <a:srgbClr val="0B1F33"/>
                </a:solidFill>
                <a:latin typeface="Aptos"/>
                <a:ea typeface="Aptos"/>
                <a:cs typeface="Aptos"/>
              </a:defRPr>
            </a:pPr>
            <a:r>
              <a:rPr sz="2550" b="1" dirty="0" err="1">
                <a:solidFill>
                  <a:srgbClr val="0B1F33"/>
                </a:solidFill>
                <a:latin typeface="Aptos"/>
                <a:ea typeface="Aptos"/>
                <a:cs typeface="Aptos"/>
              </a:rPr>
              <a:t>Kết</a:t>
            </a:r>
            <a:r>
              <a:rPr sz="2550" b="1" dirty="0">
                <a:solidFill>
                  <a:srgbClr val="0B1F33"/>
                </a:solidFill>
                <a:latin typeface="Aptos"/>
                <a:ea typeface="Aptos"/>
                <a:cs typeface="Aptos"/>
              </a:rPr>
              <a:t> </a:t>
            </a:r>
            <a:r>
              <a:rPr sz="2550" b="1" dirty="0" err="1">
                <a:solidFill>
                  <a:srgbClr val="0B1F33"/>
                </a:solidFill>
                <a:latin typeface="Aptos"/>
                <a:ea typeface="Aptos"/>
                <a:cs typeface="Aptos"/>
              </a:rPr>
              <a:t>luận</a:t>
            </a:r>
            <a:r>
              <a:rPr sz="2550" b="1" dirty="0">
                <a:solidFill>
                  <a:srgbClr val="0B1F33"/>
                </a:solidFill>
                <a:latin typeface="Aptos"/>
                <a:ea typeface="Aptos"/>
                <a:cs typeface="Aptos"/>
              </a:rPr>
              <a:t> </a:t>
            </a:r>
            <a:r>
              <a:rPr sz="2550" b="1" dirty="0" err="1">
                <a:solidFill>
                  <a:srgbClr val="0B1F33"/>
                </a:solidFill>
                <a:latin typeface="Aptos"/>
                <a:ea typeface="Aptos"/>
                <a:cs typeface="Aptos"/>
              </a:rPr>
              <a:t>và</a:t>
            </a:r>
            <a:r>
              <a:rPr sz="2550" b="1" dirty="0">
                <a:solidFill>
                  <a:srgbClr val="0B1F33"/>
                </a:solidFill>
                <a:latin typeface="Aptos"/>
                <a:ea typeface="Aptos"/>
                <a:cs typeface="Aptos"/>
              </a:rPr>
              <a:t> </a:t>
            </a:r>
            <a:r>
              <a:rPr sz="2550" b="1" dirty="0" err="1">
                <a:solidFill>
                  <a:srgbClr val="0B1F33"/>
                </a:solidFill>
                <a:latin typeface="Aptos"/>
                <a:ea typeface="Aptos"/>
                <a:cs typeface="Aptos"/>
              </a:rPr>
              <a:t>hướng</a:t>
            </a:r>
            <a:r>
              <a:rPr sz="2550" b="1" dirty="0">
                <a:solidFill>
                  <a:srgbClr val="0B1F33"/>
                </a:solidFill>
                <a:latin typeface="Aptos"/>
                <a:ea typeface="Aptos"/>
                <a:cs typeface="Aptos"/>
              </a:rPr>
              <a:t> </a:t>
            </a:r>
            <a:r>
              <a:rPr sz="2550" b="1" dirty="0" err="1">
                <a:solidFill>
                  <a:srgbClr val="0B1F33"/>
                </a:solidFill>
                <a:latin typeface="Aptos"/>
                <a:ea typeface="Aptos"/>
                <a:cs typeface="Aptos"/>
              </a:rPr>
              <a:t>phát</a:t>
            </a:r>
            <a:r>
              <a:rPr sz="2550" b="1" dirty="0">
                <a:solidFill>
                  <a:srgbClr val="0B1F33"/>
                </a:solidFill>
                <a:latin typeface="Aptos"/>
                <a:ea typeface="Aptos"/>
                <a:cs typeface="Aptos"/>
              </a:rPr>
              <a:t> </a:t>
            </a:r>
            <a:r>
              <a:rPr sz="2550" b="1" dirty="0" err="1">
                <a:solidFill>
                  <a:srgbClr val="0B1F33"/>
                </a:solidFill>
                <a:latin typeface="Aptos"/>
                <a:ea typeface="Aptos"/>
                <a:cs typeface="Aptos"/>
              </a:rPr>
              <a:t>triển</a:t>
            </a:r>
            <a:endParaRPr sz="2550" b="1" dirty="0">
              <a:solidFill>
                <a:srgbClr val="0B1F33"/>
              </a:solidFill>
              <a:latin typeface="Aptos"/>
              <a:ea typeface="Aptos"/>
              <a:cs typeface="Aptos"/>
            </a:endParaRPr>
          </a:p>
        </p:txBody>
      </p:sp>
      <p:sp>
        <p:nvSpPr>
          <p:cNvPr id="3" name="Rectangle 2">
            <a:extLst>
              <a:ext uri="{FF2B5EF4-FFF2-40B4-BE49-F238E27FC236}">
                <a16:creationId xmlns:a16="http://schemas.microsoft.com/office/drawing/2014/main" id="{B07D7758-BE4C-4103-BBFB-0E8296D2FB92}"/>
              </a:ext>
            </a:extLst>
          </p:cNvPr>
          <p:cNvSpPr>
            <a:spLocks noGrp="1"/>
          </p:cNvSpPr>
          <p:nvPr/>
        </p:nvSpPr>
        <p:spPr>
          <a:xfrm>
            <a:off x="11334750" y="6286500"/>
            <a:ext cx="438150" cy="228600"/>
          </a:xfrm>
          <a:prstGeom prst="rect">
            <a:avLst/>
          </a:prstGeom>
          <a:noFill/>
          <a:ln w="0">
            <a:noFill/>
          </a:ln>
        </p:spPr>
        <p:txBody>
          <a:bodyPr anchor="ctr">
            <a:normAutofit fontScale="93214" lnSpcReduction="10000"/>
          </a:bodyPr>
          <a:lstStyle/>
          <a:p>
            <a:pPr algn="r">
              <a:defRPr sz="1050" b="0">
                <a:solidFill>
                  <a:srgbClr val="55707F"/>
                </a:solidFill>
                <a:latin typeface="Aptos"/>
                <a:ea typeface="Aptos"/>
                <a:cs typeface="Aptos"/>
              </a:defRPr>
            </a:pPr>
            <a:r>
              <a:rPr sz="1050" b="0">
                <a:solidFill>
                  <a:srgbClr val="55707F"/>
                </a:solidFill>
                <a:latin typeface="Aptos"/>
                <a:ea typeface="Aptos"/>
                <a:cs typeface="Aptos"/>
              </a:rPr>
              <a:t>12</a:t>
            </a:r>
          </a:p>
        </p:txBody>
      </p:sp>
      <p:sp>
        <p:nvSpPr>
          <p:cNvPr id="4" name="Rectangle 3">
            <a:extLst>
              <a:ext uri="{FF2B5EF4-FFF2-40B4-BE49-F238E27FC236}">
                <a16:creationId xmlns:a16="http://schemas.microsoft.com/office/drawing/2014/main" id="{D75D9341-212D-4EC4-A9AF-29BFDAD9A3C8}"/>
              </a:ext>
            </a:extLst>
          </p:cNvPr>
          <p:cNvSpPr>
            <a:spLocks noGrp="1"/>
          </p:cNvSpPr>
          <p:nvPr/>
        </p:nvSpPr>
        <p:spPr>
          <a:xfrm>
            <a:off x="762000" y="1666875"/>
            <a:ext cx="2381250" cy="419100"/>
          </a:xfrm>
          <a:prstGeom prst="rect">
            <a:avLst/>
          </a:prstGeom>
          <a:noFill/>
          <a:ln w="0">
            <a:noFill/>
          </a:ln>
        </p:spPr>
        <p:txBody>
          <a:bodyPr anchor="ctr">
            <a:noAutofit/>
          </a:bodyPr>
          <a:lstStyle/>
          <a:p>
            <a:pPr algn="l">
              <a:defRPr sz="2025" b="1">
                <a:solidFill>
                  <a:srgbClr val="18A999"/>
                </a:solidFill>
                <a:latin typeface="Aptos"/>
                <a:ea typeface="Aptos"/>
                <a:cs typeface="Aptos"/>
              </a:defRPr>
            </a:pPr>
            <a:r>
              <a:rPr sz="2400" b="1" dirty="0" err="1">
                <a:solidFill>
                  <a:srgbClr val="18A999"/>
                </a:solidFill>
                <a:latin typeface="Aptos"/>
                <a:ea typeface="Aptos"/>
                <a:cs typeface="Aptos"/>
              </a:rPr>
              <a:t>Kết</a:t>
            </a:r>
            <a:r>
              <a:rPr sz="2400" b="1" dirty="0">
                <a:solidFill>
                  <a:srgbClr val="18A999"/>
                </a:solidFill>
                <a:latin typeface="Aptos"/>
                <a:ea typeface="Aptos"/>
                <a:cs typeface="Aptos"/>
              </a:rPr>
              <a:t> </a:t>
            </a:r>
            <a:r>
              <a:rPr sz="2400" b="1" dirty="0" err="1">
                <a:solidFill>
                  <a:srgbClr val="18A999"/>
                </a:solidFill>
                <a:latin typeface="Aptos"/>
                <a:ea typeface="Aptos"/>
                <a:cs typeface="Aptos"/>
              </a:rPr>
              <a:t>luận</a:t>
            </a:r>
            <a:endParaRPr sz="2400" b="1" dirty="0">
              <a:solidFill>
                <a:srgbClr val="18A999"/>
              </a:solidFill>
              <a:latin typeface="Aptos"/>
              <a:ea typeface="Aptos"/>
              <a:cs typeface="Aptos"/>
            </a:endParaRPr>
          </a:p>
        </p:txBody>
      </p:sp>
      <p:sp>
        <p:nvSpPr>
          <p:cNvPr id="5" name="Rectangle 4">
            <a:extLst>
              <a:ext uri="{FF2B5EF4-FFF2-40B4-BE49-F238E27FC236}">
                <a16:creationId xmlns:a16="http://schemas.microsoft.com/office/drawing/2014/main" id="{608970F8-6711-4767-BCF3-34625503DF67}"/>
              </a:ext>
            </a:extLst>
          </p:cNvPr>
          <p:cNvSpPr>
            <a:spLocks noGrp="1"/>
          </p:cNvSpPr>
          <p:nvPr/>
        </p:nvSpPr>
        <p:spPr>
          <a:xfrm>
            <a:off x="762000" y="2171700"/>
            <a:ext cx="10287000" cy="1428750"/>
          </a:xfrm>
          <a:prstGeom prst="rect">
            <a:avLst/>
          </a:prstGeom>
          <a:noFill/>
          <a:ln w="0">
            <a:noFill/>
          </a:ln>
        </p:spPr>
        <p:txBody>
          <a:bodyPr anchor="ctr">
            <a:normAutofit/>
          </a:bodyPr>
          <a:lstStyle/>
          <a:p>
            <a:pPr algn="l">
              <a:defRPr sz="1725" b="0">
                <a:solidFill>
                  <a:srgbClr val="172B3A"/>
                </a:solidFill>
                <a:latin typeface="Aptos"/>
                <a:ea typeface="Aptos"/>
                <a:cs typeface="Aptos"/>
              </a:defRPr>
            </a:pPr>
            <a:r>
              <a:rPr sz="2000" b="0" dirty="0" err="1">
                <a:solidFill>
                  <a:srgbClr val="172B3A"/>
                </a:solidFill>
                <a:latin typeface="Aptos"/>
                <a:ea typeface="Aptos"/>
                <a:cs typeface="Aptos"/>
              </a:rPr>
              <a:t>PatchCore</a:t>
            </a:r>
            <a:r>
              <a:rPr sz="2000" b="0" dirty="0">
                <a:solidFill>
                  <a:srgbClr val="172B3A"/>
                </a:solidFill>
                <a:latin typeface="Aptos"/>
                <a:ea typeface="Aptos"/>
                <a:cs typeface="Aptos"/>
              </a:rPr>
              <a:t> </a:t>
            </a:r>
            <a:r>
              <a:rPr sz="2000" b="0" dirty="0" err="1">
                <a:solidFill>
                  <a:srgbClr val="172B3A"/>
                </a:solidFill>
                <a:latin typeface="Aptos"/>
                <a:ea typeface="Aptos"/>
                <a:cs typeface="Aptos"/>
              </a:rPr>
              <a:t>là</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lựa</a:t>
            </a:r>
            <a:r>
              <a:rPr sz="2000" b="0" dirty="0">
                <a:solidFill>
                  <a:srgbClr val="172B3A"/>
                </a:solidFill>
                <a:latin typeface="Aptos"/>
                <a:ea typeface="Aptos"/>
                <a:cs typeface="Aptos"/>
              </a:rPr>
              <a:t> </a:t>
            </a:r>
            <a:r>
              <a:rPr sz="2000" b="0" dirty="0" err="1">
                <a:solidFill>
                  <a:srgbClr val="172B3A"/>
                </a:solidFill>
                <a:latin typeface="Aptos"/>
                <a:ea typeface="Aptos"/>
                <a:cs typeface="Aptos"/>
              </a:rPr>
              <a:t>chọn</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thực</a:t>
            </a:r>
            <a:r>
              <a:rPr sz="2000" b="0" dirty="0">
                <a:solidFill>
                  <a:srgbClr val="172B3A"/>
                </a:solidFill>
                <a:latin typeface="Aptos"/>
                <a:ea typeface="Aptos"/>
                <a:cs typeface="Aptos"/>
              </a:rPr>
              <a:t> </a:t>
            </a:r>
            <a:r>
              <a:rPr sz="2000" b="0" dirty="0" err="1">
                <a:solidFill>
                  <a:srgbClr val="172B3A"/>
                </a:solidFill>
                <a:latin typeface="Aptos"/>
                <a:ea typeface="Aptos"/>
                <a:cs typeface="Aptos"/>
              </a:rPr>
              <a:t>tế</a:t>
            </a:r>
            <a:r>
              <a:rPr sz="2000" b="0" dirty="0">
                <a:solidFill>
                  <a:srgbClr val="172B3A"/>
                </a:solidFill>
                <a:latin typeface="Aptos"/>
                <a:ea typeface="Aptos"/>
                <a:cs typeface="Aptos"/>
              </a:rPr>
              <a:t> </a:t>
            </a:r>
            <a:r>
              <a:rPr sz="2000" b="0" dirty="0" err="1">
                <a:solidFill>
                  <a:srgbClr val="172B3A"/>
                </a:solidFill>
                <a:latin typeface="Aptos"/>
                <a:ea typeface="Aptos"/>
                <a:cs typeface="Aptos"/>
              </a:rPr>
              <a:t>khi</a:t>
            </a:r>
            <a:r>
              <a:rPr sz="2000" b="0" dirty="0">
                <a:solidFill>
                  <a:srgbClr val="172B3A"/>
                </a:solidFill>
                <a:latin typeface="Aptos"/>
                <a:ea typeface="Aptos"/>
                <a:cs typeface="Aptos"/>
              </a:rPr>
              <a:t> </a:t>
            </a:r>
            <a:r>
              <a:rPr sz="2000" b="0" dirty="0" err="1">
                <a:solidFill>
                  <a:srgbClr val="172B3A"/>
                </a:solidFill>
                <a:latin typeface="Aptos"/>
                <a:ea typeface="Aptos"/>
                <a:cs typeface="Aptos"/>
              </a:rPr>
              <a:t>dữ</a:t>
            </a:r>
            <a:r>
              <a:rPr sz="2000" b="0" dirty="0">
                <a:solidFill>
                  <a:srgbClr val="172B3A"/>
                </a:solidFill>
                <a:latin typeface="Aptos"/>
                <a:ea typeface="Aptos"/>
                <a:cs typeface="Aptos"/>
              </a:rPr>
              <a:t> </a:t>
            </a:r>
            <a:r>
              <a:rPr sz="2000" b="0" dirty="0" err="1">
                <a:solidFill>
                  <a:srgbClr val="172B3A"/>
                </a:solidFill>
                <a:latin typeface="Aptos"/>
                <a:ea typeface="Aptos"/>
                <a:cs typeface="Aptos"/>
              </a:rPr>
              <a:t>liệu</a:t>
            </a:r>
            <a:r>
              <a:rPr sz="2000" b="0" dirty="0">
                <a:solidFill>
                  <a:srgbClr val="172B3A"/>
                </a:solidFill>
                <a:latin typeface="Aptos"/>
                <a:ea typeface="Aptos"/>
                <a:cs typeface="Aptos"/>
              </a:rPr>
              <a:t> </a:t>
            </a:r>
            <a:r>
              <a:rPr sz="2000" b="0" dirty="0" err="1">
                <a:solidFill>
                  <a:srgbClr val="172B3A"/>
                </a:solidFill>
                <a:latin typeface="Aptos"/>
                <a:ea typeface="Aptos"/>
                <a:cs typeface="Aptos"/>
              </a:rPr>
              <a:t>rất</a:t>
            </a:r>
            <a:r>
              <a:rPr sz="2000" b="0" dirty="0">
                <a:solidFill>
                  <a:srgbClr val="172B3A"/>
                </a:solidFill>
                <a:latin typeface="Aptos"/>
                <a:ea typeface="Aptos"/>
                <a:cs typeface="Aptos"/>
              </a:rPr>
              <a:t> </a:t>
            </a:r>
            <a:r>
              <a:rPr sz="2000" b="0" dirty="0" err="1">
                <a:solidFill>
                  <a:srgbClr val="172B3A"/>
                </a:solidFill>
                <a:latin typeface="Aptos"/>
                <a:ea typeface="Aptos"/>
                <a:cs typeface="Aptos"/>
              </a:rPr>
              <a:t>ít</a:t>
            </a:r>
            <a:endParaRPr sz="2000" b="0" dirty="0">
              <a:solidFill>
                <a:srgbClr val="172B3A"/>
              </a:solidFill>
              <a:latin typeface="Aptos"/>
              <a:ea typeface="Aptos"/>
              <a:cs typeface="Aptos"/>
            </a:endParaRPr>
          </a:p>
          <a:p>
            <a:pPr algn="l">
              <a:defRPr sz="1725" b="0">
                <a:solidFill>
                  <a:srgbClr val="172B3A"/>
                </a:solidFill>
                <a:latin typeface="Aptos"/>
                <a:ea typeface="Aptos"/>
                <a:cs typeface="Aptos"/>
              </a:defRPr>
            </a:pPr>
            <a:r>
              <a:rPr sz="2000" b="0" dirty="0" err="1">
                <a:solidFill>
                  <a:srgbClr val="172B3A"/>
                </a:solidFill>
                <a:latin typeface="Aptos"/>
                <a:ea typeface="Aptos"/>
                <a:cs typeface="Aptos"/>
              </a:rPr>
              <a:t>Cấu</a:t>
            </a:r>
            <a:r>
              <a:rPr sz="2000" b="0" dirty="0">
                <a:solidFill>
                  <a:srgbClr val="172B3A"/>
                </a:solidFill>
                <a:latin typeface="Aptos"/>
                <a:ea typeface="Aptos"/>
                <a:cs typeface="Aptos"/>
              </a:rPr>
              <a:t> </a:t>
            </a:r>
            <a:r>
              <a:rPr sz="2000" b="0" dirty="0" err="1">
                <a:solidFill>
                  <a:srgbClr val="172B3A"/>
                </a:solidFill>
                <a:latin typeface="Aptos"/>
                <a:ea typeface="Aptos"/>
                <a:cs typeface="Aptos"/>
              </a:rPr>
              <a:t>hình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cuối</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đạt</a:t>
            </a:r>
            <a:r>
              <a:rPr sz="2000" b="0" dirty="0">
                <a:solidFill>
                  <a:srgbClr val="172B3A"/>
                </a:solidFill>
                <a:latin typeface="Aptos"/>
                <a:ea typeface="Aptos"/>
                <a:cs typeface="Aptos"/>
              </a:rPr>
              <a:t> AUROC 0,996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a:t>
            </a:r>
            <a:r>
              <a:rPr sz="2000" b="0" dirty="0" err="1">
                <a:solidFill>
                  <a:srgbClr val="172B3A"/>
                </a:solidFill>
                <a:latin typeface="Aptos"/>
                <a:ea typeface="Aptos"/>
                <a:cs typeface="Aptos"/>
              </a:rPr>
              <a:t>ổn</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định</a:t>
            </a:r>
            <a:r>
              <a:rPr sz="2000" b="0" dirty="0">
                <a:solidFill>
                  <a:srgbClr val="172B3A"/>
                </a:solidFill>
                <a:latin typeface="Aptos"/>
                <a:ea typeface="Aptos"/>
                <a:cs typeface="Aptos"/>
              </a:rPr>
              <a:t> qua 5 seeds</a:t>
            </a:r>
          </a:p>
          <a:p>
            <a:pPr algn="l">
              <a:defRPr sz="1725" b="0">
                <a:solidFill>
                  <a:srgbClr val="172B3A"/>
                </a:solidFill>
                <a:latin typeface="Aptos"/>
                <a:ea typeface="Aptos"/>
                <a:cs typeface="Aptos"/>
              </a:defRPr>
            </a:pPr>
            <a:r>
              <a:rPr sz="2000" b="0" dirty="0" err="1">
                <a:solidFill>
                  <a:srgbClr val="172B3A"/>
                </a:solidFill>
                <a:latin typeface="Aptos"/>
                <a:ea typeface="Aptos"/>
                <a:cs typeface="Aptos"/>
              </a:rPr>
              <a:t>Kiểm</a:t>
            </a:r>
            <a:r>
              <a:rPr sz="2000" b="0" dirty="0">
                <a:solidFill>
                  <a:srgbClr val="172B3A"/>
                </a:solidFill>
                <a:latin typeface="Aptos"/>
                <a:ea typeface="Aptos"/>
                <a:cs typeface="Aptos"/>
              </a:rPr>
              <a:t> </a:t>
            </a:r>
            <a:r>
              <a:rPr sz="2000" b="0" dirty="0" err="1">
                <a:solidFill>
                  <a:srgbClr val="172B3A"/>
                </a:solidFill>
                <a:latin typeface="Aptos"/>
                <a:ea typeface="Aptos"/>
                <a:cs typeface="Aptos"/>
              </a:rPr>
              <a:t>tra</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định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lượng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toàn</a:t>
            </a:r>
            <a:r>
              <a:rPr sz="2000" b="0" dirty="0">
                <a:solidFill>
                  <a:srgbClr val="172B3A"/>
                </a:solidFill>
                <a:latin typeface="Aptos"/>
                <a:ea typeface="Aptos"/>
                <a:cs typeface="Aptos"/>
              </a:rPr>
              <a:t> </a:t>
            </a:r>
            <a:r>
              <a:rPr sz="2000" b="0" dirty="0" err="1">
                <a:solidFill>
                  <a:srgbClr val="172B3A"/>
                </a:solidFill>
                <a:latin typeface="Aptos"/>
                <a:ea typeface="Aptos"/>
                <a:cs typeface="Aptos"/>
              </a:rPr>
              <a:t>bộ</a:t>
            </a:r>
            <a:r>
              <a:rPr sz="2000" b="0" dirty="0">
                <a:solidFill>
                  <a:srgbClr val="172B3A"/>
                </a:solidFill>
                <a:latin typeface="Aptos"/>
                <a:ea typeface="Aptos"/>
                <a:cs typeface="Aptos"/>
              </a:rPr>
              <a:t> </a:t>
            </a:r>
            <a:r>
              <a:rPr lang="en-US" sz="2000" b="0" dirty="0" err="1">
                <a:solidFill>
                  <a:srgbClr val="172B3A"/>
                </a:solidFill>
                <a:latin typeface="Aptos"/>
                <a:ea typeface="Aptos"/>
                <a:cs typeface="Aptos"/>
              </a:rPr>
              <a:t>mẫu</a:t>
            </a:r>
            <a:r>
              <a:rPr lang="en-US" sz="2000" b="0" dirty="0">
                <a:solidFill>
                  <a:srgbClr val="172B3A"/>
                </a:solidFill>
                <a:latin typeface="Aptos"/>
                <a:ea typeface="Aptos"/>
                <a:cs typeface="Aptos"/>
              </a:rPr>
              <a:t> </a:t>
            </a:r>
            <a:r>
              <a:rPr lang="en-US" sz="2000" b="0" dirty="0" err="1">
                <a:solidFill>
                  <a:srgbClr val="172B3A"/>
                </a:solidFill>
                <a:latin typeface="Aptos"/>
                <a:ea typeface="Aptos"/>
                <a:cs typeface="Aptos"/>
              </a:rPr>
              <a:t>sản</a:t>
            </a:r>
            <a:r>
              <a:rPr lang="en-US" sz="2000" b="0" dirty="0">
                <a:solidFill>
                  <a:srgbClr val="172B3A"/>
                </a:solidFill>
                <a:latin typeface="Aptos"/>
                <a:ea typeface="Aptos"/>
                <a:cs typeface="Aptos"/>
              </a:rPr>
              <a:t> </a:t>
            </a:r>
            <a:r>
              <a:rPr lang="en-US" sz="2000" b="0" dirty="0" err="1">
                <a:solidFill>
                  <a:srgbClr val="172B3A"/>
                </a:solidFill>
                <a:latin typeface="Aptos"/>
                <a:ea typeface="Aptos"/>
                <a:cs typeface="Aptos"/>
              </a:rPr>
              <a:t>phẩm</a:t>
            </a:r>
            <a:r>
              <a:rPr sz="2000" b="0" dirty="0">
                <a:solidFill>
                  <a:srgbClr val="172B3A"/>
                </a:solidFill>
                <a:latin typeface="Aptos"/>
                <a:ea typeface="Aptos"/>
                <a:cs typeface="Aptos"/>
              </a:rPr>
              <a:t> </a:t>
            </a:r>
            <a:r>
              <a:rPr sz="2000" b="0" dirty="0" err="1">
                <a:solidFill>
                  <a:srgbClr val="172B3A"/>
                </a:solidFill>
                <a:latin typeface="Aptos"/>
                <a:ea typeface="Aptos"/>
                <a:cs typeface="Aptos"/>
              </a:rPr>
              <a:t>giúp</a:t>
            </a:r>
            <a:r>
              <a:rPr sz="2000" b="0" dirty="0">
                <a:solidFill>
                  <a:srgbClr val="172B3A"/>
                </a:solidFill>
                <a:latin typeface="Aptos"/>
                <a:ea typeface="Aptos"/>
                <a:cs typeface="Aptos"/>
              </a:rPr>
              <a:t> </a:t>
            </a:r>
            <a:r>
              <a:rPr sz="2000" b="0" dirty="0" err="1">
                <a:solidFill>
                  <a:srgbClr val="172B3A"/>
                </a:solidFill>
                <a:latin typeface="Aptos"/>
                <a:ea typeface="Aptos"/>
                <a:cs typeface="Aptos"/>
              </a:rPr>
              <a:t>phát</a:t>
            </a:r>
            <a:r>
              <a:rPr sz="2000" b="0" dirty="0">
                <a:solidFill>
                  <a:srgbClr val="172B3A"/>
                </a:solidFill>
                <a:latin typeface="Aptos"/>
                <a:ea typeface="Aptos"/>
                <a:cs typeface="Aptos"/>
              </a:rPr>
              <a:t> </a:t>
            </a:r>
            <a:r>
              <a:rPr sz="2000" b="0" dirty="0" err="1">
                <a:solidFill>
                  <a:srgbClr val="172B3A"/>
                </a:solidFill>
                <a:latin typeface="Aptos"/>
                <a:ea typeface="Aptos"/>
                <a:cs typeface="Aptos"/>
              </a:rPr>
              <a:t>hiện</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lỗi</a:t>
            </a:r>
            <a:r>
              <a:rPr sz="2000" b="0" dirty="0">
                <a:solidFill>
                  <a:srgbClr val="172B3A"/>
                </a:solidFill>
                <a:latin typeface="Aptos"/>
                <a:ea typeface="Aptos"/>
                <a:cs typeface="Aptos"/>
              </a:rPr>
              <a:t> </a:t>
            </a:r>
            <a:r>
              <a:rPr sz="2000" b="0" dirty="0" err="1">
                <a:solidFill>
                  <a:srgbClr val="172B3A"/>
                </a:solidFill>
                <a:latin typeface="Aptos"/>
                <a:ea typeface="Aptos"/>
                <a:cs typeface="Aptos"/>
              </a:rPr>
              <a:t>tiền</a:t>
            </a:r>
            <a:r>
              <a:rPr sz="2000" b="0" dirty="0">
                <a:solidFill>
                  <a:srgbClr val="172B3A"/>
                </a:solidFill>
                <a:latin typeface="Aptos"/>
                <a:ea typeface="Aptos"/>
                <a:cs typeface="Aptos"/>
              </a:rPr>
              <a:t> </a:t>
            </a:r>
            <a:r>
              <a:rPr sz="2000" b="0" dirty="0" err="1">
                <a:solidFill>
                  <a:srgbClr val="172B3A"/>
                </a:solidFill>
                <a:latin typeface="Aptos"/>
                <a:ea typeface="Aptos"/>
                <a:cs typeface="Aptos"/>
              </a:rPr>
              <a:t>xử</a:t>
            </a:r>
            <a:r>
              <a:rPr sz="2000" b="0" dirty="0">
                <a:solidFill>
                  <a:srgbClr val="172B3A"/>
                </a:solidFill>
                <a:latin typeface="Aptos"/>
                <a:ea typeface="Aptos"/>
                <a:cs typeface="Aptos"/>
              </a:rPr>
              <a:t> </a:t>
            </a:r>
            <a:r>
              <a:rPr sz="2000" b="0" dirty="0" err="1">
                <a:solidFill>
                  <a:srgbClr val="172B3A"/>
                </a:solidFill>
                <a:latin typeface="Aptos"/>
                <a:ea typeface="Aptos"/>
                <a:cs typeface="Aptos"/>
              </a:rPr>
              <a:t>lý</a:t>
            </a:r>
            <a:endParaRPr sz="2000" b="0" dirty="0">
              <a:solidFill>
                <a:srgbClr val="172B3A"/>
              </a:solidFill>
              <a:latin typeface="Aptos"/>
              <a:ea typeface="Aptos"/>
              <a:cs typeface="Aptos"/>
            </a:endParaRPr>
          </a:p>
        </p:txBody>
      </p:sp>
      <p:sp>
        <p:nvSpPr>
          <p:cNvPr id="6" name="Rectangle 5">
            <a:extLst>
              <a:ext uri="{FF2B5EF4-FFF2-40B4-BE49-F238E27FC236}">
                <a16:creationId xmlns:a16="http://schemas.microsoft.com/office/drawing/2014/main" id="{AB6C9DF7-7799-4CC0-86B5-FA4DC78958FF}"/>
              </a:ext>
            </a:extLst>
          </p:cNvPr>
          <p:cNvSpPr>
            <a:spLocks noGrp="1"/>
          </p:cNvSpPr>
          <p:nvPr/>
        </p:nvSpPr>
        <p:spPr>
          <a:xfrm>
            <a:off x="762000" y="4095750"/>
            <a:ext cx="2857500" cy="419100"/>
          </a:xfrm>
          <a:prstGeom prst="rect">
            <a:avLst/>
          </a:prstGeom>
          <a:noFill/>
          <a:ln w="0">
            <a:noFill/>
          </a:ln>
        </p:spPr>
        <p:txBody>
          <a:bodyPr anchor="ctr">
            <a:noAutofit/>
          </a:bodyPr>
          <a:lstStyle/>
          <a:p>
            <a:pPr algn="l">
              <a:defRPr sz="2025" b="1">
                <a:solidFill>
                  <a:srgbClr val="0E5A78"/>
                </a:solidFill>
                <a:latin typeface="Aptos"/>
                <a:ea typeface="Aptos"/>
                <a:cs typeface="Aptos"/>
              </a:defRPr>
            </a:pPr>
            <a:r>
              <a:rPr sz="2400" b="1" dirty="0" err="1">
                <a:solidFill>
                  <a:srgbClr val="0E5A78"/>
                </a:solidFill>
                <a:latin typeface="Aptos"/>
                <a:ea typeface="Aptos"/>
                <a:cs typeface="Aptos"/>
              </a:rPr>
              <a:t>Ưu</a:t>
            </a:r>
            <a:r>
              <a:rPr sz="2400" b="1" dirty="0">
                <a:solidFill>
                  <a:srgbClr val="0E5A78"/>
                </a:solidFill>
                <a:latin typeface="Aptos"/>
                <a:ea typeface="Aptos"/>
                <a:cs typeface="Aptos"/>
              </a:rPr>
              <a:t> </a:t>
            </a:r>
            <a:r>
              <a:rPr sz="2400" b="1" dirty="0" err="1">
                <a:solidFill>
                  <a:srgbClr val="0E5A78"/>
                </a:solidFill>
                <a:latin typeface="Aptos"/>
                <a:ea typeface="Aptos"/>
                <a:cs typeface="Aptos"/>
              </a:rPr>
              <a:t>tiên</a:t>
            </a:r>
            <a:r>
              <a:rPr sz="2400" b="1" dirty="0">
                <a:solidFill>
                  <a:srgbClr val="0E5A78"/>
                </a:solidFill>
                <a:latin typeface="Aptos"/>
                <a:ea typeface="Aptos"/>
                <a:cs typeface="Aptos"/>
              </a:rPr>
              <a:t> </a:t>
            </a:r>
            <a:r>
              <a:rPr sz="2400" b="1" dirty="0" err="1">
                <a:solidFill>
                  <a:srgbClr val="0E5A78"/>
                </a:solidFill>
                <a:latin typeface="Aptos"/>
                <a:ea typeface="Aptos"/>
                <a:cs typeface="Aptos"/>
              </a:rPr>
              <a:t>tiếp</a:t>
            </a:r>
            <a:r>
              <a:rPr sz="2400" b="1" dirty="0">
                <a:solidFill>
                  <a:srgbClr val="0E5A78"/>
                </a:solidFill>
                <a:latin typeface="Aptos"/>
                <a:ea typeface="Aptos"/>
                <a:cs typeface="Aptos"/>
              </a:rPr>
              <a:t> </a:t>
            </a:r>
            <a:r>
              <a:rPr sz="2400" b="1" dirty="0" err="1">
                <a:solidFill>
                  <a:srgbClr val="0E5A78"/>
                </a:solidFill>
                <a:latin typeface="Aptos"/>
                <a:ea typeface="Aptos"/>
                <a:cs typeface="Aptos"/>
              </a:rPr>
              <a:t>theo</a:t>
            </a:r>
            <a:endParaRPr sz="2400" b="1" dirty="0">
              <a:solidFill>
                <a:srgbClr val="0E5A78"/>
              </a:solidFill>
              <a:latin typeface="Aptos"/>
              <a:ea typeface="Aptos"/>
              <a:cs typeface="Aptos"/>
            </a:endParaRPr>
          </a:p>
        </p:txBody>
      </p:sp>
      <p:sp>
        <p:nvSpPr>
          <p:cNvPr id="7" name="Rectangle 6">
            <a:extLst>
              <a:ext uri="{FF2B5EF4-FFF2-40B4-BE49-F238E27FC236}">
                <a16:creationId xmlns:a16="http://schemas.microsoft.com/office/drawing/2014/main" id="{49BC0452-4238-4CDB-9F31-EBA146B8B7A3}"/>
              </a:ext>
            </a:extLst>
          </p:cNvPr>
          <p:cNvSpPr>
            <a:spLocks noGrp="1"/>
          </p:cNvSpPr>
          <p:nvPr/>
        </p:nvSpPr>
        <p:spPr>
          <a:xfrm>
            <a:off x="762000" y="4591050"/>
            <a:ext cx="10287000" cy="1428750"/>
          </a:xfrm>
          <a:prstGeom prst="rect">
            <a:avLst/>
          </a:prstGeom>
          <a:noFill/>
          <a:ln w="0">
            <a:noFill/>
          </a:ln>
        </p:spPr>
        <p:txBody>
          <a:bodyPr anchor="ctr">
            <a:normAutofit/>
          </a:bodyPr>
          <a:lstStyle/>
          <a:p>
            <a:pPr algn="l">
              <a:defRPr sz="1725" b="0">
                <a:solidFill>
                  <a:srgbClr val="172B3A"/>
                </a:solidFill>
                <a:latin typeface="Aptos"/>
                <a:ea typeface="Aptos"/>
                <a:cs typeface="Aptos"/>
              </a:defRPr>
            </a:pPr>
            <a:r>
              <a:rPr sz="2000" b="0" dirty="0" err="1">
                <a:solidFill>
                  <a:srgbClr val="172B3A"/>
                </a:solidFill>
                <a:latin typeface="Aptos"/>
                <a:ea typeface="Aptos"/>
                <a:cs typeface="Aptos"/>
              </a:rPr>
              <a:t>Tạo</a:t>
            </a:r>
            <a:r>
              <a:rPr sz="2000" b="0" dirty="0">
                <a:solidFill>
                  <a:srgbClr val="172B3A"/>
                </a:solidFill>
                <a:latin typeface="Aptos"/>
                <a:ea typeface="Aptos"/>
                <a:cs typeface="Aptos"/>
              </a:rPr>
              <a:t> ground truth </a:t>
            </a:r>
            <a:r>
              <a:rPr sz="2000" b="0" dirty="0" err="1">
                <a:solidFill>
                  <a:srgbClr val="172B3A"/>
                </a:solidFill>
                <a:latin typeface="Aptos"/>
                <a:ea typeface="Aptos"/>
                <a:cs typeface="Aptos"/>
              </a:rPr>
              <a:t>chính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xác</a:t>
            </a:r>
            <a:r>
              <a:rPr sz="2000" b="0" dirty="0">
                <a:solidFill>
                  <a:srgbClr val="172B3A"/>
                </a:solidFill>
                <a:latin typeface="Aptos"/>
                <a:ea typeface="Aptos"/>
                <a:cs typeface="Aptos"/>
              </a:rPr>
              <a:t> </a:t>
            </a:r>
            <a:r>
              <a:rPr sz="2000" b="0" dirty="0" err="1">
                <a:solidFill>
                  <a:srgbClr val="172B3A"/>
                </a:solidFill>
                <a:latin typeface="Aptos"/>
                <a:ea typeface="Aptos"/>
                <a:cs typeface="Aptos"/>
              </a:rPr>
              <a:t>hơn</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đo</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độ</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đồng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thuận</a:t>
            </a:r>
            <a:r>
              <a:rPr sz="2000" b="0" dirty="0">
                <a:solidFill>
                  <a:srgbClr val="172B3A"/>
                </a:solidFill>
                <a:latin typeface="Aptos"/>
                <a:ea typeface="Aptos"/>
                <a:cs typeface="Aptos"/>
              </a:rPr>
              <a:t> </a:t>
            </a:r>
            <a:r>
              <a:rPr sz="2000" b="0" dirty="0" err="1">
                <a:solidFill>
                  <a:srgbClr val="172B3A"/>
                </a:solidFill>
                <a:latin typeface="Aptos"/>
                <a:ea typeface="Aptos"/>
                <a:cs typeface="Aptos"/>
              </a:rPr>
              <a:t>giữa</a:t>
            </a:r>
            <a:r>
              <a:rPr sz="2000" b="0" dirty="0">
                <a:solidFill>
                  <a:srgbClr val="172B3A"/>
                </a:solidFill>
                <a:latin typeface="Aptos"/>
                <a:ea typeface="Aptos"/>
                <a:cs typeface="Aptos"/>
              </a:rPr>
              <a:t> </a:t>
            </a:r>
            <a:r>
              <a:rPr sz="2000" b="0" dirty="0" err="1">
                <a:solidFill>
                  <a:srgbClr val="172B3A"/>
                </a:solidFill>
                <a:latin typeface="Aptos"/>
                <a:ea typeface="Aptos"/>
                <a:cs typeface="Aptos"/>
              </a:rPr>
              <a:t>người</a:t>
            </a:r>
            <a:r>
              <a:rPr sz="2000" b="0" dirty="0">
                <a:solidFill>
                  <a:srgbClr val="172B3A"/>
                </a:solidFill>
                <a:latin typeface="Aptos"/>
                <a:ea typeface="Aptos"/>
                <a:cs typeface="Aptos"/>
              </a:rPr>
              <a:t> </a:t>
            </a:r>
            <a:r>
              <a:rPr sz="2000" b="0" dirty="0" err="1">
                <a:solidFill>
                  <a:srgbClr val="172B3A"/>
                </a:solidFill>
                <a:latin typeface="Aptos"/>
                <a:ea typeface="Aptos"/>
                <a:cs typeface="Aptos"/>
              </a:rPr>
              <a:t>gán</a:t>
            </a:r>
            <a:r>
              <a:rPr sz="2000" b="0" dirty="0">
                <a:solidFill>
                  <a:srgbClr val="172B3A"/>
                </a:solidFill>
                <a:latin typeface="Aptos"/>
                <a:ea typeface="Aptos"/>
                <a:cs typeface="Aptos"/>
              </a:rPr>
              <a:t> </a:t>
            </a:r>
            <a:r>
              <a:rPr sz="2000" b="0" dirty="0" err="1">
                <a:solidFill>
                  <a:srgbClr val="172B3A"/>
                </a:solidFill>
                <a:latin typeface="Aptos"/>
                <a:ea typeface="Aptos"/>
                <a:cs typeface="Aptos"/>
              </a:rPr>
              <a:t>nhãn</a:t>
            </a:r>
            <a:endParaRPr sz="2000" b="0" dirty="0">
              <a:solidFill>
                <a:srgbClr val="172B3A"/>
              </a:solidFill>
              <a:latin typeface="Aptos"/>
              <a:ea typeface="Aptos"/>
              <a:cs typeface="Aptos"/>
            </a:endParaRPr>
          </a:p>
          <a:p>
            <a:pPr algn="l">
              <a:defRPr sz="1725" b="0">
                <a:solidFill>
                  <a:srgbClr val="172B3A"/>
                </a:solidFill>
                <a:latin typeface="Aptos"/>
                <a:ea typeface="Aptos"/>
                <a:cs typeface="Aptos"/>
              </a:defRPr>
            </a:pPr>
            <a:r>
              <a:rPr sz="2000" b="0" dirty="0" err="1">
                <a:solidFill>
                  <a:srgbClr val="172B3A"/>
                </a:solidFill>
                <a:latin typeface="Aptos"/>
                <a:ea typeface="Aptos"/>
                <a:cs typeface="Aptos"/>
              </a:rPr>
              <a:t>Đánh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giá</a:t>
            </a:r>
            <a:r>
              <a:rPr sz="2000" b="0" dirty="0">
                <a:solidFill>
                  <a:srgbClr val="172B3A"/>
                </a:solidFill>
                <a:latin typeface="Aptos"/>
                <a:ea typeface="Aptos"/>
                <a:cs typeface="Aptos"/>
              </a:rPr>
              <a:t> PRO </a:t>
            </a:r>
            <a:r>
              <a:rPr sz="2000" b="0" dirty="0" err="1">
                <a:solidFill>
                  <a:srgbClr val="172B3A"/>
                </a:solidFill>
                <a:latin typeface="Aptos"/>
                <a:ea typeface="Aptos"/>
                <a:cs typeface="Aptos"/>
              </a:rPr>
              <a:t>đa</a:t>
            </a:r>
            <a:r>
              <a:rPr sz="2000" b="0" dirty="0">
                <a:solidFill>
                  <a:srgbClr val="172B3A"/>
                </a:solidFill>
                <a:latin typeface="Aptos"/>
                <a:ea typeface="Aptos"/>
                <a:cs typeface="Aptos"/>
              </a:rPr>
              <a:t> </a:t>
            </a:r>
            <a:r>
              <a:rPr sz="2000" b="0" dirty="0" err="1">
                <a:solidFill>
                  <a:srgbClr val="172B3A"/>
                </a:solidFill>
                <a:latin typeface="Aptos"/>
                <a:ea typeface="Aptos"/>
                <a:cs typeface="Aptos"/>
              </a:rPr>
              <a:t>ngưỡng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và</a:t>
            </a:r>
            <a:r>
              <a:rPr sz="2000" b="0" dirty="0">
                <a:solidFill>
                  <a:srgbClr val="172B3A"/>
                </a:solidFill>
                <a:latin typeface="Aptos"/>
                <a:ea typeface="Aptos"/>
                <a:cs typeface="Aptos"/>
              </a:rPr>
              <a:t> </a:t>
            </a:r>
            <a:r>
              <a:rPr sz="2000" b="0" dirty="0" err="1">
                <a:solidFill>
                  <a:srgbClr val="172B3A"/>
                </a:solidFill>
                <a:latin typeface="Aptos"/>
                <a:ea typeface="Aptos"/>
                <a:cs typeface="Aptos"/>
              </a:rPr>
              <a:t>cải</a:t>
            </a:r>
            <a:r>
              <a:rPr sz="2000" b="0" dirty="0">
                <a:solidFill>
                  <a:srgbClr val="172B3A"/>
                </a:solidFill>
                <a:latin typeface="Aptos"/>
                <a:ea typeface="Aptos"/>
                <a:cs typeface="Aptos"/>
              </a:rPr>
              <a:t> </a:t>
            </a:r>
            <a:r>
              <a:rPr sz="2000" b="0" dirty="0" err="1">
                <a:solidFill>
                  <a:srgbClr val="172B3A"/>
                </a:solidFill>
                <a:latin typeface="Aptos"/>
                <a:ea typeface="Aptos"/>
                <a:cs typeface="Aptos"/>
              </a:rPr>
              <a:t>thiện</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độ</a:t>
            </a:r>
            <a:r>
              <a:rPr sz="2000" b="0" dirty="0">
                <a:solidFill>
                  <a:srgbClr val="172B3A"/>
                </a:solidFill>
                <a:latin typeface="Aptos"/>
                <a:ea typeface="Aptos"/>
                <a:cs typeface="Aptos"/>
              </a:rPr>
              <a:t> </a:t>
            </a:r>
            <a:r>
              <a:rPr sz="2000" b="0" dirty="0" err="1">
                <a:solidFill>
                  <a:srgbClr val="172B3A"/>
                </a:solidFill>
                <a:latin typeface="Aptos"/>
                <a:ea typeface="Aptos"/>
                <a:cs typeface="Aptos"/>
              </a:rPr>
              <a:t>chính</a:t>
            </a:r>
            <a:r>
              <a:rPr sz="2000" b="0" dirty="0">
                <a:solidFill>
                  <a:srgbClr val="172B3A"/>
                </a:solidFill>
                <a:latin typeface="Aptos"/>
                <a:ea typeface="Aptos"/>
                <a:cs typeface="Aptos"/>
              </a:rPr>
              <a:t> </a:t>
            </a:r>
            <a:r>
              <a:rPr sz="2000" b="0" dirty="0" err="1">
                <a:solidFill>
                  <a:srgbClr val="172B3A"/>
                </a:solidFill>
                <a:latin typeface="Aptos"/>
                <a:ea typeface="Aptos"/>
                <a:cs typeface="Aptos"/>
              </a:rPr>
              <a:t>xác</a:t>
            </a:r>
            <a:r>
              <a:rPr sz="2000" b="0" dirty="0">
                <a:solidFill>
                  <a:srgbClr val="172B3A"/>
                </a:solidFill>
                <a:latin typeface="Aptos"/>
                <a:ea typeface="Aptos"/>
                <a:cs typeface="Aptos"/>
              </a:rPr>
              <a:t> </a:t>
            </a:r>
            <a:r>
              <a:rPr sz="2000" b="0" dirty="0" err="1">
                <a:solidFill>
                  <a:srgbClr val="172B3A"/>
                </a:solidFill>
                <a:latin typeface="Aptos"/>
                <a:ea typeface="Aptos"/>
                <a:cs typeface="Aptos"/>
              </a:rPr>
              <a:t>đường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biên</a:t>
            </a:r>
            <a:endParaRPr sz="2000" b="0" dirty="0">
              <a:solidFill>
                <a:srgbClr val="172B3A"/>
              </a:solidFill>
              <a:latin typeface="Aptos"/>
              <a:ea typeface="Aptos"/>
              <a:cs typeface="Aptos"/>
            </a:endParaRPr>
          </a:p>
          <a:p>
            <a:pPr algn="l">
              <a:defRPr sz="1725" b="0">
                <a:solidFill>
                  <a:srgbClr val="172B3A"/>
                </a:solidFill>
                <a:latin typeface="Aptos"/>
                <a:ea typeface="Aptos"/>
                <a:cs typeface="Aptos"/>
              </a:defRPr>
            </a:pPr>
            <a:r>
              <a:rPr sz="2000" b="0" dirty="0" err="1">
                <a:solidFill>
                  <a:srgbClr val="172B3A"/>
                </a:solidFill>
                <a:latin typeface="Aptos"/>
                <a:ea typeface="Aptos"/>
                <a:cs typeface="Aptos"/>
              </a:rPr>
              <a:t>Điều</a:t>
            </a:r>
            <a:r>
              <a:rPr sz="2000" b="0" dirty="0">
                <a:solidFill>
                  <a:srgbClr val="172B3A"/>
                </a:solidFill>
                <a:latin typeface="Aptos"/>
                <a:ea typeface="Aptos"/>
                <a:cs typeface="Aptos"/>
              </a:rPr>
              <a:t> </a:t>
            </a:r>
            <a:r>
              <a:rPr sz="2000" b="0" dirty="0" err="1">
                <a:solidFill>
                  <a:srgbClr val="172B3A"/>
                </a:solidFill>
                <a:latin typeface="Aptos"/>
                <a:ea typeface="Aptos"/>
                <a:cs typeface="Aptos"/>
              </a:rPr>
              <a:t>tra</a:t>
            </a:r>
            <a:r>
              <a:rPr sz="2000" b="0" dirty="0">
                <a:solidFill>
                  <a:srgbClr val="172B3A"/>
                </a:solidFill>
                <a:latin typeface="Aptos"/>
                <a:ea typeface="Aptos"/>
                <a:cs typeface="Aptos"/>
              </a:rPr>
              <a:t> </a:t>
            </a:r>
            <a:r>
              <a:rPr sz="2000" b="0" dirty="0" err="1">
                <a:solidFill>
                  <a:srgbClr val="172B3A"/>
                </a:solidFill>
                <a:latin typeface="Aptos"/>
                <a:ea typeface="Aptos"/>
                <a:cs typeface="Aptos"/>
              </a:rPr>
              <a:t>riêng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lớp</a:t>
            </a:r>
            <a:r>
              <a:rPr sz="2000" b="0" dirty="0">
                <a:solidFill>
                  <a:srgbClr val="172B3A"/>
                </a:solidFill>
                <a:latin typeface="Aptos"/>
                <a:ea typeface="Aptos"/>
                <a:cs typeface="Aptos"/>
              </a:rPr>
              <a:t> FA-1114, </a:t>
            </a:r>
            <a:r>
              <a:rPr sz="2000" b="0" dirty="0" err="1">
                <a:solidFill>
                  <a:srgbClr val="172B3A"/>
                </a:solidFill>
                <a:latin typeface="Aptos"/>
                <a:ea typeface="Aptos"/>
                <a:cs typeface="Aptos"/>
              </a:rPr>
              <a:t>ngoại</a:t>
            </a:r>
            <a:r>
              <a:rPr sz="2000" b="0" dirty="0">
                <a:solidFill>
                  <a:srgbClr val="172B3A"/>
                </a:solidFill>
                <a:latin typeface="Aptos"/>
                <a:ea typeface="Aptos"/>
                <a:cs typeface="Aptos"/>
              </a:rPr>
              <a:t> </a:t>
            </a:r>
            <a:r>
              <a:rPr sz="2000" b="0" dirty="0" err="1">
                <a:solidFill>
                  <a:srgbClr val="172B3A"/>
                </a:solidFill>
                <a:latin typeface="Aptos"/>
                <a:ea typeface="Aptos"/>
                <a:cs typeface="Aptos"/>
              </a:rPr>
              <a:t>lệ</a:t>
            </a:r>
            <a:r>
              <a:rPr sz="2000" b="0" dirty="0">
                <a:solidFill>
                  <a:srgbClr val="172B3A"/>
                </a:solidFill>
                <a:latin typeface="Aptos"/>
                <a:ea typeface="Aptos"/>
                <a:cs typeface="Aptos"/>
              </a:rPr>
              <a:t> </a:t>
            </a:r>
            <a:r>
              <a:rPr sz="2000" b="0" dirty="0" err="1">
                <a:solidFill>
                  <a:srgbClr val="172B3A"/>
                </a:solidFill>
                <a:latin typeface="Aptos"/>
                <a:ea typeface="Aptos"/>
                <a:cs typeface="Aptos"/>
              </a:rPr>
              <a:t>trong</a:t>
            </a:r>
            <a:r>
              <a:rPr sz="2000" b="0" dirty="0">
                <a:solidFill>
                  <a:srgbClr val="172B3A"/>
                </a:solidFill>
                <a:latin typeface="Aptos"/>
                <a:ea typeface="Aptos"/>
                <a:cs typeface="Aptos"/>
              </a:rPr>
              <a:t> </a:t>
            </a:r>
            <a:r>
              <a:rPr sz="2000" b="0" dirty="0" err="1">
                <a:solidFill>
                  <a:srgbClr val="172B3A"/>
                </a:solidFill>
                <a:latin typeface="Aptos"/>
                <a:ea typeface="Aptos"/>
                <a:cs typeface="Aptos"/>
              </a:rPr>
              <a:t>nhiều</a:t>
            </a:r>
            <a:r>
              <a:rPr sz="2000" b="0" dirty="0">
                <a:solidFill>
                  <a:srgbClr val="172B3A"/>
                </a:solidFill>
                <a:latin typeface="Aptos"/>
                <a:ea typeface="Aptos"/>
                <a:cs typeface="Aptos"/>
              </a:rPr>
              <a:t> </a:t>
            </a:r>
            <a:r>
              <a:rPr sz="2000" b="0" dirty="0" err="1">
                <a:solidFill>
                  <a:srgbClr val="172B3A"/>
                </a:solidFill>
                <a:latin typeface="Aptos"/>
                <a:ea typeface="Aptos"/>
                <a:cs typeface="Aptos"/>
              </a:rPr>
              <a:t>phân</a:t>
            </a:r>
            <a:r>
              <a:rPr sz="2000" b="0" dirty="0">
                <a:solidFill>
                  <a:srgbClr val="172B3A"/>
                </a:solidFill>
                <a:latin typeface="Aptos"/>
                <a:ea typeface="Aptos"/>
                <a:cs typeface="Aptos"/>
              </a:rPr>
              <a:t> </a:t>
            </a:r>
            <a:r>
              <a:rPr sz="2000" b="0" dirty="0" err="1">
                <a:solidFill>
                  <a:srgbClr val="172B3A"/>
                </a:solidFill>
                <a:latin typeface="Aptos"/>
                <a:ea typeface="Aptos"/>
                <a:cs typeface="Aptos"/>
              </a:rPr>
              <a:t>tích</a:t>
            </a:r>
            <a:endParaRPr sz="2000" b="0" dirty="0">
              <a:solidFill>
                <a:srgbClr val="172B3A"/>
              </a:solidFill>
              <a:latin typeface="Aptos"/>
              <a:ea typeface="Aptos"/>
              <a:cs typeface="Aptos"/>
            </a:endParaRPr>
          </a:p>
        </p:txBody>
      </p:sp>
      <p:pic>
        <p:nvPicPr>
          <p:cNvPr id="9" name="Picture 8"/>
          <p:cNvPicPr>
            <a:picLocks noChangeAspect="1"/>
          </p:cNvPicPr>
          <p:nvPr/>
        </p:nvPicPr>
        <p:blipFill>
          <a:blip r:embed="rId3"/>
          <a:stretch>
            <a:fillRect/>
          </a:stretch>
        </p:blipFill>
        <p:spPr>
          <a:xfrm>
            <a:off x="659130" y="359909"/>
            <a:ext cx="895350" cy="771525"/>
          </a:xfrm>
          <a:prstGeom prst="rect">
            <a:avLst/>
          </a:prstGeom>
        </p:spPr>
      </p:pic>
    </p:spTree>
    <p:extLst>
      <p:ext uri="{BB962C8B-B14F-4D97-AF65-F5344CB8AC3E}">
        <p14:creationId xmlns:p14="http://schemas.microsoft.com/office/powerpoint/2010/main" val="32768459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1662</Words>
  <Application>Microsoft Office PowerPoint</Application>
  <DocSecurity>0</DocSecurity>
  <PresentationFormat>Widescreen</PresentationFormat>
  <Paragraphs>126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MSII</cp:lastModifiedBy>
  <cp:revision>10</cp:revision>
  <dcterms:created xsi:type="dcterms:W3CDTF">2026-09-13T10:28:38Z</dcterms:created>
  <dcterms:modified xsi:type="dcterms:W3CDTF">2026-09-22T09:46:48Z</dcterms:modified>
</cp:coreProperties>
</file>